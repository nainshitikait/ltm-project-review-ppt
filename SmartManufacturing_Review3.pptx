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8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548640" y="1554480"/>
            <a:ext cx="11064240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b="1" i="0" dirty="0">
                <a:solidFill>
                  <a:srgbClr val="FFFFFF"/>
                </a:solidFill>
                <a:latin typeface="Calibri"/>
                <a:cs typeface="Calibri"/>
              </a:rPr>
              <a:t>Review III</a:t>
            </a:r>
          </a:p>
          <a:p>
            <a:pPr algn="ctr">
              <a:spcAft>
                <a:spcPts val="1400"/>
              </a:spcAft>
            </a:pPr>
            <a:r>
              <a:rPr lang="en-US" sz="2200" b="1" i="0" dirty="0">
                <a:solidFill>
                  <a:srgbClr val="FFFFFF"/>
                </a:solidFill>
                <a:latin typeface="Calibri"/>
                <a:cs typeface="Calibri"/>
              </a:rPr>
              <a:t>RAG-Based Intelligent Defect Detection and Knowledge Assistance for Smart Manufacturing with Azure Cloud Deployment and Interactive Visualization</a:t>
            </a:r>
          </a:p>
          <a:p>
            <a:pPr algn="ctr">
              <a:spcAft>
                <a:spcPts val="200"/>
              </a:spcAft>
            </a:pPr>
            <a:r>
              <a:rPr lang="en-US" sz="2600" b="1" i="0" dirty="0">
                <a:solidFill>
                  <a:srgbClr val="FFFFFF"/>
                </a:solidFill>
                <a:latin typeface="Calibri"/>
                <a:cs typeface="Calibri"/>
              </a:rPr>
              <a:t>Nainshi Tikait</a:t>
            </a:r>
          </a:p>
          <a:p>
            <a:pPr algn="ctr">
              <a:spcAft>
                <a:spcPts val="200"/>
              </a:spcAft>
            </a:pPr>
            <a:r>
              <a:rPr lang="en-US" sz="2000" b="0" i="0" dirty="0">
                <a:solidFill>
                  <a:srgbClr val="FFFFFF"/>
                </a:solidFill>
                <a:latin typeface="Calibri"/>
                <a:cs typeface="Calibri"/>
              </a:rPr>
              <a:t>T9919</a:t>
            </a:r>
          </a:p>
          <a:p>
            <a:pPr algn="ctr">
              <a:spcAft>
                <a:spcPts val="200"/>
              </a:spcAft>
            </a:pPr>
            <a:r>
              <a:rPr lang="en-US" sz="2000" b="0" i="0" dirty="0">
                <a:solidFill>
                  <a:srgbClr val="FFFFFF"/>
                </a:solidFill>
                <a:latin typeface="Calibri"/>
                <a:cs typeface="Calibri"/>
              </a:rPr>
              <a:t>M.Tech Artificial Intelligence and Machine Learning</a:t>
            </a:r>
          </a:p>
          <a:p>
            <a:pPr algn="ctr">
              <a:spcAft>
                <a:spcPts val="0"/>
              </a:spcAft>
            </a:pPr>
            <a:r>
              <a:rPr lang="en-US" sz="2000" b="0" i="0" dirty="0">
                <a:solidFill>
                  <a:srgbClr val="FFFFFF"/>
                </a:solidFill>
                <a:latin typeface="Calibri"/>
                <a:cs typeface="Calibri"/>
              </a:rPr>
              <a:t>VIT Vellore  |  2025–2027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3108960" y="57036"/>
            <a:ext cx="905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i="1" dirty="0">
                <a:solidFill>
                  <a:srgbClr val="FFFFFF"/>
                </a:solidFill>
              </a:rPr>
              <a:t>Smart Manufacturing: RAG-Based Defect Detection &amp; Knowledge Assistance</a:t>
            </a:r>
          </a:p>
        </p:txBody>
      </p:sp>
      <p:sp>
        <p:nvSpPr>
          <p:cNvPr id="201" name="Intro bullets"/>
          <p:cNvSpPr txBox="1"/>
          <p:nvPr/>
        </p:nvSpPr>
        <p:spPr>
          <a:xfrm>
            <a:off x="502920" y="1325880"/>
            <a:ext cx="11155680" cy="33832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1900" b="1" i="0" dirty="0">
                <a:solidFill>
                  <a:srgbClr val="1B3A6B"/>
                </a:solidFill>
                <a:latin typeface="Calibri"/>
                <a:cs typeface="Calibri"/>
              </a:rPr>
              <a:t>Manufacturing processes generate multiple sensor readings </a:t>
            </a:r>
            <a:r>
              <a:rPr lang="en-US" sz="1900" b="0" i="0" dirty="0">
                <a:solidFill>
                  <a:srgbClr val="222B38"/>
                </a:solidFill>
                <a:latin typeface="Calibri"/>
                <a:cs typeface="Calibri"/>
              </a:rPr>
              <a:t>that interact with one another.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1900" b="1" i="0" dirty="0">
                <a:solidFill>
                  <a:srgbClr val="1B3A6B"/>
                </a:solidFill>
                <a:latin typeface="Calibri"/>
                <a:cs typeface="Calibri"/>
              </a:rPr>
              <a:t>Engineers need to identify defect severity </a:t>
            </a:r>
            <a:r>
              <a:rPr lang="en-US" sz="1900" b="0" i="0" dirty="0">
                <a:solidFill>
                  <a:srgbClr val="222B38"/>
                </a:solidFill>
                <a:latin typeface="Calibri"/>
                <a:cs typeface="Calibri"/>
              </a:rPr>
              <a:t>and find relevant troubleshooting guidance.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1900" b="1" i="0" dirty="0">
                <a:solidFill>
                  <a:srgbClr val="1B3A6B"/>
                </a:solidFill>
                <a:latin typeface="Calibri"/>
                <a:cs typeface="Calibri"/>
              </a:rPr>
              <a:t>Machine learning </a:t>
            </a:r>
            <a:r>
              <a:rPr lang="en-US" sz="1900" b="0" i="0" dirty="0">
                <a:solidFill>
                  <a:srgbClr val="222B38"/>
                </a:solidFill>
                <a:latin typeface="Calibri"/>
                <a:cs typeface="Calibri"/>
              </a:rPr>
              <a:t>classifies the defect category from sensor features.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1900" b="1" i="0" dirty="0">
                <a:solidFill>
                  <a:srgbClr val="1B3A6B"/>
                </a:solidFill>
                <a:latin typeface="Calibri"/>
                <a:cs typeface="Calibri"/>
              </a:rPr>
              <a:t>RAG </a:t>
            </a:r>
            <a:r>
              <a:rPr lang="en-US" sz="1900" b="0" i="0" dirty="0">
                <a:solidFill>
                  <a:srgbClr val="222B38"/>
                </a:solidFill>
                <a:latin typeface="Calibri"/>
                <a:cs typeface="Calibri"/>
              </a:rPr>
              <a:t>retrieves relevant manufacturing knowledge.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1900" b="1" i="0" dirty="0">
                <a:solidFill>
                  <a:srgbClr val="1B3A6B"/>
                </a:solidFill>
                <a:latin typeface="Calibri"/>
                <a:cs typeface="Calibri"/>
              </a:rPr>
              <a:t>An LLM </a:t>
            </a:r>
            <a:r>
              <a:rPr lang="en-US" sz="1900" b="0" i="0" dirty="0">
                <a:solidFill>
                  <a:srgbClr val="222B38"/>
                </a:solidFill>
                <a:latin typeface="Calibri"/>
                <a:cs typeface="Calibri"/>
              </a:rPr>
              <a:t>turns the prediction and retrieved knowledge into a readable recommendation.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1900" b="1" i="0" dirty="0">
                <a:solidFill>
                  <a:srgbClr val="1B3A6B"/>
                </a:solidFill>
                <a:latin typeface="Calibri"/>
                <a:cs typeface="Calibri"/>
              </a:rPr>
              <a:t>This project combines all of these </a:t>
            </a:r>
            <a:r>
              <a:rPr lang="en-US" sz="1900" b="0" i="0" dirty="0">
                <a:solidFill>
                  <a:srgbClr val="222B38"/>
                </a:solidFill>
                <a:latin typeface="Calibri"/>
                <a:cs typeface="Calibri"/>
              </a:rPr>
              <a:t>in an interactive Streamlit application.</a:t>
            </a:r>
          </a:p>
        </p:txBody>
      </p:sp>
      <p:sp>
        <p:nvSpPr>
          <p:cNvPr id="202" name="Pipeline Sensor Data"/>
          <p:cNvSpPr/>
          <p:nvPr/>
        </p:nvSpPr>
        <p:spPr>
          <a:xfrm>
            <a:off x="266548" y="4846320"/>
            <a:ext cx="1965960" cy="640080"/>
          </a:xfrm>
          <a:prstGeom prst="roundRect">
            <a:avLst/>
          </a:prstGeom>
          <a:solidFill>
            <a:srgbClr val="5F6B7A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Sensor Data</a:t>
            </a:r>
          </a:p>
        </p:txBody>
      </p:sp>
      <p:cxnSp>
        <p:nvCxnSpPr>
          <p:cNvPr id="203" name="Pipeline arrow 0"/>
          <p:cNvCxnSpPr/>
          <p:nvPr/>
        </p:nvCxnSpPr>
        <p:spPr>
          <a:xfrm>
            <a:off x="2278228" y="5166360"/>
            <a:ext cx="365760" cy="0"/>
          </a:xfrm>
          <a:prstGeom prst="line">
            <a:avLst/>
          </a:prstGeom>
          <a:ln w="31750">
            <a:solidFill>
              <a:srgbClr val="5F6B7A"/>
            </a:solidFill>
            <a:tailEnd type="triangle" w="med" len="med"/>
          </a:ln>
        </p:spPr>
      </p:cxnSp>
      <p:sp>
        <p:nvSpPr>
          <p:cNvPr id="204" name="Pipeline ML (SVM)"/>
          <p:cNvSpPr/>
          <p:nvPr/>
        </p:nvSpPr>
        <p:spPr>
          <a:xfrm>
            <a:off x="2689708" y="4846320"/>
            <a:ext cx="1965960" cy="640080"/>
          </a:xfrm>
          <a:prstGeom prst="roundRect">
            <a:avLst/>
          </a:prstGeom>
          <a:solidFill>
            <a:srgbClr val="2E5AAC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ML (SVM)</a:t>
            </a:r>
          </a:p>
        </p:txBody>
      </p:sp>
      <p:cxnSp>
        <p:nvCxnSpPr>
          <p:cNvPr id="205" name="Pipeline arrow 1"/>
          <p:cNvCxnSpPr/>
          <p:nvPr/>
        </p:nvCxnSpPr>
        <p:spPr>
          <a:xfrm>
            <a:off x="4701388" y="5166360"/>
            <a:ext cx="365760" cy="0"/>
          </a:xfrm>
          <a:prstGeom prst="line">
            <a:avLst/>
          </a:prstGeom>
          <a:ln w="31750">
            <a:solidFill>
              <a:srgbClr val="5F6B7A"/>
            </a:solidFill>
            <a:tailEnd type="triangle" w="med" len="med"/>
          </a:ln>
        </p:spPr>
      </p:cxnSp>
      <p:sp>
        <p:nvSpPr>
          <p:cNvPr id="206" name="Pipeline RAG Retrieval"/>
          <p:cNvSpPr/>
          <p:nvPr/>
        </p:nvSpPr>
        <p:spPr>
          <a:xfrm>
            <a:off x="5112868" y="4846320"/>
            <a:ext cx="1965960" cy="640080"/>
          </a:xfrm>
          <a:prstGeom prst="roundRect">
            <a:avLst/>
          </a:prstGeom>
          <a:solidFill>
            <a:srgbClr val="0E8C8C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RAG Retrieval</a:t>
            </a:r>
          </a:p>
        </p:txBody>
      </p:sp>
      <p:cxnSp>
        <p:nvCxnSpPr>
          <p:cNvPr id="207" name="Pipeline arrow 2"/>
          <p:cNvCxnSpPr/>
          <p:nvPr/>
        </p:nvCxnSpPr>
        <p:spPr>
          <a:xfrm>
            <a:off x="7124548" y="5166360"/>
            <a:ext cx="365760" cy="0"/>
          </a:xfrm>
          <a:prstGeom prst="line">
            <a:avLst/>
          </a:prstGeom>
          <a:ln w="31750">
            <a:solidFill>
              <a:srgbClr val="5F6B7A"/>
            </a:solidFill>
            <a:tailEnd type="triangle" w="med" len="med"/>
          </a:ln>
        </p:spPr>
      </p:cxnSp>
      <p:sp>
        <p:nvSpPr>
          <p:cNvPr id="208" name="Pipeline LLM Recommendation"/>
          <p:cNvSpPr/>
          <p:nvPr/>
        </p:nvSpPr>
        <p:spPr>
          <a:xfrm>
            <a:off x="7536028" y="4846320"/>
            <a:ext cx="1965960" cy="640080"/>
          </a:xfrm>
          <a:prstGeom prst="roundRect">
            <a:avLst/>
          </a:prstGeom>
          <a:solidFill>
            <a:srgbClr val="3A9D5D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LLM Recommendation</a:t>
            </a:r>
          </a:p>
        </p:txBody>
      </p:sp>
      <p:cxnSp>
        <p:nvCxnSpPr>
          <p:cNvPr id="209" name="Pipeline arrow 3"/>
          <p:cNvCxnSpPr/>
          <p:nvPr/>
        </p:nvCxnSpPr>
        <p:spPr>
          <a:xfrm>
            <a:off x="9547708" y="5166360"/>
            <a:ext cx="365760" cy="0"/>
          </a:xfrm>
          <a:prstGeom prst="line">
            <a:avLst/>
          </a:prstGeom>
          <a:ln w="31750">
            <a:solidFill>
              <a:srgbClr val="5F6B7A"/>
            </a:solidFill>
            <a:tailEnd type="triangle" w="med" len="med"/>
          </a:ln>
        </p:spPr>
      </p:cxnSp>
      <p:sp>
        <p:nvSpPr>
          <p:cNvPr id="210" name="Pipeline Streamlit Dashboard"/>
          <p:cNvSpPr/>
          <p:nvPr/>
        </p:nvSpPr>
        <p:spPr>
          <a:xfrm>
            <a:off x="9959188" y="4846320"/>
            <a:ext cx="1965960" cy="640080"/>
          </a:xfrm>
          <a:prstGeom prst="roundRect">
            <a:avLst/>
          </a:prstGeom>
          <a:solidFill>
            <a:srgbClr val="1B3A6B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Streamlit Dashboard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3108960" y="57036"/>
            <a:ext cx="905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i="1" dirty="0">
                <a:solidFill>
                  <a:srgbClr val="FFFFFF"/>
                </a:solidFill>
              </a:rPr>
              <a:t>Smart Manufacturing: RAG-Based Defect Detection &amp; Knowledge Assistance</a:t>
            </a:r>
          </a:p>
        </p:txBody>
      </p:sp>
      <p:sp>
        <p:nvSpPr>
          <p:cNvPr id="211" name="Objective card 1"/>
          <p:cNvSpPr/>
          <p:nvPr/>
        </p:nvSpPr>
        <p:spPr>
          <a:xfrm>
            <a:off x="502920" y="1325880"/>
            <a:ext cx="5440680" cy="896112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12" name="Objective number 1"/>
          <p:cNvSpPr/>
          <p:nvPr/>
        </p:nvSpPr>
        <p:spPr>
          <a:xfrm>
            <a:off x="640080" y="1508760"/>
            <a:ext cx="530352" cy="530352"/>
          </a:xfrm>
          <a:prstGeom prst="ellipse">
            <a:avLst/>
          </a:prstGeom>
          <a:solidFill>
            <a:srgbClr val="2E5AA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13" name="Objective text 1"/>
          <p:cNvSpPr txBox="1"/>
          <p:nvPr/>
        </p:nvSpPr>
        <p:spPr>
          <a:xfrm>
            <a:off x="1307592" y="1399032"/>
            <a:ext cx="4526280" cy="7498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222B38"/>
                </a:solidFill>
                <a:latin typeface="Calibri"/>
                <a:cs typeface="Calibri"/>
              </a:rPr>
              <a:t>Analyse manufacturing sensor features</a:t>
            </a:r>
          </a:p>
        </p:txBody>
      </p:sp>
      <p:sp>
        <p:nvSpPr>
          <p:cNvPr id="214" name="Objective card 2"/>
          <p:cNvSpPr/>
          <p:nvPr/>
        </p:nvSpPr>
        <p:spPr>
          <a:xfrm>
            <a:off x="6217920" y="1325880"/>
            <a:ext cx="5440680" cy="896112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15" name="Objective number 2"/>
          <p:cNvSpPr/>
          <p:nvPr/>
        </p:nvSpPr>
        <p:spPr>
          <a:xfrm>
            <a:off x="6355080" y="1508760"/>
            <a:ext cx="530352" cy="530352"/>
          </a:xfrm>
          <a:prstGeom prst="ellipse">
            <a:avLst/>
          </a:prstGeom>
          <a:solidFill>
            <a:srgbClr val="0E8C8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16" name="Objective text 2"/>
          <p:cNvSpPr txBox="1"/>
          <p:nvPr/>
        </p:nvSpPr>
        <p:spPr>
          <a:xfrm>
            <a:off x="7022592" y="1399032"/>
            <a:ext cx="4526280" cy="7498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222B38"/>
                </a:solidFill>
                <a:latin typeface="Calibri"/>
                <a:cs typeface="Calibri"/>
              </a:rPr>
              <a:t>Compare machine learning models for defect classification</a:t>
            </a:r>
          </a:p>
        </p:txBody>
      </p:sp>
      <p:sp>
        <p:nvSpPr>
          <p:cNvPr id="217" name="Objective card 3"/>
          <p:cNvSpPr/>
          <p:nvPr/>
        </p:nvSpPr>
        <p:spPr>
          <a:xfrm>
            <a:off x="502920" y="2404872"/>
            <a:ext cx="5440680" cy="896112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18" name="Objective number 3"/>
          <p:cNvSpPr/>
          <p:nvPr/>
        </p:nvSpPr>
        <p:spPr>
          <a:xfrm>
            <a:off x="640080" y="2587752"/>
            <a:ext cx="530352" cy="530352"/>
          </a:xfrm>
          <a:prstGeom prst="ellipse">
            <a:avLst/>
          </a:prstGeom>
          <a:solidFill>
            <a:srgbClr val="0E8C8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19" name="Objective text 3"/>
          <p:cNvSpPr txBox="1"/>
          <p:nvPr/>
        </p:nvSpPr>
        <p:spPr>
          <a:xfrm>
            <a:off x="1307592" y="2478024"/>
            <a:ext cx="4526280" cy="7498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222B38"/>
                </a:solidFill>
                <a:latin typeface="Calibri"/>
                <a:cs typeface="Calibri"/>
              </a:rPr>
              <a:t>Select an effective classification model</a:t>
            </a:r>
          </a:p>
        </p:txBody>
      </p:sp>
      <p:sp>
        <p:nvSpPr>
          <p:cNvPr id="220" name="Objective card 4"/>
          <p:cNvSpPr/>
          <p:nvPr/>
        </p:nvSpPr>
        <p:spPr>
          <a:xfrm>
            <a:off x="6217920" y="2404872"/>
            <a:ext cx="5440680" cy="896112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21" name="Objective number 4"/>
          <p:cNvSpPr/>
          <p:nvPr/>
        </p:nvSpPr>
        <p:spPr>
          <a:xfrm>
            <a:off x="6355080" y="2587752"/>
            <a:ext cx="530352" cy="530352"/>
          </a:xfrm>
          <a:prstGeom prst="ellipse">
            <a:avLst/>
          </a:prstGeom>
          <a:solidFill>
            <a:srgbClr val="2E5AA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22" name="Objective text 4"/>
          <p:cNvSpPr txBox="1"/>
          <p:nvPr/>
        </p:nvSpPr>
        <p:spPr>
          <a:xfrm>
            <a:off x="7022592" y="2478024"/>
            <a:ext cx="4526280" cy="7498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222B38"/>
                </a:solidFill>
                <a:latin typeface="Calibri"/>
                <a:cs typeface="Calibri"/>
              </a:rPr>
              <a:t>Retrieve relevant troubleshooting knowledge through RAG</a:t>
            </a:r>
          </a:p>
        </p:txBody>
      </p:sp>
      <p:sp>
        <p:nvSpPr>
          <p:cNvPr id="223" name="Objective card 5"/>
          <p:cNvSpPr/>
          <p:nvPr/>
        </p:nvSpPr>
        <p:spPr>
          <a:xfrm>
            <a:off x="502920" y="3483864"/>
            <a:ext cx="5440680" cy="896112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24" name="Objective number 5"/>
          <p:cNvSpPr/>
          <p:nvPr/>
        </p:nvSpPr>
        <p:spPr>
          <a:xfrm>
            <a:off x="640080" y="3666744"/>
            <a:ext cx="530352" cy="530352"/>
          </a:xfrm>
          <a:prstGeom prst="ellipse">
            <a:avLst/>
          </a:prstGeom>
          <a:solidFill>
            <a:srgbClr val="2E5AA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225" name="Objective text 5"/>
          <p:cNvSpPr txBox="1"/>
          <p:nvPr/>
        </p:nvSpPr>
        <p:spPr>
          <a:xfrm>
            <a:off x="1307592" y="3557016"/>
            <a:ext cx="4526280" cy="7498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222B38"/>
                </a:solidFill>
                <a:latin typeface="Calibri"/>
                <a:cs typeface="Calibri"/>
              </a:rPr>
              <a:t>Generate understandable corrective recommendations using an LLM</a:t>
            </a:r>
          </a:p>
        </p:txBody>
      </p:sp>
      <p:sp>
        <p:nvSpPr>
          <p:cNvPr id="226" name="Objective card 6"/>
          <p:cNvSpPr/>
          <p:nvPr/>
        </p:nvSpPr>
        <p:spPr>
          <a:xfrm>
            <a:off x="6217920" y="3483864"/>
            <a:ext cx="5440680" cy="896112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27" name="Objective number 6"/>
          <p:cNvSpPr/>
          <p:nvPr/>
        </p:nvSpPr>
        <p:spPr>
          <a:xfrm>
            <a:off x="6355080" y="3666744"/>
            <a:ext cx="530352" cy="530352"/>
          </a:xfrm>
          <a:prstGeom prst="ellipse">
            <a:avLst/>
          </a:prstGeom>
          <a:solidFill>
            <a:srgbClr val="0E8C8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228" name="Objective text 6"/>
          <p:cNvSpPr txBox="1"/>
          <p:nvPr/>
        </p:nvSpPr>
        <p:spPr>
          <a:xfrm>
            <a:off x="7022592" y="3557016"/>
            <a:ext cx="4526280" cy="7498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222B38"/>
                </a:solidFill>
                <a:latin typeface="Calibri"/>
                <a:cs typeface="Calibri"/>
              </a:rPr>
              <a:t>Display predictions, confidence, and knowledge in an interactive dashboard</a:t>
            </a:r>
          </a:p>
        </p:txBody>
      </p:sp>
      <p:sp>
        <p:nvSpPr>
          <p:cNvPr id="229" name="Objective card 7"/>
          <p:cNvSpPr/>
          <p:nvPr/>
        </p:nvSpPr>
        <p:spPr>
          <a:xfrm>
            <a:off x="502920" y="4562856"/>
            <a:ext cx="5440680" cy="896112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30" name="Objective number 7"/>
          <p:cNvSpPr/>
          <p:nvPr/>
        </p:nvSpPr>
        <p:spPr>
          <a:xfrm>
            <a:off x="640080" y="4745736"/>
            <a:ext cx="530352" cy="530352"/>
          </a:xfrm>
          <a:prstGeom prst="ellipse">
            <a:avLst/>
          </a:prstGeom>
          <a:solidFill>
            <a:srgbClr val="0E8C8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</a:p>
        </p:txBody>
      </p:sp>
      <p:sp>
        <p:nvSpPr>
          <p:cNvPr id="231" name="Objective text 7"/>
          <p:cNvSpPr txBox="1"/>
          <p:nvPr/>
        </p:nvSpPr>
        <p:spPr>
          <a:xfrm>
            <a:off x="1307592" y="4636008"/>
            <a:ext cx="4526280" cy="7498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222B38"/>
                </a:solidFill>
                <a:latin typeface="Calibri"/>
                <a:cs typeface="Calibri"/>
              </a:rPr>
              <a:t>Support sequential batch monitoring and defect-severity summaries</a:t>
            </a:r>
          </a:p>
        </p:txBody>
      </p:sp>
      <p:sp>
        <p:nvSpPr>
          <p:cNvPr id="232" name="Objective card 8"/>
          <p:cNvSpPr/>
          <p:nvPr/>
        </p:nvSpPr>
        <p:spPr>
          <a:xfrm>
            <a:off x="6217920" y="4562856"/>
            <a:ext cx="5440680" cy="896112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33" name="Objective number 8"/>
          <p:cNvSpPr/>
          <p:nvPr/>
        </p:nvSpPr>
        <p:spPr>
          <a:xfrm>
            <a:off x="6355080" y="4745736"/>
            <a:ext cx="530352" cy="530352"/>
          </a:xfrm>
          <a:prstGeom prst="ellipse">
            <a:avLst/>
          </a:prstGeom>
          <a:solidFill>
            <a:srgbClr val="5F6B7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</a:p>
        </p:txBody>
      </p:sp>
      <p:sp>
        <p:nvSpPr>
          <p:cNvPr id="234" name="Objective text 8"/>
          <p:cNvSpPr txBox="1"/>
          <p:nvPr/>
        </p:nvSpPr>
        <p:spPr>
          <a:xfrm>
            <a:off x="7022592" y="4636008"/>
            <a:ext cx="4526280" cy="7498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222B38"/>
                </a:solidFill>
                <a:latin typeface="Calibri"/>
                <a:cs typeface="Calibri"/>
              </a:rPr>
              <a:t>Explore Azure cloud deployment as a planned enhancement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3108960" y="57036"/>
            <a:ext cx="905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i="1" dirty="0">
                <a:solidFill>
                  <a:srgbClr val="FFFFFF"/>
                </a:solidFill>
              </a:rPr>
              <a:t>Smart Manufacturing: RAG-Based Defect Detection &amp; Knowledge Assistance</a:t>
            </a:r>
          </a:p>
        </p:txBody>
      </p:sp>
      <p:sp>
        <p:nvSpPr>
          <p:cNvPr id="236" name="Module row 1"/>
          <p:cNvSpPr/>
          <p:nvPr/>
        </p:nvSpPr>
        <p:spPr>
          <a:xfrm>
            <a:off x="502920" y="1280160"/>
            <a:ext cx="11155680" cy="493776"/>
          </a:xfrm>
          <a:prstGeom prst="roundRect">
            <a:avLst>
              <a:gd name="adj" fmla="val 1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37" name="Module badge 1"/>
          <p:cNvSpPr/>
          <p:nvPr/>
        </p:nvSpPr>
        <p:spPr>
          <a:xfrm>
            <a:off x="594360" y="1344168"/>
            <a:ext cx="365760" cy="365760"/>
          </a:xfrm>
          <a:prstGeom prst="ellipse">
            <a:avLst/>
          </a:prstGeom>
          <a:solidFill>
            <a:srgbClr val="5F6B7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38" name="Module name 1"/>
          <p:cNvSpPr txBox="1"/>
          <p:nvPr/>
        </p:nvSpPr>
        <p:spPr>
          <a:xfrm>
            <a:off x="1051560" y="1280160"/>
            <a:ext cx="4343400" cy="4937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B3A6B"/>
                </a:solidFill>
                <a:latin typeface="Calibri"/>
                <a:cs typeface="Calibri"/>
              </a:rPr>
              <a:t>Dataset Generation &amp; Preprocessing</a:t>
            </a:r>
          </a:p>
        </p:txBody>
      </p:sp>
      <p:sp>
        <p:nvSpPr>
          <p:cNvPr id="239" name="Module desc 1"/>
          <p:cNvSpPr txBox="1"/>
          <p:nvPr/>
        </p:nvSpPr>
        <p:spPr>
          <a:xfrm>
            <a:off x="5440680" y="1280160"/>
            <a:ext cx="6172200" cy="4937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222B38"/>
                </a:solidFill>
                <a:latin typeface="Calibri"/>
                <a:cs typeface="Calibri"/>
              </a:rPr>
              <a:t>Synthetic data: 10,000 rows, 5 sensor features, 4 defect classes</a:t>
            </a:r>
          </a:p>
        </p:txBody>
      </p:sp>
      <p:sp>
        <p:nvSpPr>
          <p:cNvPr id="240" name="Module row 2"/>
          <p:cNvSpPr/>
          <p:nvPr/>
        </p:nvSpPr>
        <p:spPr>
          <a:xfrm>
            <a:off x="502920" y="1833372"/>
            <a:ext cx="11155680" cy="493776"/>
          </a:xfrm>
          <a:prstGeom prst="roundRect">
            <a:avLst>
              <a:gd name="adj" fmla="val 1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41" name="Module badge 2"/>
          <p:cNvSpPr/>
          <p:nvPr/>
        </p:nvSpPr>
        <p:spPr>
          <a:xfrm>
            <a:off x="594360" y="1897380"/>
            <a:ext cx="365760" cy="365760"/>
          </a:xfrm>
          <a:prstGeom prst="ellipse">
            <a:avLst/>
          </a:prstGeom>
          <a:solidFill>
            <a:srgbClr val="5F6B7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42" name="Module name 2"/>
          <p:cNvSpPr txBox="1"/>
          <p:nvPr/>
        </p:nvSpPr>
        <p:spPr>
          <a:xfrm>
            <a:off x="1051560" y="1833372"/>
            <a:ext cx="4343400" cy="4937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B3A6B"/>
                </a:solidFill>
                <a:latin typeface="Calibri"/>
                <a:cs typeface="Calibri"/>
              </a:rPr>
              <a:t>Exploratory Data Analysis</a:t>
            </a:r>
          </a:p>
        </p:txBody>
      </p:sp>
      <p:sp>
        <p:nvSpPr>
          <p:cNvPr id="243" name="Module desc 2"/>
          <p:cNvSpPr txBox="1"/>
          <p:nvPr/>
        </p:nvSpPr>
        <p:spPr>
          <a:xfrm>
            <a:off x="5440680" y="1833372"/>
            <a:ext cx="6172200" cy="4937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222B38"/>
                </a:solidFill>
                <a:latin typeface="Calibri"/>
                <a:cs typeface="Calibri"/>
              </a:rPr>
              <a:t>Shape, types, missing values, duplicates, statistics, distributions</a:t>
            </a:r>
          </a:p>
        </p:txBody>
      </p:sp>
      <p:sp>
        <p:nvSpPr>
          <p:cNvPr id="244" name="Module row 3"/>
          <p:cNvSpPr/>
          <p:nvPr/>
        </p:nvSpPr>
        <p:spPr>
          <a:xfrm>
            <a:off x="502920" y="2386584"/>
            <a:ext cx="11155680" cy="493776"/>
          </a:xfrm>
          <a:prstGeom prst="roundRect">
            <a:avLst>
              <a:gd name="adj" fmla="val 1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45" name="Module badge 3"/>
          <p:cNvSpPr/>
          <p:nvPr/>
        </p:nvSpPr>
        <p:spPr>
          <a:xfrm>
            <a:off x="594360" y="2450592"/>
            <a:ext cx="365760" cy="365760"/>
          </a:xfrm>
          <a:prstGeom prst="ellipse">
            <a:avLst/>
          </a:prstGeom>
          <a:solidFill>
            <a:srgbClr val="2E5AA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46" name="Module name 3"/>
          <p:cNvSpPr txBox="1"/>
          <p:nvPr/>
        </p:nvSpPr>
        <p:spPr>
          <a:xfrm>
            <a:off x="1051560" y="2386584"/>
            <a:ext cx="4343400" cy="4937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B3A6B"/>
                </a:solidFill>
                <a:latin typeface="Calibri"/>
                <a:cs typeface="Calibri"/>
              </a:rPr>
              <a:t>ML Training &amp; Evaluation</a:t>
            </a:r>
          </a:p>
        </p:txBody>
      </p:sp>
      <p:sp>
        <p:nvSpPr>
          <p:cNvPr id="247" name="Module desc 3"/>
          <p:cNvSpPr txBox="1"/>
          <p:nvPr/>
        </p:nvSpPr>
        <p:spPr>
          <a:xfrm>
            <a:off x="5440680" y="2386584"/>
            <a:ext cx="6172200" cy="4937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222B38"/>
                </a:solidFill>
                <a:latin typeface="Calibri"/>
                <a:cs typeface="Calibri"/>
              </a:rPr>
              <a:t>Four classifiers compared on a stratified 80/20 split; SVM selected</a:t>
            </a:r>
          </a:p>
        </p:txBody>
      </p:sp>
      <p:sp>
        <p:nvSpPr>
          <p:cNvPr id="248" name="Module row 4"/>
          <p:cNvSpPr/>
          <p:nvPr/>
        </p:nvSpPr>
        <p:spPr>
          <a:xfrm>
            <a:off x="502920" y="2939796"/>
            <a:ext cx="11155680" cy="493776"/>
          </a:xfrm>
          <a:prstGeom prst="roundRect">
            <a:avLst>
              <a:gd name="adj" fmla="val 1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49" name="Module badge 4"/>
          <p:cNvSpPr/>
          <p:nvPr/>
        </p:nvSpPr>
        <p:spPr>
          <a:xfrm>
            <a:off x="594360" y="3003804"/>
            <a:ext cx="365760" cy="365760"/>
          </a:xfrm>
          <a:prstGeom prst="ellipse">
            <a:avLst/>
          </a:prstGeom>
          <a:solidFill>
            <a:srgbClr val="2E5AA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50" name="Module name 4"/>
          <p:cNvSpPr txBox="1"/>
          <p:nvPr/>
        </p:nvSpPr>
        <p:spPr>
          <a:xfrm>
            <a:off x="1051560" y="2939796"/>
            <a:ext cx="4343400" cy="4937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B3A6B"/>
                </a:solidFill>
                <a:latin typeface="Calibri"/>
                <a:cs typeface="Calibri"/>
              </a:rPr>
              <a:t>Defect Prediction</a:t>
            </a:r>
          </a:p>
        </p:txBody>
      </p:sp>
      <p:sp>
        <p:nvSpPr>
          <p:cNvPr id="251" name="Module desc 4"/>
          <p:cNvSpPr txBox="1"/>
          <p:nvPr/>
        </p:nvSpPr>
        <p:spPr>
          <a:xfrm>
            <a:off x="5440680" y="2939796"/>
            <a:ext cx="6172200" cy="4937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222B38"/>
                </a:solidFill>
                <a:latin typeface="Calibri"/>
                <a:cs typeface="Calibri"/>
              </a:rPr>
              <a:t>Saved SVM returns category, confidence, and class probabilities</a:t>
            </a:r>
          </a:p>
        </p:txBody>
      </p:sp>
      <p:sp>
        <p:nvSpPr>
          <p:cNvPr id="252" name="Module row 5"/>
          <p:cNvSpPr/>
          <p:nvPr/>
        </p:nvSpPr>
        <p:spPr>
          <a:xfrm>
            <a:off x="502920" y="3493008"/>
            <a:ext cx="11155680" cy="493776"/>
          </a:xfrm>
          <a:prstGeom prst="roundRect">
            <a:avLst>
              <a:gd name="adj" fmla="val 1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53" name="Module badge 5"/>
          <p:cNvSpPr/>
          <p:nvPr/>
        </p:nvSpPr>
        <p:spPr>
          <a:xfrm>
            <a:off x="594360" y="3557016"/>
            <a:ext cx="365760" cy="365760"/>
          </a:xfrm>
          <a:prstGeom prst="ellipse">
            <a:avLst/>
          </a:prstGeom>
          <a:solidFill>
            <a:srgbClr val="0E8C8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254" name="Module name 5"/>
          <p:cNvSpPr txBox="1"/>
          <p:nvPr/>
        </p:nvSpPr>
        <p:spPr>
          <a:xfrm>
            <a:off x="1051560" y="3493008"/>
            <a:ext cx="4343400" cy="4937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B3A6B"/>
                </a:solidFill>
                <a:latin typeface="Calibri"/>
                <a:cs typeface="Calibri"/>
              </a:rPr>
              <a:t>RAG Retrieval &amp; Reranking</a:t>
            </a:r>
          </a:p>
        </p:txBody>
      </p:sp>
      <p:sp>
        <p:nvSpPr>
          <p:cNvPr id="255" name="Module desc 5"/>
          <p:cNvSpPr txBox="1"/>
          <p:nvPr/>
        </p:nvSpPr>
        <p:spPr>
          <a:xfrm>
            <a:off x="5440680" y="3493008"/>
            <a:ext cx="6172200" cy="4937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222B38"/>
                </a:solidFill>
                <a:latin typeface="Calibri"/>
                <a:cs typeface="Calibri"/>
              </a:rPr>
              <a:t>ChromaDB retrieval of 8 chunks; keyword severity-aware rerank to top 3</a:t>
            </a:r>
          </a:p>
        </p:txBody>
      </p:sp>
      <p:sp>
        <p:nvSpPr>
          <p:cNvPr id="256" name="Module row 6"/>
          <p:cNvSpPr/>
          <p:nvPr/>
        </p:nvSpPr>
        <p:spPr>
          <a:xfrm>
            <a:off x="502920" y="4046220"/>
            <a:ext cx="11155680" cy="493776"/>
          </a:xfrm>
          <a:prstGeom prst="roundRect">
            <a:avLst>
              <a:gd name="adj" fmla="val 1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57" name="Module badge 6"/>
          <p:cNvSpPr/>
          <p:nvPr/>
        </p:nvSpPr>
        <p:spPr>
          <a:xfrm>
            <a:off x="594360" y="4110228"/>
            <a:ext cx="365760" cy="365760"/>
          </a:xfrm>
          <a:prstGeom prst="ellipse">
            <a:avLst/>
          </a:prstGeom>
          <a:solidFill>
            <a:srgbClr val="3A9D5D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258" name="Module name 6"/>
          <p:cNvSpPr txBox="1"/>
          <p:nvPr/>
        </p:nvSpPr>
        <p:spPr>
          <a:xfrm>
            <a:off x="1051560" y="4046220"/>
            <a:ext cx="4343400" cy="4937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B3A6B"/>
                </a:solidFill>
                <a:latin typeface="Calibri"/>
                <a:cs typeface="Calibri"/>
              </a:rPr>
              <a:t>LLM Recommendation Generation</a:t>
            </a:r>
          </a:p>
        </p:txBody>
      </p:sp>
      <p:sp>
        <p:nvSpPr>
          <p:cNvPr id="259" name="Module desc 6"/>
          <p:cNvSpPr txBox="1"/>
          <p:nvPr/>
        </p:nvSpPr>
        <p:spPr>
          <a:xfrm>
            <a:off x="5440680" y="4046220"/>
            <a:ext cx="6172200" cy="4937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222B38"/>
                </a:solidFill>
                <a:latin typeface="Calibri"/>
                <a:cs typeface="Calibri"/>
              </a:rPr>
              <a:t>Ollama explains and recommends from the prediction and retrieved knowledge</a:t>
            </a:r>
          </a:p>
        </p:txBody>
      </p:sp>
      <p:sp>
        <p:nvSpPr>
          <p:cNvPr id="260" name="Module row 7"/>
          <p:cNvSpPr/>
          <p:nvPr/>
        </p:nvSpPr>
        <p:spPr>
          <a:xfrm>
            <a:off x="502920" y="4599432"/>
            <a:ext cx="11155680" cy="493776"/>
          </a:xfrm>
          <a:prstGeom prst="roundRect">
            <a:avLst>
              <a:gd name="adj" fmla="val 1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61" name="Module badge 7"/>
          <p:cNvSpPr/>
          <p:nvPr/>
        </p:nvSpPr>
        <p:spPr>
          <a:xfrm>
            <a:off x="594360" y="4663440"/>
            <a:ext cx="365760" cy="365760"/>
          </a:xfrm>
          <a:prstGeom prst="ellipse">
            <a:avLst/>
          </a:prstGeom>
          <a:solidFill>
            <a:srgbClr val="3A9D5D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</a:p>
        </p:txBody>
      </p:sp>
      <p:sp>
        <p:nvSpPr>
          <p:cNvPr id="262" name="Module name 7"/>
          <p:cNvSpPr txBox="1"/>
          <p:nvPr/>
        </p:nvSpPr>
        <p:spPr>
          <a:xfrm>
            <a:off x="1051560" y="4599432"/>
            <a:ext cx="4343400" cy="4937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B3A6B"/>
                </a:solidFill>
                <a:latin typeface="Calibri"/>
                <a:cs typeface="Calibri"/>
              </a:rPr>
              <a:t>Streamlit Visualization &amp; Batch Monitoring</a:t>
            </a:r>
          </a:p>
        </p:txBody>
      </p:sp>
      <p:sp>
        <p:nvSpPr>
          <p:cNvPr id="263" name="Module desc 7"/>
          <p:cNvSpPr txBox="1"/>
          <p:nvPr/>
        </p:nvSpPr>
        <p:spPr>
          <a:xfrm>
            <a:off x="5440680" y="4599432"/>
            <a:ext cx="6172200" cy="4937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222B38"/>
                </a:solidFill>
                <a:latin typeface="Calibri"/>
                <a:cs typeface="Calibri"/>
              </a:rPr>
              <a:t>Five-input dashboard; sequential batches of 10 with severity status</a:t>
            </a:r>
          </a:p>
        </p:txBody>
      </p:sp>
      <p:sp>
        <p:nvSpPr>
          <p:cNvPr id="264" name="Module row 8"/>
          <p:cNvSpPr/>
          <p:nvPr/>
        </p:nvSpPr>
        <p:spPr>
          <a:xfrm>
            <a:off x="502920" y="5152644"/>
            <a:ext cx="11155680" cy="493776"/>
          </a:xfrm>
          <a:prstGeom prst="roundRect">
            <a:avLst>
              <a:gd name="adj" fmla="val 1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65" name="Module badge 8"/>
          <p:cNvSpPr/>
          <p:nvPr/>
        </p:nvSpPr>
        <p:spPr>
          <a:xfrm>
            <a:off x="594360" y="5216652"/>
            <a:ext cx="365760" cy="365760"/>
          </a:xfrm>
          <a:prstGeom prst="ellipse">
            <a:avLst/>
          </a:prstGeom>
          <a:solidFill>
            <a:srgbClr val="5F6B7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</a:p>
        </p:txBody>
      </p:sp>
      <p:sp>
        <p:nvSpPr>
          <p:cNvPr id="266" name="Module name 8"/>
          <p:cNvSpPr txBox="1"/>
          <p:nvPr/>
        </p:nvSpPr>
        <p:spPr>
          <a:xfrm>
            <a:off x="1051560" y="5152644"/>
            <a:ext cx="4343400" cy="4937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B3A6B"/>
                </a:solidFill>
                <a:latin typeface="Calibri"/>
                <a:cs typeface="Calibri"/>
              </a:rPr>
              <a:t>Azure Deployment (Planned Enhancement)</a:t>
            </a:r>
          </a:p>
        </p:txBody>
      </p:sp>
      <p:sp>
        <p:nvSpPr>
          <p:cNvPr id="267" name="Module desc 8"/>
          <p:cNvSpPr txBox="1"/>
          <p:nvPr/>
        </p:nvSpPr>
        <p:spPr>
          <a:xfrm>
            <a:off x="5440680" y="5152644"/>
            <a:ext cx="6172200" cy="4937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222B38"/>
                </a:solidFill>
                <a:latin typeface="Calibri"/>
                <a:cs typeface="Calibri"/>
              </a:rPr>
              <a:t>Cloud deployment of the working local prototype is a planned next step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Problem Statement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3108960" y="57036"/>
            <a:ext cx="905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i="1" dirty="0">
                <a:solidFill>
                  <a:srgbClr val="FFFFFF"/>
                </a:solidFill>
              </a:rPr>
              <a:t>Smart Manufacturing: RAG-Based Defect Detection &amp; Knowledge Assistance</a:t>
            </a:r>
          </a:p>
        </p:txBody>
      </p:sp>
      <p:sp>
        <p:nvSpPr>
          <p:cNvPr id="268" name="Problem card"/>
          <p:cNvSpPr/>
          <p:nvPr/>
        </p:nvSpPr>
        <p:spPr>
          <a:xfrm>
            <a:off x="502920" y="1325880"/>
            <a:ext cx="5486400" cy="3429000"/>
          </a:xfrm>
          <a:prstGeom prst="roundRect">
            <a:avLst>
              <a:gd name="adj" fmla="val 5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69" name="Problem heading"/>
          <p:cNvSpPr txBox="1"/>
          <p:nvPr/>
        </p:nvSpPr>
        <p:spPr>
          <a:xfrm>
            <a:off x="731520" y="141732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1B3A6B"/>
                </a:solidFill>
                <a:latin typeface="Calibri"/>
                <a:cs typeface="Calibri"/>
              </a:rPr>
              <a:t>The Problem</a:t>
            </a:r>
          </a:p>
        </p:txBody>
      </p:sp>
      <p:sp>
        <p:nvSpPr>
          <p:cNvPr id="270" name="Problem text"/>
          <p:cNvSpPr txBox="1"/>
          <p:nvPr/>
        </p:nvSpPr>
        <p:spPr>
          <a:xfrm>
            <a:off x="731520" y="1965960"/>
            <a:ext cx="5029200" cy="2743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256032" indent="-256032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1800" b="0" i="0" dirty="0">
                <a:solidFill>
                  <a:srgbClr val="222B38"/>
                </a:solidFill>
                <a:latin typeface="Calibri"/>
                <a:cs typeface="Calibri"/>
              </a:rPr>
              <a:t>Manufacturing sensor data can contain multiple interacting features, making defect severity difficult to assess manually.</a:t>
            </a:r>
          </a:p>
          <a:p>
            <a:pPr marL="256032" indent="-256032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1800" b="0" i="0" dirty="0">
                <a:solidFill>
                  <a:srgbClr val="222B38"/>
                </a:solidFill>
                <a:latin typeface="Calibri"/>
                <a:cs typeface="Calibri"/>
              </a:rPr>
              <a:t>Identifying a defect alone may not give the engineer relevant troubleshooting knowledge or an understandable corrective recommendation.</a:t>
            </a:r>
          </a:p>
        </p:txBody>
      </p:sp>
      <p:sp>
        <p:nvSpPr>
          <p:cNvPr id="271" name="Goal card"/>
          <p:cNvSpPr/>
          <p:nvPr/>
        </p:nvSpPr>
        <p:spPr>
          <a:xfrm>
            <a:off x="6263640" y="1325880"/>
            <a:ext cx="5394960" cy="3429000"/>
          </a:xfrm>
          <a:prstGeom prst="roundRect">
            <a:avLst>
              <a:gd name="adj" fmla="val 5000"/>
            </a:avLst>
          </a:prstGeom>
          <a:solidFill>
            <a:srgbClr val="1B3A6B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72" name="Goal heading"/>
          <p:cNvSpPr txBox="1"/>
          <p:nvPr/>
        </p:nvSpPr>
        <p:spPr>
          <a:xfrm>
            <a:off x="6492240" y="141732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Calibri"/>
                <a:cs typeface="Calibri"/>
              </a:rPr>
              <a:t>Project Goal</a:t>
            </a:r>
          </a:p>
        </p:txBody>
      </p:sp>
      <p:sp>
        <p:nvSpPr>
          <p:cNvPr id="273" name="Goal text"/>
          <p:cNvSpPr txBox="1"/>
          <p:nvPr/>
        </p:nvSpPr>
        <p:spPr>
          <a:xfrm>
            <a:off x="6492240" y="1965960"/>
            <a:ext cx="4937760" cy="2743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FFFFFF"/>
                </a:solidFill>
                <a:latin typeface="Calibri"/>
                <a:cs typeface="Calibri"/>
              </a:rPr>
              <a:t>To develop an intelligent prototype that classifies defect severity from sensor data, retrieves relevant manufacturing knowledge, generates recommendations, and presents results through an interactive dashboard.</a:t>
            </a:r>
          </a:p>
        </p:txBody>
      </p:sp>
      <p:sp>
        <p:nvSpPr>
          <p:cNvPr id="274" name="Scope strip"/>
          <p:cNvSpPr/>
          <p:nvPr/>
        </p:nvSpPr>
        <p:spPr>
          <a:xfrm>
            <a:off x="502920" y="4937760"/>
            <a:ext cx="11155680" cy="640080"/>
          </a:xfrm>
          <a:prstGeom prst="roundRect">
            <a:avLst>
              <a:gd name="adj" fmla="val 20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109728" tIns="65837" rIns="109728" bIns="65837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B3A6B"/>
                </a:solidFill>
                <a:latin typeface="Calibri"/>
                <a:cs typeface="Calibri"/>
              </a:rPr>
              <a:t>Current prototype: </a:t>
            </a:r>
            <a:r>
              <a:rPr lang="en-US" sz="1500" b="0" i="0" dirty="0">
                <a:solidFill>
                  <a:srgbClr val="222B38"/>
                </a:solidFill>
                <a:latin typeface="Calibri"/>
                <a:cs typeface="Calibri"/>
              </a:rPr>
              <a:t>built on synthetic sensor data and running on local services (Streamlit, ChromaDB, Ollama).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3108960" y="57036"/>
            <a:ext cx="905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i="1" dirty="0">
                <a:solidFill>
                  <a:srgbClr val="FFFFFF"/>
                </a:solidFill>
              </a:rPr>
              <a:t>Smart Manufacturing: RAG-Based Defect Detection &amp; Knowledge Assistance</a:t>
            </a:r>
          </a:p>
        </p:txBody>
      </p:sp>
      <p:sp>
        <p:nvSpPr>
          <p:cNvPr id="275" name="Step 1"/>
          <p:cNvSpPr/>
          <p:nvPr/>
        </p:nvSpPr>
        <p:spPr>
          <a:xfrm>
            <a:off x="502920" y="1371600"/>
            <a:ext cx="1874520" cy="1097280"/>
          </a:xfrm>
          <a:prstGeom prst="roundRect">
            <a:avLst>
              <a:gd name="adj" fmla="val 12000"/>
            </a:avLst>
          </a:prstGeom>
          <a:solidFill>
            <a:srgbClr val="2E5AAC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dirty="0">
                <a:solidFill>
                  <a:srgbClr val="FFFFFF"/>
                </a:solidFill>
                <a:latin typeface="Calibri"/>
                <a:cs typeface="Calibri"/>
              </a:rPr>
              <a:t>Synthetic manufacturing sensor data</a:t>
            </a:r>
          </a:p>
        </p:txBody>
      </p:sp>
      <p:sp>
        <p:nvSpPr>
          <p:cNvPr id="276" name="Step badge 1"/>
          <p:cNvSpPr/>
          <p:nvPr/>
        </p:nvSpPr>
        <p:spPr>
          <a:xfrm>
            <a:off x="411480" y="1243584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5AAC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2E5AAC"/>
                </a:solidFill>
                <a:latin typeface="Calibri"/>
                <a:cs typeface="Calibri"/>
              </a:rPr>
              <a:t>1</a:t>
            </a:r>
          </a:p>
        </p:txBody>
      </p:sp>
      <p:cxnSp>
        <p:nvCxnSpPr>
          <p:cNvPr id="277" name="Arrow 1"/>
          <p:cNvCxnSpPr/>
          <p:nvPr/>
        </p:nvCxnSpPr>
        <p:spPr>
          <a:xfrm>
            <a:off x="2414016" y="1920240"/>
            <a:ext cx="402336" cy="0"/>
          </a:xfrm>
          <a:prstGeom prst="line">
            <a:avLst/>
          </a:prstGeom>
          <a:ln w="31750">
            <a:solidFill>
              <a:srgbClr val="1B3A6B"/>
            </a:solidFill>
            <a:tailEnd type="triangle" w="med" len="med"/>
          </a:ln>
        </p:spPr>
      </p:cxnSp>
      <p:sp>
        <p:nvSpPr>
          <p:cNvPr id="278" name="Step 2"/>
          <p:cNvSpPr/>
          <p:nvPr/>
        </p:nvSpPr>
        <p:spPr>
          <a:xfrm>
            <a:off x="2852928" y="1371600"/>
            <a:ext cx="1874520" cy="1097280"/>
          </a:xfrm>
          <a:prstGeom prst="roundRect">
            <a:avLst>
              <a:gd name="adj" fmla="val 12000"/>
            </a:avLst>
          </a:prstGeom>
          <a:solidFill>
            <a:srgbClr val="2E5AAC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dirty="0">
                <a:solidFill>
                  <a:srgbClr val="FFFFFF"/>
                </a:solidFill>
                <a:latin typeface="Calibri"/>
                <a:cs typeface="Calibri"/>
              </a:rPr>
              <a:t>Data preprocessing and exploratory analysis</a:t>
            </a:r>
          </a:p>
        </p:txBody>
      </p:sp>
      <p:sp>
        <p:nvSpPr>
          <p:cNvPr id="279" name="Step badge 2"/>
          <p:cNvSpPr/>
          <p:nvPr/>
        </p:nvSpPr>
        <p:spPr>
          <a:xfrm>
            <a:off x="2761488" y="1243584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5AAC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2E5AAC"/>
                </a:solidFill>
                <a:latin typeface="Calibri"/>
                <a:cs typeface="Calibri"/>
              </a:rPr>
              <a:t>2</a:t>
            </a:r>
          </a:p>
        </p:txBody>
      </p:sp>
      <p:cxnSp>
        <p:nvCxnSpPr>
          <p:cNvPr id="280" name="Arrow 2"/>
          <p:cNvCxnSpPr/>
          <p:nvPr/>
        </p:nvCxnSpPr>
        <p:spPr>
          <a:xfrm>
            <a:off x="4764024" y="1920240"/>
            <a:ext cx="402336" cy="0"/>
          </a:xfrm>
          <a:prstGeom prst="line">
            <a:avLst/>
          </a:prstGeom>
          <a:ln w="31750">
            <a:solidFill>
              <a:srgbClr val="1B3A6B"/>
            </a:solidFill>
            <a:tailEnd type="triangle" w="med" len="med"/>
          </a:ln>
        </p:spPr>
      </p:cxnSp>
      <p:sp>
        <p:nvSpPr>
          <p:cNvPr id="281" name="Step 3"/>
          <p:cNvSpPr/>
          <p:nvPr/>
        </p:nvSpPr>
        <p:spPr>
          <a:xfrm>
            <a:off x="5202936" y="1371600"/>
            <a:ext cx="1874520" cy="1097280"/>
          </a:xfrm>
          <a:prstGeom prst="roundRect">
            <a:avLst>
              <a:gd name="adj" fmla="val 12000"/>
            </a:avLst>
          </a:prstGeom>
          <a:solidFill>
            <a:srgbClr val="2E5AAC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dirty="0">
                <a:solidFill>
                  <a:srgbClr val="FFFFFF"/>
                </a:solidFill>
                <a:latin typeface="Calibri"/>
                <a:cs typeface="Calibri"/>
              </a:rPr>
              <a:t>Train and compare ML models</a:t>
            </a:r>
          </a:p>
        </p:txBody>
      </p:sp>
      <p:sp>
        <p:nvSpPr>
          <p:cNvPr id="282" name="Step badge 3"/>
          <p:cNvSpPr/>
          <p:nvPr/>
        </p:nvSpPr>
        <p:spPr>
          <a:xfrm>
            <a:off x="5111496" y="1243584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5AAC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2E5AAC"/>
                </a:solidFill>
                <a:latin typeface="Calibri"/>
                <a:cs typeface="Calibri"/>
              </a:rPr>
              <a:t>3</a:t>
            </a:r>
          </a:p>
        </p:txBody>
      </p:sp>
      <p:cxnSp>
        <p:nvCxnSpPr>
          <p:cNvPr id="283" name="Arrow 3"/>
          <p:cNvCxnSpPr/>
          <p:nvPr/>
        </p:nvCxnSpPr>
        <p:spPr>
          <a:xfrm>
            <a:off x="7114032" y="1920240"/>
            <a:ext cx="402336" cy="0"/>
          </a:xfrm>
          <a:prstGeom prst="line">
            <a:avLst/>
          </a:prstGeom>
          <a:ln w="31750">
            <a:solidFill>
              <a:srgbClr val="1B3A6B"/>
            </a:solidFill>
            <a:tailEnd type="triangle" w="med" len="med"/>
          </a:ln>
        </p:spPr>
      </p:cxnSp>
      <p:sp>
        <p:nvSpPr>
          <p:cNvPr id="284" name="Step 4"/>
          <p:cNvSpPr/>
          <p:nvPr/>
        </p:nvSpPr>
        <p:spPr>
          <a:xfrm>
            <a:off x="7552944" y="1371600"/>
            <a:ext cx="1874520" cy="1097280"/>
          </a:xfrm>
          <a:prstGeom prst="roundRect">
            <a:avLst>
              <a:gd name="adj" fmla="val 12000"/>
            </a:avLst>
          </a:prstGeom>
          <a:solidFill>
            <a:srgbClr val="2E5AAC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dirty="0">
                <a:solidFill>
                  <a:srgbClr val="FFFFFF"/>
                </a:solidFill>
                <a:latin typeface="Calibri"/>
                <a:cs typeface="Calibri"/>
              </a:rPr>
              <a:t>Select trained SVM model</a:t>
            </a:r>
          </a:p>
        </p:txBody>
      </p:sp>
      <p:sp>
        <p:nvSpPr>
          <p:cNvPr id="285" name="Step badge 4"/>
          <p:cNvSpPr/>
          <p:nvPr/>
        </p:nvSpPr>
        <p:spPr>
          <a:xfrm>
            <a:off x="7461504" y="1243584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5AAC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2E5AAC"/>
                </a:solidFill>
                <a:latin typeface="Calibri"/>
                <a:cs typeface="Calibri"/>
              </a:rPr>
              <a:t>4</a:t>
            </a:r>
          </a:p>
        </p:txBody>
      </p:sp>
      <p:cxnSp>
        <p:nvCxnSpPr>
          <p:cNvPr id="286" name="Arrow 4"/>
          <p:cNvCxnSpPr/>
          <p:nvPr/>
        </p:nvCxnSpPr>
        <p:spPr>
          <a:xfrm>
            <a:off x="9464040" y="1920240"/>
            <a:ext cx="402336" cy="0"/>
          </a:xfrm>
          <a:prstGeom prst="line">
            <a:avLst/>
          </a:prstGeom>
          <a:ln w="31750">
            <a:solidFill>
              <a:srgbClr val="1B3A6B"/>
            </a:solidFill>
            <a:tailEnd type="triangle" w="med" len="med"/>
          </a:ln>
        </p:spPr>
      </p:cxnSp>
      <p:sp>
        <p:nvSpPr>
          <p:cNvPr id="287" name="Step 5"/>
          <p:cNvSpPr/>
          <p:nvPr/>
        </p:nvSpPr>
        <p:spPr>
          <a:xfrm>
            <a:off x="9902952" y="1371600"/>
            <a:ext cx="1874520" cy="1097280"/>
          </a:xfrm>
          <a:prstGeom prst="roundRect">
            <a:avLst>
              <a:gd name="adj" fmla="val 12000"/>
            </a:avLst>
          </a:prstGeom>
          <a:solidFill>
            <a:srgbClr val="2E5AAC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dirty="0">
                <a:solidFill>
                  <a:srgbClr val="FFFFFF"/>
                </a:solidFill>
                <a:latin typeface="Calibri"/>
                <a:cs typeface="Calibri"/>
              </a:rPr>
              <a:t>Enter sensor values in Streamlit</a:t>
            </a:r>
          </a:p>
        </p:txBody>
      </p:sp>
      <p:sp>
        <p:nvSpPr>
          <p:cNvPr id="288" name="Step badge 5"/>
          <p:cNvSpPr/>
          <p:nvPr/>
        </p:nvSpPr>
        <p:spPr>
          <a:xfrm>
            <a:off x="9811512" y="1243584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5AAC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2E5AAC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289" name="Step 6"/>
          <p:cNvSpPr/>
          <p:nvPr/>
        </p:nvSpPr>
        <p:spPr>
          <a:xfrm>
            <a:off x="9902952" y="3108960"/>
            <a:ext cx="1874520" cy="1097280"/>
          </a:xfrm>
          <a:prstGeom prst="roundRect">
            <a:avLst>
              <a:gd name="adj" fmla="val 12000"/>
            </a:avLst>
          </a:prstGeom>
          <a:solidFill>
            <a:srgbClr val="2E5AAC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dirty="0">
                <a:solidFill>
                  <a:srgbClr val="FFFFFF"/>
                </a:solidFill>
                <a:latin typeface="Calibri"/>
                <a:cs typeface="Calibri"/>
              </a:rPr>
              <a:t>Predict defect category and confidence</a:t>
            </a:r>
          </a:p>
        </p:txBody>
      </p:sp>
      <p:sp>
        <p:nvSpPr>
          <p:cNvPr id="290" name="Step badge 6"/>
          <p:cNvSpPr/>
          <p:nvPr/>
        </p:nvSpPr>
        <p:spPr>
          <a:xfrm>
            <a:off x="9811512" y="2980944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5AAC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2E5AAC"/>
                </a:solidFill>
                <a:latin typeface="Calibri"/>
                <a:cs typeface="Calibri"/>
              </a:rPr>
              <a:t>6</a:t>
            </a:r>
          </a:p>
        </p:txBody>
      </p:sp>
      <p:cxnSp>
        <p:nvCxnSpPr>
          <p:cNvPr id="291" name="Arrow 6"/>
          <p:cNvCxnSpPr/>
          <p:nvPr/>
        </p:nvCxnSpPr>
        <p:spPr>
          <a:xfrm flipH="1">
            <a:off x="9464040" y="3657600"/>
            <a:ext cx="402336" cy="0"/>
          </a:xfrm>
          <a:prstGeom prst="line">
            <a:avLst/>
          </a:prstGeom>
          <a:ln w="31750">
            <a:solidFill>
              <a:srgbClr val="1B3A6B"/>
            </a:solidFill>
            <a:tailEnd type="triangle" w="med" len="med"/>
          </a:ln>
        </p:spPr>
      </p:cxnSp>
      <p:sp>
        <p:nvSpPr>
          <p:cNvPr id="292" name="Step 7"/>
          <p:cNvSpPr/>
          <p:nvPr/>
        </p:nvSpPr>
        <p:spPr>
          <a:xfrm>
            <a:off x="7552944" y="3108960"/>
            <a:ext cx="1874520" cy="1097280"/>
          </a:xfrm>
          <a:prstGeom prst="roundRect">
            <a:avLst>
              <a:gd name="adj" fmla="val 12000"/>
            </a:avLst>
          </a:prstGeom>
          <a:solidFill>
            <a:srgbClr val="0E8C8C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dirty="0">
                <a:solidFill>
                  <a:srgbClr val="FFFFFF"/>
                </a:solidFill>
                <a:latin typeface="Calibri"/>
                <a:cs typeface="Calibri"/>
              </a:rPr>
              <a:t>Retrieve manufacturing knowledge from ChromaDB</a:t>
            </a:r>
          </a:p>
        </p:txBody>
      </p:sp>
      <p:sp>
        <p:nvSpPr>
          <p:cNvPr id="293" name="Step badge 7"/>
          <p:cNvSpPr/>
          <p:nvPr/>
        </p:nvSpPr>
        <p:spPr>
          <a:xfrm>
            <a:off x="7461504" y="2980944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8C8C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E8C8C"/>
                </a:solidFill>
                <a:latin typeface="Calibri"/>
                <a:cs typeface="Calibri"/>
              </a:rPr>
              <a:t>7</a:t>
            </a:r>
          </a:p>
        </p:txBody>
      </p:sp>
      <p:cxnSp>
        <p:nvCxnSpPr>
          <p:cNvPr id="294" name="Arrow 7"/>
          <p:cNvCxnSpPr/>
          <p:nvPr/>
        </p:nvCxnSpPr>
        <p:spPr>
          <a:xfrm flipH="1">
            <a:off x="7114032" y="3657600"/>
            <a:ext cx="402336" cy="0"/>
          </a:xfrm>
          <a:prstGeom prst="line">
            <a:avLst/>
          </a:prstGeom>
          <a:ln w="31750">
            <a:solidFill>
              <a:srgbClr val="1B3A6B"/>
            </a:solidFill>
            <a:tailEnd type="triangle" w="med" len="med"/>
          </a:ln>
        </p:spPr>
      </p:cxnSp>
      <p:sp>
        <p:nvSpPr>
          <p:cNvPr id="295" name="Step 8"/>
          <p:cNvSpPr/>
          <p:nvPr/>
        </p:nvSpPr>
        <p:spPr>
          <a:xfrm>
            <a:off x="5202936" y="3108960"/>
            <a:ext cx="1874520" cy="1097280"/>
          </a:xfrm>
          <a:prstGeom prst="roundRect">
            <a:avLst>
              <a:gd name="adj" fmla="val 12000"/>
            </a:avLst>
          </a:prstGeom>
          <a:solidFill>
            <a:srgbClr val="0E8C8C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dirty="0">
                <a:solidFill>
                  <a:srgbClr val="FFFFFF"/>
                </a:solidFill>
                <a:latin typeface="Calibri"/>
                <a:cs typeface="Calibri"/>
              </a:rPr>
              <a:t>Severity-aware RAG reranking</a:t>
            </a:r>
          </a:p>
        </p:txBody>
      </p:sp>
      <p:sp>
        <p:nvSpPr>
          <p:cNvPr id="296" name="Step badge 8"/>
          <p:cNvSpPr/>
          <p:nvPr/>
        </p:nvSpPr>
        <p:spPr>
          <a:xfrm>
            <a:off x="5111496" y="2980944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8C8C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E8C8C"/>
                </a:solidFill>
                <a:latin typeface="Calibri"/>
                <a:cs typeface="Calibri"/>
              </a:rPr>
              <a:t>8</a:t>
            </a:r>
          </a:p>
        </p:txBody>
      </p:sp>
      <p:cxnSp>
        <p:nvCxnSpPr>
          <p:cNvPr id="297" name="Arrow 8"/>
          <p:cNvCxnSpPr/>
          <p:nvPr/>
        </p:nvCxnSpPr>
        <p:spPr>
          <a:xfrm flipH="1">
            <a:off x="4764024" y="3657600"/>
            <a:ext cx="402336" cy="0"/>
          </a:xfrm>
          <a:prstGeom prst="line">
            <a:avLst/>
          </a:prstGeom>
          <a:ln w="31750">
            <a:solidFill>
              <a:srgbClr val="1B3A6B"/>
            </a:solidFill>
            <a:tailEnd type="triangle" w="med" len="med"/>
          </a:ln>
        </p:spPr>
      </p:cxnSp>
      <p:sp>
        <p:nvSpPr>
          <p:cNvPr id="298" name="Step 9"/>
          <p:cNvSpPr/>
          <p:nvPr/>
        </p:nvSpPr>
        <p:spPr>
          <a:xfrm>
            <a:off x="2852928" y="3108960"/>
            <a:ext cx="1874520" cy="1097280"/>
          </a:xfrm>
          <a:prstGeom prst="roundRect">
            <a:avLst>
              <a:gd name="adj" fmla="val 12000"/>
            </a:avLst>
          </a:prstGeom>
          <a:solidFill>
            <a:srgbClr val="3A9D5D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dirty="0">
                <a:solidFill>
                  <a:srgbClr val="FFFFFF"/>
                </a:solidFill>
                <a:latin typeface="Calibri"/>
                <a:cs typeface="Calibri"/>
              </a:rPr>
              <a:t>Generate recommendation with Ollama LLM</a:t>
            </a:r>
          </a:p>
        </p:txBody>
      </p:sp>
      <p:sp>
        <p:nvSpPr>
          <p:cNvPr id="299" name="Step badge 9"/>
          <p:cNvSpPr/>
          <p:nvPr/>
        </p:nvSpPr>
        <p:spPr>
          <a:xfrm>
            <a:off x="2761488" y="2980944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A9D5D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3A9D5D"/>
                </a:solidFill>
                <a:latin typeface="Calibri"/>
                <a:cs typeface="Calibri"/>
              </a:rPr>
              <a:t>9</a:t>
            </a:r>
          </a:p>
        </p:txBody>
      </p:sp>
      <p:cxnSp>
        <p:nvCxnSpPr>
          <p:cNvPr id="300" name="Arrow 9"/>
          <p:cNvCxnSpPr/>
          <p:nvPr/>
        </p:nvCxnSpPr>
        <p:spPr>
          <a:xfrm flipH="1">
            <a:off x="2414016" y="3657600"/>
            <a:ext cx="402336" cy="0"/>
          </a:xfrm>
          <a:prstGeom prst="line">
            <a:avLst/>
          </a:prstGeom>
          <a:ln w="31750">
            <a:solidFill>
              <a:srgbClr val="1B3A6B"/>
            </a:solidFill>
            <a:tailEnd type="triangle" w="med" len="med"/>
          </a:ln>
        </p:spPr>
      </p:cxnSp>
      <p:sp>
        <p:nvSpPr>
          <p:cNvPr id="301" name="Step 10"/>
          <p:cNvSpPr/>
          <p:nvPr/>
        </p:nvSpPr>
        <p:spPr>
          <a:xfrm>
            <a:off x="502920" y="3108960"/>
            <a:ext cx="1874520" cy="1097280"/>
          </a:xfrm>
          <a:prstGeom prst="roundRect">
            <a:avLst>
              <a:gd name="adj" fmla="val 12000"/>
            </a:avLst>
          </a:prstGeom>
          <a:solidFill>
            <a:srgbClr val="3A9D5D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dirty="0">
                <a:solidFill>
                  <a:srgbClr val="FFFFFF"/>
                </a:solidFill>
                <a:latin typeface="Calibri"/>
                <a:cs typeface="Calibri"/>
              </a:rPr>
              <a:t>Display prediction, knowledge, recommendation, batch status</a:t>
            </a:r>
          </a:p>
        </p:txBody>
      </p:sp>
      <p:sp>
        <p:nvSpPr>
          <p:cNvPr id="302" name="Step badge 10"/>
          <p:cNvSpPr/>
          <p:nvPr/>
        </p:nvSpPr>
        <p:spPr>
          <a:xfrm>
            <a:off x="411480" y="2980944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A9D5D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3A9D5D"/>
                </a:solidFill>
                <a:latin typeface="Calibri"/>
                <a:cs typeface="Calibri"/>
              </a:rPr>
              <a:t>10</a:t>
            </a:r>
          </a:p>
        </p:txBody>
      </p:sp>
      <p:cxnSp>
        <p:nvCxnSpPr>
          <p:cNvPr id="303" name="Arrow 5 to 6"/>
          <p:cNvCxnSpPr/>
          <p:nvPr/>
        </p:nvCxnSpPr>
        <p:spPr>
          <a:xfrm>
            <a:off x="10840212" y="2505456"/>
            <a:ext cx="0" cy="566928"/>
          </a:xfrm>
          <a:prstGeom prst="line">
            <a:avLst/>
          </a:prstGeom>
          <a:ln w="31750">
            <a:solidFill>
              <a:srgbClr val="1B3A6B"/>
            </a:solidFill>
            <a:tailEnd type="triangle" w="med" len="med"/>
          </a:ln>
        </p:spPr>
      </p:cxnSp>
      <p:cxnSp>
        <p:nvCxnSpPr>
          <p:cNvPr id="304" name="Batch branch link"/>
          <p:cNvCxnSpPr/>
          <p:nvPr/>
        </p:nvCxnSpPr>
        <p:spPr>
          <a:xfrm>
            <a:off x="1440180" y="4242816"/>
            <a:ext cx="0" cy="329184"/>
          </a:xfrm>
          <a:prstGeom prst="line">
            <a:avLst/>
          </a:prstGeom>
          <a:ln w="25400">
            <a:solidFill>
              <a:srgbClr val="5F6B7A"/>
            </a:solidFill>
            <a:prstDash val="dash"/>
            <a:tailEnd type="triangle" w="med" len="med"/>
          </a:ln>
        </p:spPr>
      </p:cxnSp>
      <p:sp>
        <p:nvSpPr>
          <p:cNvPr id="305" name="Batch processing"/>
          <p:cNvSpPr/>
          <p:nvPr/>
        </p:nvSpPr>
        <p:spPr>
          <a:xfrm>
            <a:off x="502920" y="4617720"/>
            <a:ext cx="6675120" cy="731520"/>
          </a:xfrm>
          <a:prstGeom prst="roundRect">
            <a:avLst>
              <a:gd name="adj" fmla="val 15000"/>
            </a:avLst>
          </a:prstGeom>
          <a:solidFill>
            <a:srgbClr val="F3F5F7"/>
          </a:solidFill>
          <a:ln w="12700">
            <a:solidFill>
              <a:srgbClr val="5F6B7A"/>
            </a:solidFill>
            <a:prstDash val="dash"/>
          </a:ln>
        </p:spPr>
        <p:txBody>
          <a:bodyPr wrap="square" lIns="137160" tIns="82296" rIns="137160" bIns="82296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1B3A6B"/>
                </a:solidFill>
                <a:latin typeface="Calibri"/>
                <a:cs typeface="Calibri"/>
              </a:rPr>
              <a:t>Batch monitoring (supporting): </a:t>
            </a:r>
            <a:r>
              <a:rPr lang="en-US" sz="1250" b="0" i="0" dirty="0">
                <a:solidFill>
                  <a:srgbClr val="222B38"/>
                </a:solidFill>
                <a:latin typeface="Calibri"/>
                <a:cs typeface="Calibri"/>
              </a:rPr>
              <a:t>readings processed sequentially in batches of 10; counts per class; status = highest severity (rule-based)</a:t>
            </a:r>
          </a:p>
        </p:txBody>
      </p:sp>
      <p:sp>
        <p:nvSpPr>
          <p:cNvPr id="306" name="Legend swatch 1"/>
          <p:cNvSpPr/>
          <p:nvPr/>
        </p:nvSpPr>
        <p:spPr>
          <a:xfrm>
            <a:off x="7635240" y="4626864"/>
            <a:ext cx="182880" cy="182880"/>
          </a:xfrm>
          <a:prstGeom prst="roundRect">
            <a:avLst/>
          </a:prstGeom>
          <a:solidFill>
            <a:srgbClr val="2E5AAC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07" name="Legend label 1"/>
          <p:cNvSpPr txBox="1"/>
          <p:nvPr/>
        </p:nvSpPr>
        <p:spPr>
          <a:xfrm>
            <a:off x="7882128" y="457200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222B38"/>
                </a:solidFill>
                <a:latin typeface="Calibri"/>
                <a:cs typeface="Calibri"/>
              </a:rPr>
              <a:t>Data and ML classification (SVM)</a:t>
            </a:r>
          </a:p>
        </p:txBody>
      </p:sp>
      <p:sp>
        <p:nvSpPr>
          <p:cNvPr id="308" name="Legend swatch 2"/>
          <p:cNvSpPr/>
          <p:nvPr/>
        </p:nvSpPr>
        <p:spPr>
          <a:xfrm>
            <a:off x="7635240" y="4892040"/>
            <a:ext cx="182880" cy="182880"/>
          </a:xfrm>
          <a:prstGeom prst="roundRect">
            <a:avLst/>
          </a:prstGeom>
          <a:solidFill>
            <a:srgbClr val="0E8C8C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09" name="Legend label 2"/>
          <p:cNvSpPr txBox="1"/>
          <p:nvPr/>
        </p:nvSpPr>
        <p:spPr>
          <a:xfrm>
            <a:off x="7882128" y="4837176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222B38"/>
                </a:solidFill>
                <a:latin typeface="Calibri"/>
                <a:cs typeface="Calibri"/>
              </a:rPr>
              <a:t>RAG knowledge retrieval</a:t>
            </a:r>
          </a:p>
        </p:txBody>
      </p:sp>
      <p:sp>
        <p:nvSpPr>
          <p:cNvPr id="310" name="Legend swatch 3"/>
          <p:cNvSpPr/>
          <p:nvPr/>
        </p:nvSpPr>
        <p:spPr>
          <a:xfrm>
            <a:off x="7635240" y="5157216"/>
            <a:ext cx="182880" cy="182880"/>
          </a:xfrm>
          <a:prstGeom prst="roundRect">
            <a:avLst/>
          </a:prstGeom>
          <a:solidFill>
            <a:srgbClr val="3A9D5D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11" name="Legend label 3"/>
          <p:cNvSpPr txBox="1"/>
          <p:nvPr/>
        </p:nvSpPr>
        <p:spPr>
          <a:xfrm>
            <a:off x="7882128" y="510235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222B38"/>
                </a:solidFill>
                <a:latin typeface="Calibri"/>
                <a:cs typeface="Calibri"/>
              </a:rPr>
              <a:t>LLM recommendation and dashboard</a:t>
            </a:r>
          </a:p>
        </p:txBody>
      </p: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 / Algorithms /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3108960" y="57036"/>
            <a:ext cx="905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i="1" dirty="0">
                <a:solidFill>
                  <a:srgbClr val="FFFFFF"/>
                </a:solidFill>
              </a:rPr>
              <a:t>Smart Manufacturing: RAG-Based Defect Detection &amp; Knowledge Assistance</a:t>
            </a:r>
          </a:p>
        </p:txBody>
      </p:sp>
      <p:graphicFrame>
        <p:nvGraphicFramePr>
          <p:cNvPr id="313" name="Tools table"/>
          <p:cNvGraphicFramePr>
            <a:graphicFrameLocks noGrp="1"/>
          </p:cNvGraphicFramePr>
          <p:nvPr/>
        </p:nvGraphicFramePr>
        <p:xfrm>
          <a:off x="502920" y="1280160"/>
          <a:ext cx="5715000" cy="3730752"/>
        </p:xfrm>
        <a:graphic>
          <a:graphicData uri="http://schemas.openxmlformats.org/drawingml/2006/table">
            <a:tbl>
              <a:tblPr firstRow="1" bandRow="1"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12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Tool / Technique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Role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1250" b="1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Python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b="0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Core application logic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1250" b="1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Pandas and NumPy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b="0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Data processing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1250" b="1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scikit-learn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b="0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Model training and evaluation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1250" b="1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SVM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b="0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Final defect classification model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1250" b="1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Sentence Transformers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b="0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Generate knowledge embeddings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1250" b="1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all-MiniLM-L6-v2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b="0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Text embedding model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1250" b="1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ChromaDB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b="0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Store and retrieve knowledge chunks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1250" b="1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Ollama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b="0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Run the local LLM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1250" b="1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Streamlit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b="0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Interactive application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1250" b="1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Matplotlib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b="0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Evaluation visualizations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1250" b="1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joblib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b="0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Save and load the trained model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14" name="Process card"/>
          <p:cNvSpPr/>
          <p:nvPr/>
        </p:nvSpPr>
        <p:spPr>
          <a:xfrm>
            <a:off x="6492240" y="1280160"/>
            <a:ext cx="5166360" cy="3730752"/>
          </a:xfrm>
          <a:prstGeom prst="roundRect">
            <a:avLst>
              <a:gd name="adj" fmla="val 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15" name="Process heading"/>
          <p:cNvSpPr txBox="1"/>
          <p:nvPr/>
        </p:nvSpPr>
        <p:spPr>
          <a:xfrm>
            <a:off x="6629400" y="132588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B3A6B"/>
                </a:solidFill>
                <a:latin typeface="Calibri"/>
                <a:cs typeface="Calibri"/>
              </a:rPr>
              <a:t>Key algorithms and processes</a:t>
            </a:r>
          </a:p>
        </p:txBody>
      </p:sp>
      <p:sp>
        <p:nvSpPr>
          <p:cNvPr id="316" name="Process list"/>
          <p:cNvSpPr txBox="1"/>
          <p:nvPr/>
        </p:nvSpPr>
        <p:spPr>
          <a:xfrm>
            <a:off x="6629400" y="1737360"/>
            <a:ext cx="4937760" cy="3200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237744" indent="-237744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222B38"/>
                </a:solidFill>
                <a:latin typeface="Calibri"/>
                <a:cs typeface="Calibri"/>
              </a:rPr>
              <a:t>Stratified 80/20 train-test split</a:t>
            </a:r>
          </a:p>
          <a:p>
            <a:pPr marL="237744" indent="-237744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222B38"/>
                </a:solidFill>
                <a:latin typeface="Calibri"/>
                <a:cs typeface="Calibri"/>
              </a:rPr>
              <a:t>Comparison of four classifiers</a:t>
            </a:r>
          </a:p>
          <a:p>
            <a:pPr marL="237744" indent="-237744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222B38"/>
                </a:solidFill>
                <a:latin typeface="Calibri"/>
                <a:cs typeface="Calibri"/>
              </a:rPr>
              <a:t>SVM-based defect classification</a:t>
            </a:r>
          </a:p>
          <a:p>
            <a:pPr marL="237744" indent="-237744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222B38"/>
                </a:solidFill>
                <a:latin typeface="Calibri"/>
                <a:cs typeface="Calibri"/>
              </a:rPr>
              <a:t>Vector similarity retrieval (8 candidates)</a:t>
            </a:r>
          </a:p>
          <a:p>
            <a:pPr marL="237744" indent="-237744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222B38"/>
                </a:solidFill>
                <a:latin typeface="Calibri"/>
                <a:cs typeface="Calibri"/>
              </a:rPr>
              <a:t>Severity-aware keyword reranking (top 3)</a:t>
            </a:r>
          </a:p>
          <a:p>
            <a:pPr marL="237744" indent="-237744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222B38"/>
                </a:solidFill>
                <a:latin typeface="Calibri"/>
                <a:cs typeface="Calibri"/>
              </a:rPr>
              <a:t>LLM recommendation generation</a:t>
            </a:r>
          </a:p>
          <a:p>
            <a:pPr marL="237744" indent="-237744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222B38"/>
                </a:solidFill>
                <a:latin typeface="Calibri"/>
                <a:cs typeface="Calibri"/>
              </a:rPr>
              <a:t>Rule-based batch status calculation</a:t>
            </a:r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3108960" y="57036"/>
            <a:ext cx="905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i="1" dirty="0">
                <a:solidFill>
                  <a:srgbClr val="FFFFFF"/>
                </a:solidFill>
              </a:rPr>
              <a:t>Smart Manufacturing: RAG-Based Defect Detection &amp; Knowledge Assistance</a:t>
            </a:r>
          </a:p>
        </p:txBody>
      </p:sp>
      <p:sp>
        <p:nvSpPr>
          <p:cNvPr id="318" name="Dataset chip 1"/>
          <p:cNvSpPr/>
          <p:nvPr/>
        </p:nvSpPr>
        <p:spPr>
          <a:xfrm>
            <a:off x="502920" y="1280160"/>
            <a:ext cx="2697480" cy="566928"/>
          </a:xfrm>
          <a:prstGeom prst="roundRect">
            <a:avLst>
              <a:gd name="adj" fmla="val 20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54864" tIns="32918" rIns="54864" bIns="32918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B3A6B"/>
                </a:solidFill>
                <a:latin typeface="Calibri"/>
                <a:cs typeface="Calibri"/>
              </a:rPr>
              <a:t>10,000  </a:t>
            </a:r>
            <a:r>
              <a:rPr lang="en-US" sz="1300" b="0" i="0" dirty="0">
                <a:solidFill>
                  <a:srgbClr val="222B38"/>
                </a:solidFill>
                <a:latin typeface="Calibri"/>
                <a:cs typeface="Calibri"/>
              </a:rPr>
              <a:t>synthetic records</a:t>
            </a:r>
          </a:p>
        </p:txBody>
      </p:sp>
      <p:sp>
        <p:nvSpPr>
          <p:cNvPr id="319" name="Dataset chip 2"/>
          <p:cNvSpPr/>
          <p:nvPr/>
        </p:nvSpPr>
        <p:spPr>
          <a:xfrm>
            <a:off x="3322015" y="1280160"/>
            <a:ext cx="2697480" cy="566928"/>
          </a:xfrm>
          <a:prstGeom prst="roundRect">
            <a:avLst>
              <a:gd name="adj" fmla="val 20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54864" tIns="32918" rIns="54864" bIns="32918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B3A6B"/>
                </a:solidFill>
                <a:latin typeface="Calibri"/>
                <a:cs typeface="Calibri"/>
              </a:rPr>
              <a:t>5  </a:t>
            </a:r>
            <a:r>
              <a:rPr lang="en-US" sz="1300" b="0" i="0" dirty="0">
                <a:solidFill>
                  <a:srgbClr val="222B38"/>
                </a:solidFill>
                <a:latin typeface="Calibri"/>
                <a:cs typeface="Calibri"/>
              </a:rPr>
              <a:t>sensor features</a:t>
            </a:r>
          </a:p>
        </p:txBody>
      </p:sp>
      <p:sp>
        <p:nvSpPr>
          <p:cNvPr id="320" name="Dataset chip 3"/>
          <p:cNvSpPr/>
          <p:nvPr/>
        </p:nvSpPr>
        <p:spPr>
          <a:xfrm>
            <a:off x="6141110" y="1280160"/>
            <a:ext cx="2697480" cy="566928"/>
          </a:xfrm>
          <a:prstGeom prst="roundRect">
            <a:avLst>
              <a:gd name="adj" fmla="val 20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54864" tIns="32918" rIns="54864" bIns="32918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B3A6B"/>
                </a:solidFill>
                <a:latin typeface="Calibri"/>
                <a:cs typeface="Calibri"/>
              </a:rPr>
              <a:t>4  </a:t>
            </a:r>
            <a:r>
              <a:rPr lang="en-US" sz="1300" b="0" i="0" dirty="0">
                <a:solidFill>
                  <a:srgbClr val="222B38"/>
                </a:solidFill>
                <a:latin typeface="Calibri"/>
                <a:cs typeface="Calibri"/>
              </a:rPr>
              <a:t>defect classes</a:t>
            </a:r>
          </a:p>
        </p:txBody>
      </p:sp>
      <p:sp>
        <p:nvSpPr>
          <p:cNvPr id="321" name="Dataset chip 4"/>
          <p:cNvSpPr/>
          <p:nvPr/>
        </p:nvSpPr>
        <p:spPr>
          <a:xfrm>
            <a:off x="8960206" y="1280160"/>
            <a:ext cx="2697480" cy="566928"/>
          </a:xfrm>
          <a:prstGeom prst="roundRect">
            <a:avLst>
              <a:gd name="adj" fmla="val 20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54864" tIns="32918" rIns="54864" bIns="32918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B3A6B"/>
                </a:solidFill>
                <a:latin typeface="Calibri"/>
                <a:cs typeface="Calibri"/>
              </a:rPr>
              <a:t>0  </a:t>
            </a:r>
            <a:r>
              <a:rPr lang="en-US" sz="1300" b="0" i="0" dirty="0">
                <a:solidFill>
                  <a:srgbClr val="222B38"/>
                </a:solidFill>
                <a:latin typeface="Calibri"/>
                <a:cs typeface="Calibri"/>
              </a:rPr>
              <a:t>missing / duplicate</a:t>
            </a:r>
          </a:p>
        </p:txBody>
      </p:sp>
      <p:graphicFrame>
        <p:nvGraphicFramePr>
          <p:cNvPr id="322" name="SVM metrics table"/>
          <p:cNvGraphicFramePr>
            <a:graphicFrameLocks noGrp="1"/>
          </p:cNvGraphicFramePr>
          <p:nvPr/>
        </p:nvGraphicFramePr>
        <p:xfrm>
          <a:off x="6903720" y="2011680"/>
          <a:ext cx="4754880" cy="2304288"/>
        </p:xfrm>
        <a:graphic>
          <a:graphicData uri="http://schemas.openxmlformats.org/drawingml/2006/table">
            <a:tbl>
              <a:tblPr firstRow="1" bandRow="1"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Selected model: SVM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Result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Accuracy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93.10%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Weighted F1-score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93.11%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Recall: Critical Defect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94%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Recall: Minor Defect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90%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Recall: Moderate Defect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86%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Recall: No Defect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97%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23" name="Prediction example"/>
          <p:cNvSpPr/>
          <p:nvPr/>
        </p:nvSpPr>
        <p:spPr>
          <a:xfrm>
            <a:off x="6903720" y="4434840"/>
            <a:ext cx="4754880" cy="502920"/>
          </a:xfrm>
          <a:prstGeom prst="roundRect">
            <a:avLst>
              <a:gd name="adj" fmla="val 20000"/>
            </a:avLst>
          </a:prstGeom>
          <a:solidFill>
            <a:srgbClr val="F3F5F7"/>
          </a:solidFill>
          <a:ln w="12700">
            <a:solidFill>
              <a:srgbClr val="5F6B7A"/>
            </a:solidFill>
            <a:prstDash val="dash"/>
          </a:ln>
        </p:spPr>
        <p:txBody>
          <a:bodyPr wrap="square" lIns="54864" tIns="32918" rIns="54864" bIns="32918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1B3A6B"/>
                </a:solidFill>
                <a:latin typeface="Calibri"/>
                <a:cs typeface="Calibri"/>
              </a:rPr>
              <a:t>Illustrative prediction: </a:t>
            </a:r>
            <a:r>
              <a:rPr lang="en-US" sz="1200" b="0" i="0" dirty="0">
                <a:solidFill>
                  <a:srgbClr val="222B38"/>
                </a:solidFill>
                <a:latin typeface="Calibri"/>
                <a:cs typeface="Calibri"/>
              </a:rPr>
              <a:t>Moderate Defect, 63.29% confidence</a:t>
            </a:r>
          </a:p>
        </p:txBody>
      </p:sp>
      <p:sp>
        <p:nvSpPr>
          <p:cNvPr id="324" name="App features"/>
          <p:cNvSpPr/>
          <p:nvPr/>
        </p:nvSpPr>
        <p:spPr>
          <a:xfrm>
            <a:off x="502920" y="5029200"/>
            <a:ext cx="11155680" cy="457200"/>
          </a:xfrm>
          <a:prstGeom prst="roundRect">
            <a:avLst>
              <a:gd name="adj" fmla="val 20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91440" tIns="54864" rIns="91440" bIns="54864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1B3A6B"/>
                </a:solidFill>
                <a:latin typeface="Calibri"/>
                <a:cs typeface="Calibri"/>
              </a:rPr>
              <a:t>Implemented app: </a:t>
            </a:r>
            <a:r>
              <a:rPr lang="en-US" sz="1250" b="0" i="0" dirty="0">
                <a:solidFill>
                  <a:srgbClr val="222B38"/>
                </a:solidFill>
                <a:latin typeface="Calibri"/>
                <a:cs typeface="Calibri"/>
              </a:rPr>
              <a:t>prediction with confidence and probabilities • knowledge retrieval • LLM recommendation • dashboard • batch monitoring</a:t>
            </a:r>
          </a:p>
        </p:txBody>
      </p:sp>
      <p:pic>
        <p:nvPicPr>
          <p:cNvPr id="326" name="Model comparison chart" descr="Bar chart of model accuracy: Logistic Regression 83.25%, Random Forest 90.75%, Gradient Boosting 91.45%, SVM 93.10%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65960"/>
            <a:ext cx="621792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 and Future Work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3108960" y="57036"/>
            <a:ext cx="905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i="1" dirty="0">
                <a:solidFill>
                  <a:srgbClr val="FFFFFF"/>
                </a:solidFill>
              </a:rPr>
              <a:t>Smart Manufacturing: RAG-Based Defect Detection &amp; Knowledge Assistance</a:t>
            </a:r>
          </a:p>
        </p:txBody>
      </p:sp>
      <p:sp>
        <p:nvSpPr>
          <p:cNvPr id="326" name="Achievements heading"/>
          <p:cNvSpPr txBox="1"/>
          <p:nvPr/>
        </p:nvSpPr>
        <p:spPr>
          <a:xfrm>
            <a:off x="502920" y="12344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B3A6B"/>
                </a:solidFill>
                <a:latin typeface="Calibri"/>
                <a:cs typeface="Calibri"/>
              </a:rPr>
              <a:t>Implemented prototype</a:t>
            </a:r>
          </a:p>
        </p:txBody>
      </p:sp>
      <p:sp>
        <p:nvSpPr>
          <p:cNvPr id="327" name="Achievement card 1"/>
          <p:cNvSpPr/>
          <p:nvPr/>
        </p:nvSpPr>
        <p:spPr>
          <a:xfrm>
            <a:off x="502920" y="1645920"/>
            <a:ext cx="3611880" cy="1078992"/>
          </a:xfrm>
          <a:prstGeom prst="roundRect">
            <a:avLst>
              <a:gd name="adj" fmla="val 10000"/>
            </a:avLst>
          </a:prstGeom>
          <a:solidFill>
            <a:srgbClr val="2E5AAC"/>
          </a:solidFill>
          <a:ln>
            <a:noFill/>
          </a:ln>
        </p:spPr>
        <p:txBody>
          <a:bodyPr wrap="square" lIns="137160" tIns="82296" rIns="137160" bIns="82296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SVM Classification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FFFFFF"/>
                </a:solidFill>
                <a:latin typeface="Calibri"/>
                <a:cs typeface="Calibri"/>
              </a:rPr>
              <a:t>Best of four models: 93.10% accuracy, 93.11% weighted F1</a:t>
            </a:r>
          </a:p>
        </p:txBody>
      </p:sp>
      <p:sp>
        <p:nvSpPr>
          <p:cNvPr id="328" name="Achievement card 2"/>
          <p:cNvSpPr/>
          <p:nvPr/>
        </p:nvSpPr>
        <p:spPr>
          <a:xfrm>
            <a:off x="4274820" y="1645920"/>
            <a:ext cx="3611880" cy="1078992"/>
          </a:xfrm>
          <a:prstGeom prst="roundRect">
            <a:avLst>
              <a:gd name="adj" fmla="val 10000"/>
            </a:avLst>
          </a:prstGeom>
          <a:solidFill>
            <a:srgbClr val="0E8C8C"/>
          </a:solidFill>
          <a:ln>
            <a:noFill/>
          </a:ln>
        </p:spPr>
        <p:txBody>
          <a:bodyPr wrap="square" lIns="137160" tIns="82296" rIns="137160" bIns="82296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RAG Knowledge Retrieval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FFFFFF"/>
                </a:solidFill>
                <a:latin typeface="Calibri"/>
                <a:cs typeface="Calibri"/>
              </a:rPr>
              <a:t>ChromaDB over 32 chunks using all-MiniLM-L6-v2 embeddings</a:t>
            </a:r>
          </a:p>
        </p:txBody>
      </p:sp>
      <p:sp>
        <p:nvSpPr>
          <p:cNvPr id="329" name="Achievement card 3"/>
          <p:cNvSpPr/>
          <p:nvPr/>
        </p:nvSpPr>
        <p:spPr>
          <a:xfrm>
            <a:off x="8046720" y="1645920"/>
            <a:ext cx="3611880" cy="1078992"/>
          </a:xfrm>
          <a:prstGeom prst="roundRect">
            <a:avLst>
              <a:gd name="adj" fmla="val 10000"/>
            </a:avLst>
          </a:prstGeom>
          <a:solidFill>
            <a:srgbClr val="0E8C8C"/>
          </a:solidFill>
          <a:ln>
            <a:noFill/>
          </a:ln>
        </p:spPr>
        <p:txBody>
          <a:bodyPr wrap="square" lIns="137160" tIns="82296" rIns="137160" bIns="82296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Severity-Aware Reranking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FFFFFF"/>
                </a:solidFill>
                <a:latin typeface="Calibri"/>
                <a:cs typeface="Calibri"/>
              </a:rPr>
              <a:t>8 retrieved candidates reranked by keywords to the top 3</a:t>
            </a:r>
          </a:p>
        </p:txBody>
      </p:sp>
      <p:sp>
        <p:nvSpPr>
          <p:cNvPr id="330" name="Achievement card 4"/>
          <p:cNvSpPr/>
          <p:nvPr/>
        </p:nvSpPr>
        <p:spPr>
          <a:xfrm>
            <a:off x="502920" y="2834640"/>
            <a:ext cx="3611880" cy="1078992"/>
          </a:xfrm>
          <a:prstGeom prst="roundRect">
            <a:avLst>
              <a:gd name="adj" fmla="val 10000"/>
            </a:avLst>
          </a:prstGeom>
          <a:solidFill>
            <a:srgbClr val="3A9D5D"/>
          </a:solidFill>
          <a:ln>
            <a:noFill/>
          </a:ln>
        </p:spPr>
        <p:txBody>
          <a:bodyPr wrap="square" lIns="137160" tIns="82296" rIns="137160" bIns="82296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Ollama Recommendations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FFFFFF"/>
                </a:solidFill>
                <a:latin typeface="Calibri"/>
                <a:cs typeface="Calibri"/>
              </a:rPr>
              <a:t>Local LLM explains and advises from prediction and knowledge</a:t>
            </a:r>
          </a:p>
        </p:txBody>
      </p:sp>
      <p:sp>
        <p:nvSpPr>
          <p:cNvPr id="331" name="Achievement card 5"/>
          <p:cNvSpPr/>
          <p:nvPr/>
        </p:nvSpPr>
        <p:spPr>
          <a:xfrm>
            <a:off x="4274820" y="2834640"/>
            <a:ext cx="3611880" cy="1078992"/>
          </a:xfrm>
          <a:prstGeom prst="roundRect">
            <a:avLst>
              <a:gd name="adj" fmla="val 10000"/>
            </a:avLst>
          </a:prstGeom>
          <a:solidFill>
            <a:srgbClr val="3A9D5D"/>
          </a:solidFill>
          <a:ln>
            <a:noFill/>
          </a:ln>
        </p:spPr>
        <p:txBody>
          <a:bodyPr wrap="square" lIns="137160" tIns="82296" rIns="137160" bIns="82296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Streamlit Dashboard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FFFFFF"/>
                </a:solidFill>
                <a:latin typeface="Calibri"/>
                <a:cs typeface="Calibri"/>
              </a:rPr>
              <a:t>Sensor inputs, confidence, probabilities, knowledge, and advice</a:t>
            </a:r>
          </a:p>
        </p:txBody>
      </p:sp>
      <p:sp>
        <p:nvSpPr>
          <p:cNvPr id="332" name="Achievement card 6"/>
          <p:cNvSpPr/>
          <p:nvPr/>
        </p:nvSpPr>
        <p:spPr>
          <a:xfrm>
            <a:off x="8046720" y="2834640"/>
            <a:ext cx="3611880" cy="1078992"/>
          </a:xfrm>
          <a:prstGeom prst="roundRect">
            <a:avLst>
              <a:gd name="adj" fmla="val 10000"/>
            </a:avLst>
          </a:prstGeom>
          <a:solidFill>
            <a:srgbClr val="2E5AAC"/>
          </a:solidFill>
          <a:ln>
            <a:noFill/>
          </a:ln>
        </p:spPr>
        <p:txBody>
          <a:bodyPr wrap="square" lIns="137160" tIns="82296" rIns="137160" bIns="82296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Batch Monitoring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FFFFFF"/>
                </a:solidFill>
                <a:latin typeface="Calibri"/>
                <a:cs typeface="Calibri"/>
              </a:rPr>
              <a:t>Sequential batches of 10 with severity-based status</a:t>
            </a:r>
          </a:p>
        </p:txBody>
      </p:sp>
      <p:sp>
        <p:nvSpPr>
          <p:cNvPr id="333" name="Future card"/>
          <p:cNvSpPr/>
          <p:nvPr/>
        </p:nvSpPr>
        <p:spPr>
          <a:xfrm>
            <a:off x="502920" y="4160520"/>
            <a:ext cx="11155680" cy="1463040"/>
          </a:xfrm>
          <a:prstGeom prst="roundRect">
            <a:avLst>
              <a:gd name="adj" fmla="val 6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34" name="Future heading"/>
          <p:cNvSpPr txBox="1"/>
          <p:nvPr/>
        </p:nvSpPr>
        <p:spPr>
          <a:xfrm>
            <a:off x="685800" y="4224528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B3A6B"/>
                </a:solidFill>
                <a:latin typeface="Calibri"/>
                <a:cs typeface="Calibri"/>
              </a:rPr>
              <a:t>Future Enhancements</a:t>
            </a:r>
          </a:p>
        </p:txBody>
      </p:sp>
      <p:sp>
        <p:nvSpPr>
          <p:cNvPr id="335" name="Future item 1"/>
          <p:cNvSpPr/>
          <p:nvPr/>
        </p:nvSpPr>
        <p:spPr>
          <a:xfrm>
            <a:off x="685800" y="4645152"/>
            <a:ext cx="35204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8D4E8"/>
            </a:solidFill>
          </a:ln>
        </p:spPr>
        <p:txBody>
          <a:bodyPr wrap="square" lIns="109728" tIns="65837" rIns="109728" bIns="65837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1" i="0" dirty="0">
                <a:solidFill>
                  <a:srgbClr val="1B3A6B"/>
                </a:solidFill>
                <a:latin typeface="Calibri"/>
                <a:cs typeface="Calibri"/>
              </a:rPr>
              <a:t>Cloud deployment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222B38"/>
                </a:solidFill>
                <a:latin typeface="Calibri"/>
                <a:cs typeface="Calibri"/>
              </a:rPr>
              <a:t>Deploy the application to Azure</a:t>
            </a:r>
          </a:p>
        </p:txBody>
      </p:sp>
      <p:sp>
        <p:nvSpPr>
          <p:cNvPr id="336" name="Future item 2"/>
          <p:cNvSpPr/>
          <p:nvPr/>
        </p:nvSpPr>
        <p:spPr>
          <a:xfrm>
            <a:off x="4297680" y="4645152"/>
            <a:ext cx="35204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8D4E8"/>
            </a:solidFill>
          </a:ln>
        </p:spPr>
        <p:txBody>
          <a:bodyPr wrap="square" lIns="109728" tIns="65837" rIns="109728" bIns="65837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1" i="0" dirty="0">
                <a:solidFill>
                  <a:srgbClr val="1B3A6B"/>
                </a:solidFill>
                <a:latin typeface="Calibri"/>
                <a:cs typeface="Calibri"/>
              </a:rPr>
              <a:t>Real-data validation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222B38"/>
                </a:solidFill>
                <a:latin typeface="Calibri"/>
                <a:cs typeface="Calibri"/>
              </a:rPr>
              <a:t>Evaluate on real or approved manufacturing datasets</a:t>
            </a:r>
          </a:p>
        </p:txBody>
      </p:sp>
      <p:sp>
        <p:nvSpPr>
          <p:cNvPr id="337" name="Future item 3"/>
          <p:cNvSpPr/>
          <p:nvPr/>
        </p:nvSpPr>
        <p:spPr>
          <a:xfrm>
            <a:off x="7909560" y="4645152"/>
            <a:ext cx="35204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8D4E8"/>
            </a:solidFill>
          </a:ln>
        </p:spPr>
        <p:txBody>
          <a:bodyPr wrap="square" lIns="109728" tIns="65837" rIns="109728" bIns="65837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1" i="0" dirty="0">
                <a:solidFill>
                  <a:srgbClr val="1B3A6B"/>
                </a:solidFill>
                <a:latin typeface="Calibri"/>
                <a:cs typeface="Calibri"/>
              </a:rPr>
              <a:t>Further evaluation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222B38"/>
                </a:solidFill>
                <a:latin typeface="Calibri"/>
                <a:cs typeface="Calibri"/>
              </a:rPr>
              <a:t>Assess retrieval relevance and recommendation quality with domain experts</a:t>
            </a:r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6F40-96CC-DEF8-9EB7-14523723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DDE408-8E1E-6FA2-7CC4-7953936B171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Acknowledgement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AC8EE7-5ED3-D96C-9268-8B7B9A5D05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C5A91-6D8B-7A46-6BA9-7AF0BB8742E7}"/>
              </a:ext>
            </a:extLst>
          </p:cNvPr>
          <p:cNvSpPr txBox="1"/>
          <p:nvPr/>
        </p:nvSpPr>
        <p:spPr>
          <a:xfrm>
            <a:off x="3108960" y="57036"/>
            <a:ext cx="905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i="1" dirty="0">
                <a:solidFill>
                  <a:srgbClr val="FFFFFF"/>
                </a:solidFill>
              </a:rPr>
              <a:t>Smart Manufacturing: RAG-Based Defect Detection &amp; Knowledge Assistance</a:t>
            </a:r>
          </a:p>
        </p:txBody>
      </p:sp>
      <p:sp>
        <p:nvSpPr>
          <p:cNvPr id="338" name="Acknowledgement card"/>
          <p:cNvSpPr/>
          <p:nvPr/>
        </p:nvSpPr>
        <p:spPr>
          <a:xfrm>
            <a:off x="502920" y="1371600"/>
            <a:ext cx="11155680" cy="3566160"/>
          </a:xfrm>
          <a:prstGeom prst="roundRect">
            <a:avLst>
              <a:gd name="adj" fmla="val 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39" name="Acknowledgement text"/>
          <p:cNvSpPr txBox="1"/>
          <p:nvPr/>
        </p:nvSpPr>
        <p:spPr>
          <a:xfrm>
            <a:off x="822960" y="1600200"/>
            <a:ext cx="10515600" cy="3200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2200" b="0" i="0" dirty="0">
                <a:solidFill>
                  <a:srgbClr val="222B38"/>
                </a:solidFill>
                <a:latin typeface="Calibri"/>
                <a:cs typeface="Calibri"/>
              </a:rPr>
              <a:t>I sincerely thank my project guide and faculty for their guidance, feedback, and encouragement throughout this project.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2200" b="0" i="0" dirty="0">
                <a:solidFill>
                  <a:srgbClr val="222B38"/>
                </a:solidFill>
                <a:latin typeface="Calibri"/>
                <a:cs typeface="Calibri"/>
              </a:rPr>
              <a:t>I am grateful to VIT Vellore for the academic support provided during the M.Tech Artificial Intelligence and Machine Learning programme.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2200" b="0" i="0" dirty="0">
                <a:solidFill>
                  <a:srgbClr val="222B38"/>
                </a:solidFill>
                <a:latin typeface="Calibri"/>
                <a:cs typeface="Calibri"/>
              </a:rPr>
              <a:t>I also thank the university and industry partners of this jointly offered programme, VIT and LTIMindtree (with L&amp;T EduTech), for the learning platform and review opportunity.</a:t>
            </a:r>
          </a:p>
        </p:txBody>
      </p:sp>
      <p:sp>
        <p:nvSpPr>
          <p:cNvPr id="340" name="Thank you"/>
          <p:cNvSpPr txBox="1"/>
          <p:nvPr/>
        </p:nvSpPr>
        <p:spPr>
          <a:xfrm>
            <a:off x="502920" y="507492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1B3A6B"/>
                </a:solidFill>
                <a:latin typeface="Calibri"/>
                <a:cs typeface="Calibri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73488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3108960" y="57036"/>
            <a:ext cx="905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i="1" dirty="0">
                <a:solidFill>
                  <a:srgbClr val="FFFFFF"/>
                </a:solidFill>
              </a:rPr>
              <a:t>Smart Manufacturing: RAG-Based Defect Detection &amp; Knowledge Assistance</a:t>
            </a:r>
          </a:p>
        </p:txBody>
      </p:sp>
      <p:sp>
        <p:nvSpPr>
          <p:cNvPr id="341" name="Reference row 1"/>
          <p:cNvSpPr/>
          <p:nvPr/>
        </p:nvSpPr>
        <p:spPr>
          <a:xfrm>
            <a:off x="502920" y="1280160"/>
            <a:ext cx="11155680" cy="429768"/>
          </a:xfrm>
          <a:prstGeom prst="roundRect">
            <a:avLst>
              <a:gd name="adj" fmla="val 1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42" name="Reference number 1"/>
          <p:cNvSpPr txBox="1"/>
          <p:nvPr/>
        </p:nvSpPr>
        <p:spPr>
          <a:xfrm>
            <a:off x="640080" y="1280160"/>
            <a:ext cx="54864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2E5AAC"/>
                </a:solidFill>
                <a:latin typeface="Calibri"/>
                <a:cs typeface="Calibri"/>
              </a:rPr>
              <a:t>[1]</a:t>
            </a:r>
          </a:p>
        </p:txBody>
      </p:sp>
      <p:sp>
        <p:nvSpPr>
          <p:cNvPr id="343" name="Reference name 1"/>
          <p:cNvSpPr txBox="1"/>
          <p:nvPr/>
        </p:nvSpPr>
        <p:spPr>
          <a:xfrm>
            <a:off x="1234440" y="1280160"/>
            <a:ext cx="512064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dirty="0">
                <a:solidFill>
                  <a:srgbClr val="1B3A6B"/>
                </a:solidFill>
                <a:latin typeface="Calibri"/>
                <a:cs typeface="Calibri"/>
              </a:rPr>
              <a:t>scikit-learn Documentation</a:t>
            </a:r>
          </a:p>
        </p:txBody>
      </p:sp>
      <p:sp>
        <p:nvSpPr>
          <p:cNvPr id="344" name="Reference url 1"/>
          <p:cNvSpPr txBox="1"/>
          <p:nvPr/>
        </p:nvSpPr>
        <p:spPr>
          <a:xfrm>
            <a:off x="6400800" y="1280160"/>
            <a:ext cx="521208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222B38"/>
                </a:solidFill>
                <a:latin typeface="Calibri"/>
                <a:cs typeface="Calibri"/>
              </a:rPr>
              <a:t>https://scikit-learn.org/stable/</a:t>
            </a:r>
          </a:p>
        </p:txBody>
      </p:sp>
      <p:sp>
        <p:nvSpPr>
          <p:cNvPr id="345" name="Reference row 2"/>
          <p:cNvSpPr/>
          <p:nvPr/>
        </p:nvSpPr>
        <p:spPr>
          <a:xfrm>
            <a:off x="502920" y="1755648"/>
            <a:ext cx="11155680" cy="429768"/>
          </a:xfrm>
          <a:prstGeom prst="roundRect">
            <a:avLst>
              <a:gd name="adj" fmla="val 14000"/>
            </a:avLst>
          </a:prstGeom>
          <a:solidFill>
            <a:srgbClr val="F7FAFC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46" name="Reference number 2"/>
          <p:cNvSpPr txBox="1"/>
          <p:nvPr/>
        </p:nvSpPr>
        <p:spPr>
          <a:xfrm>
            <a:off x="640080" y="1755648"/>
            <a:ext cx="54864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2E5AAC"/>
                </a:solidFill>
                <a:latin typeface="Calibri"/>
                <a:cs typeface="Calibri"/>
              </a:rPr>
              <a:t>[2]</a:t>
            </a:r>
          </a:p>
        </p:txBody>
      </p:sp>
      <p:sp>
        <p:nvSpPr>
          <p:cNvPr id="347" name="Reference name 2"/>
          <p:cNvSpPr txBox="1"/>
          <p:nvPr/>
        </p:nvSpPr>
        <p:spPr>
          <a:xfrm>
            <a:off x="1234440" y="1755648"/>
            <a:ext cx="512064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dirty="0">
                <a:solidFill>
                  <a:srgbClr val="1B3A6B"/>
                </a:solidFill>
                <a:latin typeface="Calibri"/>
                <a:cs typeface="Calibri"/>
              </a:rPr>
              <a:t>pandas Documentation</a:t>
            </a:r>
          </a:p>
        </p:txBody>
      </p:sp>
      <p:sp>
        <p:nvSpPr>
          <p:cNvPr id="348" name="Reference url 2"/>
          <p:cNvSpPr txBox="1"/>
          <p:nvPr/>
        </p:nvSpPr>
        <p:spPr>
          <a:xfrm>
            <a:off x="6400800" y="1755648"/>
            <a:ext cx="521208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222B38"/>
                </a:solidFill>
                <a:latin typeface="Calibri"/>
                <a:cs typeface="Calibri"/>
              </a:rPr>
              <a:t>https://pandas.pydata.org/docs/</a:t>
            </a:r>
          </a:p>
        </p:txBody>
      </p:sp>
      <p:sp>
        <p:nvSpPr>
          <p:cNvPr id="349" name="Reference row 3"/>
          <p:cNvSpPr/>
          <p:nvPr/>
        </p:nvSpPr>
        <p:spPr>
          <a:xfrm>
            <a:off x="502920" y="2231136"/>
            <a:ext cx="11155680" cy="429768"/>
          </a:xfrm>
          <a:prstGeom prst="roundRect">
            <a:avLst>
              <a:gd name="adj" fmla="val 1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50" name="Reference number 3"/>
          <p:cNvSpPr txBox="1"/>
          <p:nvPr/>
        </p:nvSpPr>
        <p:spPr>
          <a:xfrm>
            <a:off x="640080" y="2231136"/>
            <a:ext cx="54864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2E5AAC"/>
                </a:solidFill>
                <a:latin typeface="Calibri"/>
                <a:cs typeface="Calibri"/>
              </a:rPr>
              <a:t>[3]</a:t>
            </a:r>
          </a:p>
        </p:txBody>
      </p:sp>
      <p:sp>
        <p:nvSpPr>
          <p:cNvPr id="351" name="Reference name 3"/>
          <p:cNvSpPr txBox="1"/>
          <p:nvPr/>
        </p:nvSpPr>
        <p:spPr>
          <a:xfrm>
            <a:off x="1234440" y="2231136"/>
            <a:ext cx="512064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dirty="0">
                <a:solidFill>
                  <a:srgbClr val="1B3A6B"/>
                </a:solidFill>
                <a:latin typeface="Calibri"/>
                <a:cs typeface="Calibri"/>
              </a:rPr>
              <a:t>NumPy Documentation</a:t>
            </a:r>
          </a:p>
        </p:txBody>
      </p:sp>
      <p:sp>
        <p:nvSpPr>
          <p:cNvPr id="352" name="Reference url 3"/>
          <p:cNvSpPr txBox="1"/>
          <p:nvPr/>
        </p:nvSpPr>
        <p:spPr>
          <a:xfrm>
            <a:off x="6400800" y="2231136"/>
            <a:ext cx="521208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222B38"/>
                </a:solidFill>
                <a:latin typeface="Calibri"/>
                <a:cs typeface="Calibri"/>
              </a:rPr>
              <a:t>https://numpy.org/doc/</a:t>
            </a:r>
          </a:p>
        </p:txBody>
      </p:sp>
      <p:sp>
        <p:nvSpPr>
          <p:cNvPr id="353" name="Reference row 4"/>
          <p:cNvSpPr/>
          <p:nvPr/>
        </p:nvSpPr>
        <p:spPr>
          <a:xfrm>
            <a:off x="502920" y="2706624"/>
            <a:ext cx="11155680" cy="429768"/>
          </a:xfrm>
          <a:prstGeom prst="roundRect">
            <a:avLst>
              <a:gd name="adj" fmla="val 14000"/>
            </a:avLst>
          </a:prstGeom>
          <a:solidFill>
            <a:srgbClr val="F7FAFC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54" name="Reference number 4"/>
          <p:cNvSpPr txBox="1"/>
          <p:nvPr/>
        </p:nvSpPr>
        <p:spPr>
          <a:xfrm>
            <a:off x="640080" y="2706624"/>
            <a:ext cx="54864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2E5AAC"/>
                </a:solidFill>
                <a:latin typeface="Calibri"/>
                <a:cs typeface="Calibri"/>
              </a:rPr>
              <a:t>[4]</a:t>
            </a:r>
          </a:p>
        </p:txBody>
      </p:sp>
      <p:sp>
        <p:nvSpPr>
          <p:cNvPr id="355" name="Reference name 4"/>
          <p:cNvSpPr txBox="1"/>
          <p:nvPr/>
        </p:nvSpPr>
        <p:spPr>
          <a:xfrm>
            <a:off x="1234440" y="2706624"/>
            <a:ext cx="512064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dirty="0">
                <a:solidFill>
                  <a:srgbClr val="1B3A6B"/>
                </a:solidFill>
                <a:latin typeface="Calibri"/>
                <a:cs typeface="Calibri"/>
              </a:rPr>
              <a:t>Sentence Transformers Documentation</a:t>
            </a:r>
          </a:p>
        </p:txBody>
      </p:sp>
      <p:sp>
        <p:nvSpPr>
          <p:cNvPr id="356" name="Reference url 4"/>
          <p:cNvSpPr txBox="1"/>
          <p:nvPr/>
        </p:nvSpPr>
        <p:spPr>
          <a:xfrm>
            <a:off x="6400800" y="2706624"/>
            <a:ext cx="521208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222B38"/>
                </a:solidFill>
                <a:latin typeface="Calibri"/>
                <a:cs typeface="Calibri"/>
              </a:rPr>
              <a:t>https://www.sbert.net</a:t>
            </a:r>
          </a:p>
        </p:txBody>
      </p:sp>
      <p:sp>
        <p:nvSpPr>
          <p:cNvPr id="357" name="Reference row 5"/>
          <p:cNvSpPr/>
          <p:nvPr/>
        </p:nvSpPr>
        <p:spPr>
          <a:xfrm>
            <a:off x="502920" y="3182112"/>
            <a:ext cx="11155680" cy="429768"/>
          </a:xfrm>
          <a:prstGeom prst="roundRect">
            <a:avLst>
              <a:gd name="adj" fmla="val 1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58" name="Reference number 5"/>
          <p:cNvSpPr txBox="1"/>
          <p:nvPr/>
        </p:nvSpPr>
        <p:spPr>
          <a:xfrm>
            <a:off x="640080" y="3182112"/>
            <a:ext cx="54864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2E5AAC"/>
                </a:solidFill>
                <a:latin typeface="Calibri"/>
                <a:cs typeface="Calibri"/>
              </a:rPr>
              <a:t>[5]</a:t>
            </a:r>
          </a:p>
        </p:txBody>
      </p:sp>
      <p:sp>
        <p:nvSpPr>
          <p:cNvPr id="359" name="Reference name 5"/>
          <p:cNvSpPr txBox="1"/>
          <p:nvPr/>
        </p:nvSpPr>
        <p:spPr>
          <a:xfrm>
            <a:off x="1234440" y="3182112"/>
            <a:ext cx="512064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dirty="0">
                <a:solidFill>
                  <a:srgbClr val="1B3A6B"/>
                </a:solidFill>
                <a:latin typeface="Calibri"/>
                <a:cs typeface="Calibri"/>
              </a:rPr>
              <a:t>all-MiniLM-L6-v2 Model Card (Hugging Face)</a:t>
            </a:r>
          </a:p>
        </p:txBody>
      </p:sp>
      <p:sp>
        <p:nvSpPr>
          <p:cNvPr id="360" name="Reference url 5"/>
          <p:cNvSpPr txBox="1"/>
          <p:nvPr/>
        </p:nvSpPr>
        <p:spPr>
          <a:xfrm>
            <a:off x="6400800" y="3182112"/>
            <a:ext cx="521208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222B38"/>
                </a:solidFill>
                <a:latin typeface="Calibri"/>
                <a:cs typeface="Calibri"/>
              </a:rPr>
              <a:t>https://huggingface.co/sentence-transformers/all-MiniLM-L6-v2</a:t>
            </a:r>
          </a:p>
        </p:txBody>
      </p:sp>
      <p:sp>
        <p:nvSpPr>
          <p:cNvPr id="361" name="Reference row 6"/>
          <p:cNvSpPr/>
          <p:nvPr/>
        </p:nvSpPr>
        <p:spPr>
          <a:xfrm>
            <a:off x="502920" y="3657600"/>
            <a:ext cx="11155680" cy="429768"/>
          </a:xfrm>
          <a:prstGeom prst="roundRect">
            <a:avLst>
              <a:gd name="adj" fmla="val 14000"/>
            </a:avLst>
          </a:prstGeom>
          <a:solidFill>
            <a:srgbClr val="F7FAFC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62" name="Reference number 6"/>
          <p:cNvSpPr txBox="1"/>
          <p:nvPr/>
        </p:nvSpPr>
        <p:spPr>
          <a:xfrm>
            <a:off x="640080" y="3657600"/>
            <a:ext cx="54864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2E5AAC"/>
                </a:solidFill>
                <a:latin typeface="Calibri"/>
                <a:cs typeface="Calibri"/>
              </a:rPr>
              <a:t>[6]</a:t>
            </a:r>
          </a:p>
        </p:txBody>
      </p:sp>
      <p:sp>
        <p:nvSpPr>
          <p:cNvPr id="363" name="Reference name 6"/>
          <p:cNvSpPr txBox="1"/>
          <p:nvPr/>
        </p:nvSpPr>
        <p:spPr>
          <a:xfrm>
            <a:off x="1234440" y="3657600"/>
            <a:ext cx="512064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dirty="0">
                <a:solidFill>
                  <a:srgbClr val="1B3A6B"/>
                </a:solidFill>
                <a:latin typeface="Calibri"/>
                <a:cs typeface="Calibri"/>
              </a:rPr>
              <a:t>Chroma Documentation</a:t>
            </a:r>
          </a:p>
        </p:txBody>
      </p:sp>
      <p:sp>
        <p:nvSpPr>
          <p:cNvPr id="364" name="Reference url 6"/>
          <p:cNvSpPr txBox="1"/>
          <p:nvPr/>
        </p:nvSpPr>
        <p:spPr>
          <a:xfrm>
            <a:off x="6400800" y="3657600"/>
            <a:ext cx="521208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222B38"/>
                </a:solidFill>
                <a:latin typeface="Calibri"/>
                <a:cs typeface="Calibri"/>
              </a:rPr>
              <a:t>https://docs.trychroma.com</a:t>
            </a:r>
          </a:p>
        </p:txBody>
      </p:sp>
      <p:sp>
        <p:nvSpPr>
          <p:cNvPr id="365" name="Reference row 7"/>
          <p:cNvSpPr/>
          <p:nvPr/>
        </p:nvSpPr>
        <p:spPr>
          <a:xfrm>
            <a:off x="502920" y="4133088"/>
            <a:ext cx="11155680" cy="429768"/>
          </a:xfrm>
          <a:prstGeom prst="roundRect">
            <a:avLst>
              <a:gd name="adj" fmla="val 1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66" name="Reference number 7"/>
          <p:cNvSpPr txBox="1"/>
          <p:nvPr/>
        </p:nvSpPr>
        <p:spPr>
          <a:xfrm>
            <a:off x="640080" y="4133088"/>
            <a:ext cx="54864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2E5AAC"/>
                </a:solidFill>
                <a:latin typeface="Calibri"/>
                <a:cs typeface="Calibri"/>
              </a:rPr>
              <a:t>[7]</a:t>
            </a:r>
          </a:p>
        </p:txBody>
      </p:sp>
      <p:sp>
        <p:nvSpPr>
          <p:cNvPr id="367" name="Reference name 7"/>
          <p:cNvSpPr txBox="1"/>
          <p:nvPr/>
        </p:nvSpPr>
        <p:spPr>
          <a:xfrm>
            <a:off x="1234440" y="4133088"/>
            <a:ext cx="512064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dirty="0">
                <a:solidFill>
                  <a:srgbClr val="1B3A6B"/>
                </a:solidFill>
                <a:latin typeface="Calibri"/>
                <a:cs typeface="Calibri"/>
              </a:rPr>
              <a:t>Ollama Documentation</a:t>
            </a:r>
          </a:p>
        </p:txBody>
      </p:sp>
      <p:sp>
        <p:nvSpPr>
          <p:cNvPr id="368" name="Reference url 7"/>
          <p:cNvSpPr txBox="1"/>
          <p:nvPr/>
        </p:nvSpPr>
        <p:spPr>
          <a:xfrm>
            <a:off x="6400800" y="4133088"/>
            <a:ext cx="521208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222B38"/>
                </a:solidFill>
                <a:latin typeface="Calibri"/>
                <a:cs typeface="Calibri"/>
              </a:rPr>
              <a:t>https://docs.ollama.com</a:t>
            </a:r>
          </a:p>
        </p:txBody>
      </p:sp>
      <p:sp>
        <p:nvSpPr>
          <p:cNvPr id="369" name="Reference row 8"/>
          <p:cNvSpPr/>
          <p:nvPr/>
        </p:nvSpPr>
        <p:spPr>
          <a:xfrm>
            <a:off x="502920" y="4608576"/>
            <a:ext cx="11155680" cy="429768"/>
          </a:xfrm>
          <a:prstGeom prst="roundRect">
            <a:avLst>
              <a:gd name="adj" fmla="val 14000"/>
            </a:avLst>
          </a:prstGeom>
          <a:solidFill>
            <a:srgbClr val="F7FAFC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70" name="Reference number 8"/>
          <p:cNvSpPr txBox="1"/>
          <p:nvPr/>
        </p:nvSpPr>
        <p:spPr>
          <a:xfrm>
            <a:off x="640080" y="4608576"/>
            <a:ext cx="54864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2E5AAC"/>
                </a:solidFill>
                <a:latin typeface="Calibri"/>
                <a:cs typeface="Calibri"/>
              </a:rPr>
              <a:t>[8]</a:t>
            </a:r>
          </a:p>
        </p:txBody>
      </p:sp>
      <p:sp>
        <p:nvSpPr>
          <p:cNvPr id="371" name="Reference name 8"/>
          <p:cNvSpPr txBox="1"/>
          <p:nvPr/>
        </p:nvSpPr>
        <p:spPr>
          <a:xfrm>
            <a:off x="1234440" y="4608576"/>
            <a:ext cx="512064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dirty="0">
                <a:solidFill>
                  <a:srgbClr val="1B3A6B"/>
                </a:solidFill>
                <a:latin typeface="Calibri"/>
                <a:cs typeface="Calibri"/>
              </a:rPr>
              <a:t>Streamlit Documentation</a:t>
            </a:r>
          </a:p>
        </p:txBody>
      </p:sp>
      <p:sp>
        <p:nvSpPr>
          <p:cNvPr id="372" name="Reference url 8"/>
          <p:cNvSpPr txBox="1"/>
          <p:nvPr/>
        </p:nvSpPr>
        <p:spPr>
          <a:xfrm>
            <a:off x="6400800" y="4608576"/>
            <a:ext cx="521208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222B38"/>
                </a:solidFill>
                <a:latin typeface="Calibri"/>
                <a:cs typeface="Calibri"/>
              </a:rPr>
              <a:t>https://docs.streamlit.io</a:t>
            </a:r>
          </a:p>
        </p:txBody>
      </p:sp>
      <p:sp>
        <p:nvSpPr>
          <p:cNvPr id="373" name="Reference row 9"/>
          <p:cNvSpPr/>
          <p:nvPr/>
        </p:nvSpPr>
        <p:spPr>
          <a:xfrm>
            <a:off x="502920" y="5084064"/>
            <a:ext cx="11155680" cy="429768"/>
          </a:xfrm>
          <a:prstGeom prst="roundRect">
            <a:avLst>
              <a:gd name="adj" fmla="val 1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74" name="Reference number 9"/>
          <p:cNvSpPr txBox="1"/>
          <p:nvPr/>
        </p:nvSpPr>
        <p:spPr>
          <a:xfrm>
            <a:off x="640080" y="5084064"/>
            <a:ext cx="54864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2E5AAC"/>
                </a:solidFill>
                <a:latin typeface="Calibri"/>
                <a:cs typeface="Calibri"/>
              </a:rPr>
              <a:t>[9]</a:t>
            </a:r>
          </a:p>
        </p:txBody>
      </p:sp>
      <p:sp>
        <p:nvSpPr>
          <p:cNvPr id="375" name="Reference name 9"/>
          <p:cNvSpPr txBox="1"/>
          <p:nvPr/>
        </p:nvSpPr>
        <p:spPr>
          <a:xfrm>
            <a:off x="1234440" y="5084064"/>
            <a:ext cx="512064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dirty="0">
                <a:solidFill>
                  <a:srgbClr val="1B3A6B"/>
                </a:solidFill>
                <a:latin typeface="Calibri"/>
                <a:cs typeface="Calibri"/>
              </a:rPr>
              <a:t>Matplotlib Documentation</a:t>
            </a:r>
          </a:p>
        </p:txBody>
      </p:sp>
      <p:sp>
        <p:nvSpPr>
          <p:cNvPr id="376" name="Reference url 9"/>
          <p:cNvSpPr txBox="1"/>
          <p:nvPr/>
        </p:nvSpPr>
        <p:spPr>
          <a:xfrm>
            <a:off x="6400800" y="5084064"/>
            <a:ext cx="521208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222B38"/>
                </a:solidFill>
                <a:latin typeface="Calibri"/>
                <a:cs typeface="Calibri"/>
              </a:rPr>
              <a:t>https://matplotlib.org/stable/</a:t>
            </a:r>
          </a:p>
        </p:txBody>
      </p:sp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1089</Words>
  <Application>Microsoft Office PowerPoint</Application>
  <PresentationFormat>Widescreen</PresentationFormat>
  <Paragraphs>219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NAINSHI TIKAIT</cp:lastModifiedBy>
  <cp:revision>1</cp:revision>
  <dcterms:modified xsi:type="dcterms:W3CDTF">2026-10-11T13:39:28Z</dcterms:modified>
</cp:coreProperties>
</file>