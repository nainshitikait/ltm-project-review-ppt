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00200"/>
            <a:ext cx="11428184" cy="3021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Review III</a:t>
            </a:r>
          </a:p>
          <a:p>
            <a:pPr algn="ctr">
              <a:spcAft>
                <a:spcPts val="600"/>
              </a:spcAft>
            </a:pPr>
            <a:r>
              <a:rPr lang="en-US" sz="3000" b="1" i="0" dirty="0">
                <a:solidFill>
                  <a:srgbClr val="FFFFFF"/>
                </a:solidFill>
                <a:latin typeface="Calibri"/>
                <a:cs typeface="Calibri"/>
              </a:rPr>
              <a:t>Data Narrator: NL-to-SQL BI Copilot with Auto-Insights</a:t>
            </a:r>
          </a:p>
          <a:p>
            <a:pPr algn="ctr">
              <a:spcAft>
                <a:spcPts val="1800"/>
              </a:spcAft>
            </a:pPr>
            <a:r>
              <a:rPr lang="en-US" sz="1800" b="0" i="1" dirty="0">
                <a:solidFill>
                  <a:srgbClr val="FFFFFF"/>
                </a:solidFill>
                <a:latin typeface="Calibri"/>
                <a:cs typeface="Calibri"/>
              </a:rPr>
              <a:t>Natural Language → SQL → Data → Visualization → Insight</a:t>
            </a:r>
          </a:p>
          <a:p>
            <a:pPr algn="ctr">
              <a:spcAft>
                <a:spcPts val="200"/>
              </a:spcAft>
            </a:pPr>
            <a:r>
              <a:rPr lang="en-US" sz="2600" b="1" i="0" dirty="0">
                <a:solidFill>
                  <a:srgbClr val="FFFFFF"/>
                </a:solidFill>
                <a:latin typeface="Calibri"/>
                <a:cs typeface="Calibri"/>
              </a:rPr>
              <a:t>Nainshi Tikait</a:t>
            </a:r>
          </a:p>
          <a:p>
            <a:pPr algn="ctr">
              <a:spcAft>
                <a:spcPts val="200"/>
              </a:spcAft>
            </a:pPr>
            <a:r>
              <a:rPr lang="en-US" sz="2000" b="0" i="0" dirty="0">
                <a:solidFill>
                  <a:srgbClr val="FFFFFF"/>
                </a:solidFill>
                <a:latin typeface="Calibri"/>
                <a:cs typeface="Calibri"/>
              </a:rPr>
              <a:t>T9919</a:t>
            </a:r>
          </a:p>
          <a:p>
            <a:pPr algn="ctr">
              <a:spcAft>
                <a:spcPts val="200"/>
              </a:spcAft>
            </a:pPr>
            <a:r>
              <a:rPr lang="en-US" sz="2000" b="0" i="0" dirty="0">
                <a:solidFill>
                  <a:srgbClr val="FFFFFF"/>
                </a:solidFill>
                <a:latin typeface="Calibri"/>
                <a:cs typeface="Calibri"/>
              </a:rPr>
              <a:t>M.Tech Artificial Intelligence and Machine Learning</a:t>
            </a:r>
          </a:p>
          <a:p>
            <a:pPr algn="ctr">
              <a:spcAft>
                <a:spcPts val="0"/>
              </a:spcAft>
            </a:pPr>
            <a:r>
              <a:rPr lang="en-US" sz="2000" b="0" i="0" dirty="0">
                <a:solidFill>
                  <a:srgbClr val="FFFFFF"/>
                </a:solidFill>
                <a:latin typeface="Calibri"/>
                <a:cs typeface="Calibri"/>
              </a:rPr>
              <a:t>VIT Vellore  |  2025–2027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Data Narrator: NL-to-SQL BI Copilot with Auto-Insights</a:t>
            </a:r>
          </a:p>
        </p:txBody>
      </p:sp>
      <p:sp>
        <p:nvSpPr>
          <p:cNvPr id="201" name="Intro bullets"/>
          <p:cNvSpPr txBox="1"/>
          <p:nvPr/>
        </p:nvSpPr>
        <p:spPr>
          <a:xfrm>
            <a:off x="502920" y="1371600"/>
            <a:ext cx="11155680" cy="30175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000" b="1" i="0" dirty="0">
                <a:solidFill>
                  <a:srgbClr val="1B3A6B"/>
                </a:solidFill>
                <a:latin typeface="Calibri"/>
                <a:cs typeface="Calibri"/>
              </a:rPr>
              <a:t>Business users often depend on analysts or technical staff </a:t>
            </a: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for data-driven answers.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000" b="1" i="0" dirty="0">
                <a:solidFill>
                  <a:srgbClr val="1B3A6B"/>
                </a:solidFill>
                <a:latin typeface="Calibri"/>
                <a:cs typeface="Calibri"/>
              </a:rPr>
              <a:t>SQL knowledge is a barrier </a:t>
            </a: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to independent data exploration.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000" b="1" i="0" dirty="0">
                <a:solidFill>
                  <a:srgbClr val="1B3A6B"/>
                </a:solidFill>
                <a:latin typeface="Calibri"/>
                <a:cs typeface="Calibri"/>
              </a:rPr>
              <a:t>Data Narrator lets users ask analytical questions in plain English </a:t>
            </a: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on their own CSV / Excel data.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000" b="1" i="0" dirty="0">
                <a:solidFill>
                  <a:srgbClr val="1B3A6B"/>
                </a:solidFill>
                <a:latin typeface="Calibri"/>
                <a:cs typeface="Calibri"/>
              </a:rPr>
              <a:t>The app converts the question into SQL, </a:t>
            </a: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retrieves results, builds a chart, and writes a concise insight.</a:t>
            </a:r>
          </a:p>
        </p:txBody>
      </p:sp>
      <p:sp>
        <p:nvSpPr>
          <p:cNvPr id="202" name="Pipeline caption"/>
          <p:cNvSpPr txBox="1"/>
          <p:nvPr/>
        </p:nvSpPr>
        <p:spPr>
          <a:xfrm>
            <a:off x="518008" y="45262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5F6B7A"/>
                </a:solidFill>
                <a:latin typeface="Calibri"/>
                <a:cs typeface="Calibri"/>
              </a:rPr>
              <a:t>Core idea: from question to insight</a:t>
            </a:r>
          </a:p>
        </p:txBody>
      </p:sp>
      <p:sp>
        <p:nvSpPr>
          <p:cNvPr id="203" name="Pipeline Natural Language"/>
          <p:cNvSpPr/>
          <p:nvPr/>
        </p:nvSpPr>
        <p:spPr>
          <a:xfrm>
            <a:off x="518008" y="4892040"/>
            <a:ext cx="1828800" cy="640080"/>
          </a:xfrm>
          <a:prstGeom prst="roundRect">
            <a:avLst/>
          </a:prstGeom>
          <a:solidFill>
            <a:srgbClr val="5F6B7A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Natural Language</a:t>
            </a:r>
          </a:p>
        </p:txBody>
      </p:sp>
      <p:cxnSp>
        <p:nvCxnSpPr>
          <p:cNvPr id="204" name="Pipeline arrow 0"/>
          <p:cNvCxnSpPr/>
          <p:nvPr/>
        </p:nvCxnSpPr>
        <p:spPr>
          <a:xfrm>
            <a:off x="2392528" y="5212080"/>
            <a:ext cx="411480" cy="0"/>
          </a:xfrm>
          <a:prstGeom prst="line">
            <a:avLst/>
          </a:prstGeom>
          <a:ln w="31750">
            <a:solidFill>
              <a:srgbClr val="5F6B7A"/>
            </a:solidFill>
            <a:tailEnd type="triangle" w="med" len="med"/>
          </a:ln>
        </p:spPr>
      </p:cxnSp>
      <p:sp>
        <p:nvSpPr>
          <p:cNvPr id="205" name="Pipeline SQL"/>
          <p:cNvSpPr/>
          <p:nvPr/>
        </p:nvSpPr>
        <p:spPr>
          <a:xfrm>
            <a:off x="2849728" y="4892040"/>
            <a:ext cx="1828800" cy="640080"/>
          </a:xfrm>
          <a:prstGeom prst="roundRect">
            <a:avLst/>
          </a:prstGeom>
          <a:solidFill>
            <a:srgbClr val="2E5AA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</a:p>
        </p:txBody>
      </p:sp>
      <p:cxnSp>
        <p:nvCxnSpPr>
          <p:cNvPr id="206" name="Pipeline arrow 1"/>
          <p:cNvCxnSpPr/>
          <p:nvPr/>
        </p:nvCxnSpPr>
        <p:spPr>
          <a:xfrm>
            <a:off x="4724248" y="5212080"/>
            <a:ext cx="411480" cy="0"/>
          </a:xfrm>
          <a:prstGeom prst="line">
            <a:avLst/>
          </a:prstGeom>
          <a:ln w="31750">
            <a:solidFill>
              <a:srgbClr val="5F6B7A"/>
            </a:solidFill>
            <a:tailEnd type="triangle" w="med" len="med"/>
          </a:ln>
        </p:spPr>
      </p:cxnSp>
      <p:sp>
        <p:nvSpPr>
          <p:cNvPr id="207" name="Pipeline Data"/>
          <p:cNvSpPr/>
          <p:nvPr/>
        </p:nvSpPr>
        <p:spPr>
          <a:xfrm>
            <a:off x="5181448" y="4892040"/>
            <a:ext cx="1828800" cy="640080"/>
          </a:xfrm>
          <a:prstGeom prst="roundRect">
            <a:avLst/>
          </a:prstGeom>
          <a:solidFill>
            <a:srgbClr val="0E8C8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</a:p>
        </p:txBody>
      </p:sp>
      <p:cxnSp>
        <p:nvCxnSpPr>
          <p:cNvPr id="208" name="Pipeline arrow 2"/>
          <p:cNvCxnSpPr/>
          <p:nvPr/>
        </p:nvCxnSpPr>
        <p:spPr>
          <a:xfrm>
            <a:off x="7055968" y="5212080"/>
            <a:ext cx="411480" cy="0"/>
          </a:xfrm>
          <a:prstGeom prst="line">
            <a:avLst/>
          </a:prstGeom>
          <a:ln w="31750">
            <a:solidFill>
              <a:srgbClr val="5F6B7A"/>
            </a:solidFill>
            <a:tailEnd type="triangle" w="med" len="med"/>
          </a:ln>
        </p:spPr>
      </p:cxnSp>
      <p:sp>
        <p:nvSpPr>
          <p:cNvPr id="209" name="Pipeline Visualization"/>
          <p:cNvSpPr/>
          <p:nvPr/>
        </p:nvSpPr>
        <p:spPr>
          <a:xfrm>
            <a:off x="7513168" y="4892040"/>
            <a:ext cx="1828800" cy="640080"/>
          </a:xfrm>
          <a:prstGeom prst="roundRect">
            <a:avLst/>
          </a:prstGeom>
          <a:solidFill>
            <a:srgbClr val="3A9D5D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Visualization</a:t>
            </a:r>
          </a:p>
        </p:txBody>
      </p:sp>
      <p:cxnSp>
        <p:nvCxnSpPr>
          <p:cNvPr id="210" name="Pipeline arrow 3"/>
          <p:cNvCxnSpPr/>
          <p:nvPr/>
        </p:nvCxnSpPr>
        <p:spPr>
          <a:xfrm>
            <a:off x="9387688" y="5212080"/>
            <a:ext cx="411480" cy="0"/>
          </a:xfrm>
          <a:prstGeom prst="line">
            <a:avLst/>
          </a:prstGeom>
          <a:ln w="31750">
            <a:solidFill>
              <a:srgbClr val="5F6B7A"/>
            </a:solidFill>
            <a:tailEnd type="triangle" w="med" len="med"/>
          </a:ln>
        </p:spPr>
      </p:cxnSp>
      <p:sp>
        <p:nvSpPr>
          <p:cNvPr id="211" name="Pipeline Insight"/>
          <p:cNvSpPr/>
          <p:nvPr/>
        </p:nvSpPr>
        <p:spPr>
          <a:xfrm>
            <a:off x="9844888" y="4892040"/>
            <a:ext cx="1828800" cy="64008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Insight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Data Narrator: NL-to-SQL BI Copilot with Auto-Insights</a:t>
            </a:r>
          </a:p>
        </p:txBody>
      </p:sp>
      <p:sp>
        <p:nvSpPr>
          <p:cNvPr id="212" name="Objective card 1"/>
          <p:cNvSpPr/>
          <p:nvPr/>
        </p:nvSpPr>
        <p:spPr>
          <a:xfrm>
            <a:off x="502920" y="1371600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13" name="Objective number 1"/>
          <p:cNvSpPr/>
          <p:nvPr/>
        </p:nvSpPr>
        <p:spPr>
          <a:xfrm>
            <a:off x="640080" y="1554480"/>
            <a:ext cx="530352" cy="530352"/>
          </a:xfrm>
          <a:prstGeom prst="ellipse">
            <a:avLst/>
          </a:prstGeom>
          <a:solidFill>
            <a:srgbClr val="2E5A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14" name="Objective text 1"/>
          <p:cNvSpPr txBox="1"/>
          <p:nvPr/>
        </p:nvSpPr>
        <p:spPr>
          <a:xfrm>
            <a:off x="1307592" y="1444752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Convert natural-language questions into SQL queries</a:t>
            </a:r>
          </a:p>
        </p:txBody>
      </p:sp>
      <p:sp>
        <p:nvSpPr>
          <p:cNvPr id="215" name="Objective card 2"/>
          <p:cNvSpPr/>
          <p:nvPr/>
        </p:nvSpPr>
        <p:spPr>
          <a:xfrm>
            <a:off x="6217920" y="1371600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16" name="Objective number 2"/>
          <p:cNvSpPr/>
          <p:nvPr/>
        </p:nvSpPr>
        <p:spPr>
          <a:xfrm>
            <a:off x="6355080" y="1554480"/>
            <a:ext cx="530352" cy="530352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17" name="Objective text 2"/>
          <p:cNvSpPr txBox="1"/>
          <p:nvPr/>
        </p:nvSpPr>
        <p:spPr>
          <a:xfrm>
            <a:off x="7022592" y="1444752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Support analysis across different uploaded dataset schemas</a:t>
            </a:r>
          </a:p>
        </p:txBody>
      </p:sp>
      <p:sp>
        <p:nvSpPr>
          <p:cNvPr id="218" name="Objective card 3"/>
          <p:cNvSpPr/>
          <p:nvPr/>
        </p:nvSpPr>
        <p:spPr>
          <a:xfrm>
            <a:off x="502920" y="2450592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19" name="Objective number 3"/>
          <p:cNvSpPr/>
          <p:nvPr/>
        </p:nvSpPr>
        <p:spPr>
          <a:xfrm>
            <a:off x="640080" y="2633472"/>
            <a:ext cx="530352" cy="530352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20" name="Objective text 3"/>
          <p:cNvSpPr txBox="1"/>
          <p:nvPr/>
        </p:nvSpPr>
        <p:spPr>
          <a:xfrm>
            <a:off x="1307592" y="2523744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Validate generated SQL before execution</a:t>
            </a:r>
          </a:p>
        </p:txBody>
      </p:sp>
      <p:sp>
        <p:nvSpPr>
          <p:cNvPr id="221" name="Objective card 4"/>
          <p:cNvSpPr/>
          <p:nvPr/>
        </p:nvSpPr>
        <p:spPr>
          <a:xfrm>
            <a:off x="6217920" y="2450592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22" name="Objective number 4"/>
          <p:cNvSpPr/>
          <p:nvPr/>
        </p:nvSpPr>
        <p:spPr>
          <a:xfrm>
            <a:off x="6355080" y="2633472"/>
            <a:ext cx="530352" cy="530352"/>
          </a:xfrm>
          <a:prstGeom prst="ellipse">
            <a:avLst/>
          </a:prstGeom>
          <a:solidFill>
            <a:srgbClr val="2E5A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23" name="Objective text 4"/>
          <p:cNvSpPr txBox="1"/>
          <p:nvPr/>
        </p:nvSpPr>
        <p:spPr>
          <a:xfrm>
            <a:off x="7022592" y="2523744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Retrieve information from DuckDB</a:t>
            </a:r>
          </a:p>
        </p:txBody>
      </p:sp>
      <p:sp>
        <p:nvSpPr>
          <p:cNvPr id="224" name="Objective card 5"/>
          <p:cNvSpPr/>
          <p:nvPr/>
        </p:nvSpPr>
        <p:spPr>
          <a:xfrm>
            <a:off x="502920" y="3529584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25" name="Objective number 5"/>
          <p:cNvSpPr/>
          <p:nvPr/>
        </p:nvSpPr>
        <p:spPr>
          <a:xfrm>
            <a:off x="640080" y="3712464"/>
            <a:ext cx="530352" cy="530352"/>
          </a:xfrm>
          <a:prstGeom prst="ellipse">
            <a:avLst/>
          </a:prstGeom>
          <a:solidFill>
            <a:srgbClr val="2E5A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26" name="Objective text 5"/>
          <p:cNvSpPr txBox="1"/>
          <p:nvPr/>
        </p:nvSpPr>
        <p:spPr>
          <a:xfrm>
            <a:off x="1307592" y="3602736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Generate data-driven business insights</a:t>
            </a:r>
          </a:p>
        </p:txBody>
      </p:sp>
      <p:sp>
        <p:nvSpPr>
          <p:cNvPr id="227" name="Objective card 6"/>
          <p:cNvSpPr/>
          <p:nvPr/>
        </p:nvSpPr>
        <p:spPr>
          <a:xfrm>
            <a:off x="6217920" y="3529584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28" name="Objective number 6"/>
          <p:cNvSpPr/>
          <p:nvPr/>
        </p:nvSpPr>
        <p:spPr>
          <a:xfrm>
            <a:off x="6355080" y="3712464"/>
            <a:ext cx="530352" cy="530352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229" name="Objective text 6"/>
          <p:cNvSpPr txBox="1"/>
          <p:nvPr/>
        </p:nvSpPr>
        <p:spPr>
          <a:xfrm>
            <a:off x="7022592" y="3602736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Automatically select appropriate Plotly visualizations</a:t>
            </a:r>
          </a:p>
        </p:txBody>
      </p:sp>
      <p:sp>
        <p:nvSpPr>
          <p:cNvPr id="230" name="Objective card 7"/>
          <p:cNvSpPr/>
          <p:nvPr/>
        </p:nvSpPr>
        <p:spPr>
          <a:xfrm>
            <a:off x="502920" y="4608576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31" name="Objective number 7"/>
          <p:cNvSpPr/>
          <p:nvPr/>
        </p:nvSpPr>
        <p:spPr>
          <a:xfrm>
            <a:off x="640080" y="4791456"/>
            <a:ext cx="530352" cy="530352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232" name="Objective text 7"/>
          <p:cNvSpPr txBox="1"/>
          <p:nvPr/>
        </p:nvSpPr>
        <p:spPr>
          <a:xfrm>
            <a:off x="1307592" y="4681728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Support follow-up questions and session-level query history</a:t>
            </a:r>
          </a:p>
        </p:txBody>
      </p:sp>
      <p:sp>
        <p:nvSpPr>
          <p:cNvPr id="233" name="Objective card 8"/>
          <p:cNvSpPr/>
          <p:nvPr/>
        </p:nvSpPr>
        <p:spPr>
          <a:xfrm>
            <a:off x="6217920" y="4608576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34" name="Objective number 8"/>
          <p:cNvSpPr/>
          <p:nvPr/>
        </p:nvSpPr>
        <p:spPr>
          <a:xfrm>
            <a:off x="6355080" y="4791456"/>
            <a:ext cx="530352" cy="530352"/>
          </a:xfrm>
          <a:prstGeom prst="ellipse">
            <a:avLst/>
          </a:prstGeom>
          <a:solidFill>
            <a:srgbClr val="2E5A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235" name="Objective text 8"/>
          <p:cNvSpPr txBox="1"/>
          <p:nvPr/>
        </p:nvSpPr>
        <p:spPr>
          <a:xfrm>
            <a:off x="7022592" y="4681728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Package the application using Docker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Data Narrator: NL-to-SQL BI Copilot with Auto-Insights</a:t>
            </a:r>
          </a:p>
        </p:txBody>
      </p:sp>
      <p:sp>
        <p:nvSpPr>
          <p:cNvPr id="236" name="Module row 1"/>
          <p:cNvSpPr/>
          <p:nvPr/>
        </p:nvSpPr>
        <p:spPr>
          <a:xfrm>
            <a:off x="502920" y="1325880"/>
            <a:ext cx="11155680" cy="566928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37" name="Module badge 1"/>
          <p:cNvSpPr/>
          <p:nvPr/>
        </p:nvSpPr>
        <p:spPr>
          <a:xfrm>
            <a:off x="594360" y="1408176"/>
            <a:ext cx="402336" cy="402336"/>
          </a:xfrm>
          <a:prstGeom prst="ellipse">
            <a:avLst/>
          </a:prstGeom>
          <a:solidFill>
            <a:srgbClr val="5F6B7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38" name="Module name 1"/>
          <p:cNvSpPr txBox="1"/>
          <p:nvPr/>
        </p:nvSpPr>
        <p:spPr>
          <a:xfrm>
            <a:off x="1097280" y="1325880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Dataset Upload &amp; Processing</a:t>
            </a:r>
          </a:p>
        </p:txBody>
      </p:sp>
      <p:sp>
        <p:nvSpPr>
          <p:cNvPr id="239" name="Module desc 1"/>
          <p:cNvSpPr txBox="1"/>
          <p:nvPr/>
        </p:nvSpPr>
        <p:spPr>
          <a:xfrm>
            <a:off x="4709160" y="1325880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22B38"/>
                </a:solidFill>
                <a:latin typeface="Calibri"/>
                <a:cs typeface="Calibri"/>
              </a:rPr>
              <a:t>CSV / XLS / XLSX read with Pandas and registered as a queryable DuckDB table</a:t>
            </a:r>
          </a:p>
        </p:txBody>
      </p:sp>
      <p:sp>
        <p:nvSpPr>
          <p:cNvPr id="240" name="Module row 2"/>
          <p:cNvSpPr/>
          <p:nvPr/>
        </p:nvSpPr>
        <p:spPr>
          <a:xfrm>
            <a:off x="502920" y="1975104"/>
            <a:ext cx="11155680" cy="566928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41" name="Module badge 2"/>
          <p:cNvSpPr/>
          <p:nvPr/>
        </p:nvSpPr>
        <p:spPr>
          <a:xfrm>
            <a:off x="594360" y="2057400"/>
            <a:ext cx="402336" cy="402336"/>
          </a:xfrm>
          <a:prstGeom prst="ellipse">
            <a:avLst/>
          </a:prstGeom>
          <a:solidFill>
            <a:srgbClr val="2E5A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42" name="Module name 2"/>
          <p:cNvSpPr txBox="1"/>
          <p:nvPr/>
        </p:nvSpPr>
        <p:spPr>
          <a:xfrm>
            <a:off x="1097280" y="1975104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Natural Language-to-SQL Generation</a:t>
            </a:r>
          </a:p>
        </p:txBody>
      </p:sp>
      <p:sp>
        <p:nvSpPr>
          <p:cNvPr id="243" name="Module desc 2"/>
          <p:cNvSpPr txBox="1"/>
          <p:nvPr/>
        </p:nvSpPr>
        <p:spPr>
          <a:xfrm>
            <a:off x="4709160" y="1975104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22B38"/>
                </a:solidFill>
                <a:latin typeface="Calibri"/>
                <a:cs typeface="Calibri"/>
              </a:rPr>
              <a:t>Question sent over HTTP to Ollama (Llama 3.1 8B), which returns DuckDB-compatible SQL</a:t>
            </a:r>
          </a:p>
        </p:txBody>
      </p:sp>
      <p:sp>
        <p:nvSpPr>
          <p:cNvPr id="244" name="Module row 3"/>
          <p:cNvSpPr/>
          <p:nvPr/>
        </p:nvSpPr>
        <p:spPr>
          <a:xfrm>
            <a:off x="502920" y="2624328"/>
            <a:ext cx="11155680" cy="566928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45" name="Module badge 3"/>
          <p:cNvSpPr/>
          <p:nvPr/>
        </p:nvSpPr>
        <p:spPr>
          <a:xfrm>
            <a:off x="594360" y="2706624"/>
            <a:ext cx="402336" cy="402336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46" name="Module name 3"/>
          <p:cNvSpPr txBox="1"/>
          <p:nvPr/>
        </p:nvSpPr>
        <p:spPr>
          <a:xfrm>
            <a:off x="1097280" y="2624328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SQL Validation &amp; Execution</a:t>
            </a:r>
          </a:p>
        </p:txBody>
      </p:sp>
      <p:sp>
        <p:nvSpPr>
          <p:cNvPr id="247" name="Module desc 3"/>
          <p:cNvSpPr txBox="1"/>
          <p:nvPr/>
        </p:nvSpPr>
        <p:spPr>
          <a:xfrm>
            <a:off x="4709160" y="2624328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22B38"/>
                </a:solidFill>
                <a:latin typeface="Calibri"/>
                <a:cs typeface="Calibri"/>
              </a:rPr>
              <a:t>Blocks INSERT/UPDATE/DELETE/DROP and multi-statement SQL; checks table use; DuckDB runs only validated SQL</a:t>
            </a:r>
          </a:p>
        </p:txBody>
      </p:sp>
      <p:sp>
        <p:nvSpPr>
          <p:cNvPr id="248" name="Module row 4"/>
          <p:cNvSpPr/>
          <p:nvPr/>
        </p:nvSpPr>
        <p:spPr>
          <a:xfrm>
            <a:off x="502920" y="3273552"/>
            <a:ext cx="11155680" cy="566928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49" name="Module badge 4"/>
          <p:cNvSpPr/>
          <p:nvPr/>
        </p:nvSpPr>
        <p:spPr>
          <a:xfrm>
            <a:off x="594360" y="3355848"/>
            <a:ext cx="402336" cy="402336"/>
          </a:xfrm>
          <a:prstGeom prst="ellipse">
            <a:avLst/>
          </a:prstGeom>
          <a:solidFill>
            <a:srgbClr val="3A9D5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50" name="Module name 4"/>
          <p:cNvSpPr txBox="1"/>
          <p:nvPr/>
        </p:nvSpPr>
        <p:spPr>
          <a:xfrm>
            <a:off x="1097280" y="3273552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Business Insight Generation</a:t>
            </a:r>
          </a:p>
        </p:txBody>
      </p:sp>
      <p:sp>
        <p:nvSpPr>
          <p:cNvPr id="251" name="Module desc 4"/>
          <p:cNvSpPr txBox="1"/>
          <p:nvPr/>
        </p:nvSpPr>
        <p:spPr>
          <a:xfrm>
            <a:off x="4709160" y="3273552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22B38"/>
                </a:solidFill>
                <a:latin typeface="Calibri"/>
                <a:cs typeface="Calibri"/>
              </a:rPr>
              <a:t>Short insights written from the actual query results</a:t>
            </a:r>
          </a:p>
        </p:txBody>
      </p:sp>
      <p:sp>
        <p:nvSpPr>
          <p:cNvPr id="252" name="Module row 5"/>
          <p:cNvSpPr/>
          <p:nvPr/>
        </p:nvSpPr>
        <p:spPr>
          <a:xfrm>
            <a:off x="502920" y="3922776"/>
            <a:ext cx="11155680" cy="566928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53" name="Module badge 5"/>
          <p:cNvSpPr/>
          <p:nvPr/>
        </p:nvSpPr>
        <p:spPr>
          <a:xfrm>
            <a:off x="594360" y="4005072"/>
            <a:ext cx="402336" cy="402336"/>
          </a:xfrm>
          <a:prstGeom prst="ellipse">
            <a:avLst/>
          </a:prstGeom>
          <a:solidFill>
            <a:srgbClr val="3A9D5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54" name="Module name 5"/>
          <p:cNvSpPr txBox="1"/>
          <p:nvPr/>
        </p:nvSpPr>
        <p:spPr>
          <a:xfrm>
            <a:off x="1097280" y="3922776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Dynamic Visualization</a:t>
            </a:r>
          </a:p>
        </p:txBody>
      </p:sp>
      <p:sp>
        <p:nvSpPr>
          <p:cNvPr id="255" name="Module desc 5"/>
          <p:cNvSpPr txBox="1"/>
          <p:nvPr/>
        </p:nvSpPr>
        <p:spPr>
          <a:xfrm>
            <a:off x="4709160" y="392277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22B38"/>
                </a:solidFill>
                <a:latin typeface="Calibri"/>
                <a:cs typeface="Calibri"/>
              </a:rPr>
              <a:t>Plotly: KPI for scalar, bar, pie, or line (date) chosen from the result type</a:t>
            </a:r>
          </a:p>
        </p:txBody>
      </p:sp>
      <p:sp>
        <p:nvSpPr>
          <p:cNvPr id="256" name="Module row 6"/>
          <p:cNvSpPr/>
          <p:nvPr/>
        </p:nvSpPr>
        <p:spPr>
          <a:xfrm>
            <a:off x="502920" y="4572000"/>
            <a:ext cx="11155680" cy="566928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57" name="Module badge 6"/>
          <p:cNvSpPr/>
          <p:nvPr/>
        </p:nvSpPr>
        <p:spPr>
          <a:xfrm>
            <a:off x="594360" y="4654296"/>
            <a:ext cx="402336" cy="402336"/>
          </a:xfrm>
          <a:prstGeom prst="ellipse">
            <a:avLst/>
          </a:prstGeom>
          <a:solidFill>
            <a:srgbClr val="2E5A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258" name="Module name 6"/>
          <p:cNvSpPr txBox="1"/>
          <p:nvPr/>
        </p:nvSpPr>
        <p:spPr>
          <a:xfrm>
            <a:off x="1097280" y="4572000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Follow-up Handling &amp; Session History</a:t>
            </a:r>
          </a:p>
        </p:txBody>
      </p:sp>
      <p:sp>
        <p:nvSpPr>
          <p:cNvPr id="259" name="Module desc 6"/>
          <p:cNvSpPr txBox="1"/>
          <p:nvPr/>
        </p:nvSpPr>
        <p:spPr>
          <a:xfrm>
            <a:off x="4709160" y="4572000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22B38"/>
                </a:solidFill>
                <a:latin typeface="Calibri"/>
                <a:cs typeface="Calibri"/>
              </a:rPr>
              <a:t>Application-side context and filter safeguards; in-memory history for the current session</a:t>
            </a:r>
          </a:p>
        </p:txBody>
      </p:sp>
      <p:sp>
        <p:nvSpPr>
          <p:cNvPr id="260" name="Module row 7"/>
          <p:cNvSpPr/>
          <p:nvPr/>
        </p:nvSpPr>
        <p:spPr>
          <a:xfrm>
            <a:off x="502920" y="5221224"/>
            <a:ext cx="11155680" cy="566928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61" name="Module badge 7"/>
          <p:cNvSpPr/>
          <p:nvPr/>
        </p:nvSpPr>
        <p:spPr>
          <a:xfrm>
            <a:off x="594360" y="5303520"/>
            <a:ext cx="402336" cy="402336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262" name="Module name 7"/>
          <p:cNvSpPr txBox="1"/>
          <p:nvPr/>
        </p:nvSpPr>
        <p:spPr>
          <a:xfrm>
            <a:off x="1097280" y="5221224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Docker Containerization</a:t>
            </a:r>
          </a:p>
        </p:txBody>
      </p:sp>
      <p:sp>
        <p:nvSpPr>
          <p:cNvPr id="263" name="Module desc 7"/>
          <p:cNvSpPr txBox="1"/>
          <p:nvPr/>
        </p:nvSpPr>
        <p:spPr>
          <a:xfrm>
            <a:off x="4709160" y="5221224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22B38"/>
                </a:solidFill>
                <a:latin typeface="Calibri"/>
                <a:cs typeface="Calibri"/>
              </a:rPr>
              <a:t>Dockerfile + requirements; image built and tested end-to-end; Ollama stays on the host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Data Narrator: NL-to-SQL BI Copilot with Auto-Insights</a:t>
            </a:r>
          </a:p>
        </p:txBody>
      </p:sp>
      <p:sp>
        <p:nvSpPr>
          <p:cNvPr id="264" name="Problem card"/>
          <p:cNvSpPr/>
          <p:nvPr/>
        </p:nvSpPr>
        <p:spPr>
          <a:xfrm>
            <a:off x="502920" y="1371600"/>
            <a:ext cx="5486400" cy="4160520"/>
          </a:xfrm>
          <a:prstGeom prst="roundRect">
            <a:avLst>
              <a:gd name="adj" fmla="val 5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65" name="Problem heading"/>
          <p:cNvSpPr txBox="1"/>
          <p:nvPr/>
        </p:nvSpPr>
        <p:spPr>
          <a:xfrm>
            <a:off x="731520" y="1481328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1B3A6B"/>
                </a:solidFill>
                <a:latin typeface="Calibri"/>
                <a:cs typeface="Calibri"/>
              </a:rPr>
              <a:t>The Problem</a:t>
            </a:r>
          </a:p>
        </p:txBody>
      </p:sp>
      <p:sp>
        <p:nvSpPr>
          <p:cNvPr id="266" name="Problem text"/>
          <p:cNvSpPr txBox="1"/>
          <p:nvPr/>
        </p:nvSpPr>
        <p:spPr>
          <a:xfrm>
            <a:off x="731520" y="2011680"/>
            <a:ext cx="5029200" cy="33832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Traditional data analysis often requires users to know SQL or rely on technical analysts.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This can slow down access to business information.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Users also need a convenient path from a natural-language question to query results, visualizations, and understandable insights.</a:t>
            </a:r>
          </a:p>
        </p:txBody>
      </p:sp>
      <p:sp>
        <p:nvSpPr>
          <p:cNvPr id="267" name="Goal card"/>
          <p:cNvSpPr/>
          <p:nvPr/>
        </p:nvSpPr>
        <p:spPr>
          <a:xfrm>
            <a:off x="6263640" y="1371600"/>
            <a:ext cx="5394960" cy="4160520"/>
          </a:xfrm>
          <a:prstGeom prst="roundRect">
            <a:avLst>
              <a:gd name="adj" fmla="val 5000"/>
            </a:avLst>
          </a:prstGeom>
          <a:solidFill>
            <a:srgbClr val="1B3A6B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68" name="Goal heading"/>
          <p:cNvSpPr txBox="1"/>
          <p:nvPr/>
        </p:nvSpPr>
        <p:spPr>
          <a:xfrm>
            <a:off x="6492240" y="148132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Calibri"/>
                <a:cs typeface="Calibri"/>
              </a:rPr>
              <a:t>Project Goal</a:t>
            </a:r>
          </a:p>
        </p:txBody>
      </p:sp>
      <p:sp>
        <p:nvSpPr>
          <p:cNvPr id="269" name="Goal text"/>
          <p:cNvSpPr txBox="1"/>
          <p:nvPr/>
        </p:nvSpPr>
        <p:spPr>
          <a:xfrm>
            <a:off x="6492240" y="2011680"/>
            <a:ext cx="4937760" cy="33832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FFFFFF"/>
                </a:solidFill>
                <a:latin typeface="Calibri"/>
                <a:cs typeface="Calibri"/>
              </a:rPr>
              <a:t>To develop an interactive natural-language-based data analysis application that generates SQL, applies safety validation, retrieves results, and presents meaningful insights and visualizations from uploaded datasets.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Data Narrator: NL-to-SQL BI Copilot with Auto-Insights</a:t>
            </a:r>
          </a:p>
        </p:txBody>
      </p:sp>
      <p:sp>
        <p:nvSpPr>
          <p:cNvPr id="270" name="Step 1"/>
          <p:cNvSpPr/>
          <p:nvPr/>
        </p:nvSpPr>
        <p:spPr>
          <a:xfrm>
            <a:off x="502920" y="1371600"/>
            <a:ext cx="1874520" cy="960120"/>
          </a:xfrm>
          <a:prstGeom prst="roundRect">
            <a:avLst>
              <a:gd name="adj" fmla="val 12000"/>
            </a:avLst>
          </a:prstGeom>
          <a:solidFill>
            <a:srgbClr val="5F6B7A"/>
          </a:solidFill>
          <a:ln>
            <a:noFill/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User uploads CSV / Excel dataset</a:t>
            </a:r>
          </a:p>
        </p:txBody>
      </p:sp>
      <p:sp>
        <p:nvSpPr>
          <p:cNvPr id="271" name="Step badge 1"/>
          <p:cNvSpPr/>
          <p:nvPr/>
        </p:nvSpPr>
        <p:spPr>
          <a:xfrm>
            <a:off x="411480" y="124358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F6B7A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5F6B7A"/>
                </a:solidFill>
                <a:latin typeface="Calibri"/>
                <a:cs typeface="Calibri"/>
              </a:rPr>
              <a:t>1</a:t>
            </a:r>
          </a:p>
        </p:txBody>
      </p:sp>
      <p:cxnSp>
        <p:nvCxnSpPr>
          <p:cNvPr id="272" name="Arrow 1"/>
          <p:cNvCxnSpPr/>
          <p:nvPr/>
        </p:nvCxnSpPr>
        <p:spPr>
          <a:xfrm>
            <a:off x="2414016" y="185166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73" name="Step 2"/>
          <p:cNvSpPr/>
          <p:nvPr/>
        </p:nvSpPr>
        <p:spPr>
          <a:xfrm>
            <a:off x="2852928" y="1371600"/>
            <a:ext cx="1874520" cy="960120"/>
          </a:xfrm>
          <a:prstGeom prst="roundRect">
            <a:avLst>
              <a:gd name="adj" fmla="val 12000"/>
            </a:avLst>
          </a:prstGeom>
          <a:solidFill>
            <a:srgbClr val="5F6B7A"/>
          </a:solidFill>
          <a:ln>
            <a:noFill/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Pandas loads and processes data</a:t>
            </a:r>
          </a:p>
        </p:txBody>
      </p:sp>
      <p:sp>
        <p:nvSpPr>
          <p:cNvPr id="274" name="Step badge 2"/>
          <p:cNvSpPr/>
          <p:nvPr/>
        </p:nvSpPr>
        <p:spPr>
          <a:xfrm>
            <a:off x="2761488" y="124358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F6B7A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5F6B7A"/>
                </a:solidFill>
                <a:latin typeface="Calibri"/>
                <a:cs typeface="Calibri"/>
              </a:rPr>
              <a:t>2</a:t>
            </a:r>
          </a:p>
        </p:txBody>
      </p:sp>
      <p:cxnSp>
        <p:nvCxnSpPr>
          <p:cNvPr id="275" name="Arrow 2"/>
          <p:cNvCxnSpPr/>
          <p:nvPr/>
        </p:nvCxnSpPr>
        <p:spPr>
          <a:xfrm>
            <a:off x="4764024" y="185166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76" name="Step 3"/>
          <p:cNvSpPr/>
          <p:nvPr/>
        </p:nvSpPr>
        <p:spPr>
          <a:xfrm>
            <a:off x="5202936" y="1371600"/>
            <a:ext cx="1874520" cy="960120"/>
          </a:xfrm>
          <a:prstGeom prst="roundRect">
            <a:avLst>
              <a:gd name="adj" fmla="val 12000"/>
            </a:avLst>
          </a:prstGeom>
          <a:solidFill>
            <a:srgbClr val="5F6B7A"/>
          </a:solidFill>
          <a:ln>
            <a:noFill/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DuckDB table is created</a:t>
            </a:r>
          </a:p>
        </p:txBody>
      </p:sp>
      <p:sp>
        <p:nvSpPr>
          <p:cNvPr id="277" name="Step badge 3"/>
          <p:cNvSpPr/>
          <p:nvPr/>
        </p:nvSpPr>
        <p:spPr>
          <a:xfrm>
            <a:off x="5111496" y="124358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F6B7A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5F6B7A"/>
                </a:solidFill>
                <a:latin typeface="Calibri"/>
                <a:cs typeface="Calibri"/>
              </a:rPr>
              <a:t>3</a:t>
            </a:r>
          </a:p>
        </p:txBody>
      </p:sp>
      <p:cxnSp>
        <p:nvCxnSpPr>
          <p:cNvPr id="278" name="Arrow 3"/>
          <p:cNvCxnSpPr/>
          <p:nvPr/>
        </p:nvCxnSpPr>
        <p:spPr>
          <a:xfrm>
            <a:off x="7114032" y="185166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79" name="Step 4"/>
          <p:cNvSpPr/>
          <p:nvPr/>
        </p:nvSpPr>
        <p:spPr>
          <a:xfrm>
            <a:off x="7552944" y="1371600"/>
            <a:ext cx="1874520" cy="960120"/>
          </a:xfrm>
          <a:prstGeom prst="roundRect">
            <a:avLst>
              <a:gd name="adj" fmla="val 12000"/>
            </a:avLst>
          </a:prstGeom>
          <a:solidFill>
            <a:srgbClr val="5F6B7A"/>
          </a:solidFill>
          <a:ln>
            <a:noFill/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User enters a natural-language question</a:t>
            </a:r>
          </a:p>
        </p:txBody>
      </p:sp>
      <p:sp>
        <p:nvSpPr>
          <p:cNvPr id="280" name="Step badge 4"/>
          <p:cNvSpPr/>
          <p:nvPr/>
        </p:nvSpPr>
        <p:spPr>
          <a:xfrm>
            <a:off x="7461504" y="124358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F6B7A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5F6B7A"/>
                </a:solidFill>
                <a:latin typeface="Calibri"/>
                <a:cs typeface="Calibri"/>
              </a:rPr>
              <a:t>4</a:t>
            </a:r>
          </a:p>
        </p:txBody>
      </p:sp>
      <p:cxnSp>
        <p:nvCxnSpPr>
          <p:cNvPr id="281" name="Arrow 4"/>
          <p:cNvCxnSpPr/>
          <p:nvPr/>
        </p:nvCxnSpPr>
        <p:spPr>
          <a:xfrm>
            <a:off x="9464040" y="185166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82" name="Step 5"/>
          <p:cNvSpPr/>
          <p:nvPr/>
        </p:nvSpPr>
        <p:spPr>
          <a:xfrm>
            <a:off x="9902952" y="1371600"/>
            <a:ext cx="1874520" cy="960120"/>
          </a:xfrm>
          <a:prstGeom prst="roundRect">
            <a:avLst>
              <a:gd name="adj" fmla="val 12000"/>
            </a:avLst>
          </a:prstGeom>
          <a:solidFill>
            <a:srgbClr val="2E5AAC"/>
          </a:solidFill>
          <a:ln>
            <a:noFill/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Ollama + Llama 3.1 8B generates SQL</a:t>
            </a:r>
          </a:p>
        </p:txBody>
      </p:sp>
      <p:sp>
        <p:nvSpPr>
          <p:cNvPr id="283" name="Step badge 5"/>
          <p:cNvSpPr/>
          <p:nvPr/>
        </p:nvSpPr>
        <p:spPr>
          <a:xfrm>
            <a:off x="9811512" y="124358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AAC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2E5AAC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84" name="Step 6"/>
          <p:cNvSpPr/>
          <p:nvPr/>
        </p:nvSpPr>
        <p:spPr>
          <a:xfrm>
            <a:off x="9902952" y="3154680"/>
            <a:ext cx="1874520" cy="960120"/>
          </a:xfrm>
          <a:prstGeom prst="roundRect">
            <a:avLst>
              <a:gd name="adj" fmla="val 12000"/>
            </a:avLst>
          </a:prstGeom>
          <a:solidFill>
            <a:srgbClr val="0E8C8C"/>
          </a:solidFill>
          <a:ln>
            <a:noFill/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Application-side SQL safety validation</a:t>
            </a:r>
          </a:p>
        </p:txBody>
      </p:sp>
      <p:sp>
        <p:nvSpPr>
          <p:cNvPr id="285" name="Step badge 6"/>
          <p:cNvSpPr/>
          <p:nvPr/>
        </p:nvSpPr>
        <p:spPr>
          <a:xfrm>
            <a:off x="9811512" y="302666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8C8C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E8C8C"/>
                </a:solidFill>
                <a:latin typeface="Calibri"/>
                <a:cs typeface="Calibri"/>
              </a:rPr>
              <a:t>6</a:t>
            </a:r>
          </a:p>
        </p:txBody>
      </p:sp>
      <p:cxnSp>
        <p:nvCxnSpPr>
          <p:cNvPr id="286" name="Arrow 6"/>
          <p:cNvCxnSpPr/>
          <p:nvPr/>
        </p:nvCxnSpPr>
        <p:spPr>
          <a:xfrm flipH="1">
            <a:off x="9464040" y="363474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87" name="Step 7"/>
          <p:cNvSpPr/>
          <p:nvPr/>
        </p:nvSpPr>
        <p:spPr>
          <a:xfrm>
            <a:off x="7552944" y="3154680"/>
            <a:ext cx="1874520" cy="960120"/>
          </a:xfrm>
          <a:prstGeom prst="roundRect">
            <a:avLst>
              <a:gd name="adj" fmla="val 12000"/>
            </a:avLst>
          </a:prstGeom>
          <a:solidFill>
            <a:srgbClr val="0E8C8C"/>
          </a:solidFill>
          <a:ln>
            <a:noFill/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DuckDB executes the validated query</a:t>
            </a:r>
          </a:p>
        </p:txBody>
      </p:sp>
      <p:sp>
        <p:nvSpPr>
          <p:cNvPr id="288" name="Step badge 7"/>
          <p:cNvSpPr/>
          <p:nvPr/>
        </p:nvSpPr>
        <p:spPr>
          <a:xfrm>
            <a:off x="7461504" y="302666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8C8C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E8C8C"/>
                </a:solidFill>
                <a:latin typeface="Calibri"/>
                <a:cs typeface="Calibri"/>
              </a:rPr>
              <a:t>7</a:t>
            </a:r>
          </a:p>
        </p:txBody>
      </p:sp>
      <p:cxnSp>
        <p:nvCxnSpPr>
          <p:cNvPr id="289" name="Arrow 7"/>
          <p:cNvCxnSpPr/>
          <p:nvPr/>
        </p:nvCxnSpPr>
        <p:spPr>
          <a:xfrm flipH="1">
            <a:off x="7114032" y="363474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90" name="Step 8"/>
          <p:cNvSpPr/>
          <p:nvPr/>
        </p:nvSpPr>
        <p:spPr>
          <a:xfrm>
            <a:off x="5202936" y="3154680"/>
            <a:ext cx="1874520" cy="960120"/>
          </a:xfrm>
          <a:prstGeom prst="roundRect">
            <a:avLst>
              <a:gd name="adj" fmla="val 12000"/>
            </a:avLst>
          </a:prstGeom>
          <a:solidFill>
            <a:srgbClr val="0E8C8C"/>
          </a:solidFill>
          <a:ln>
            <a:noFill/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Query results are retrieved</a:t>
            </a:r>
          </a:p>
        </p:txBody>
      </p:sp>
      <p:sp>
        <p:nvSpPr>
          <p:cNvPr id="291" name="Step badge 8"/>
          <p:cNvSpPr/>
          <p:nvPr/>
        </p:nvSpPr>
        <p:spPr>
          <a:xfrm>
            <a:off x="5111496" y="302666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8C8C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E8C8C"/>
                </a:solidFill>
                <a:latin typeface="Calibri"/>
                <a:cs typeface="Calibri"/>
              </a:rPr>
              <a:t>8</a:t>
            </a:r>
          </a:p>
        </p:txBody>
      </p:sp>
      <p:cxnSp>
        <p:nvCxnSpPr>
          <p:cNvPr id="292" name="Arrow 8"/>
          <p:cNvCxnSpPr/>
          <p:nvPr/>
        </p:nvCxnSpPr>
        <p:spPr>
          <a:xfrm flipH="1">
            <a:off x="4764024" y="363474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93" name="Step 9"/>
          <p:cNvSpPr/>
          <p:nvPr/>
        </p:nvSpPr>
        <p:spPr>
          <a:xfrm>
            <a:off x="2852928" y="3154680"/>
            <a:ext cx="1874520" cy="960120"/>
          </a:xfrm>
          <a:prstGeom prst="roundRect">
            <a:avLst>
              <a:gd name="adj" fmla="val 12000"/>
            </a:avLst>
          </a:prstGeom>
          <a:solidFill>
            <a:srgbClr val="3A9D5D"/>
          </a:solidFill>
          <a:ln>
            <a:noFill/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Business insights + dynamic Plotly charts</a:t>
            </a:r>
          </a:p>
        </p:txBody>
      </p:sp>
      <p:sp>
        <p:nvSpPr>
          <p:cNvPr id="294" name="Step badge 9"/>
          <p:cNvSpPr/>
          <p:nvPr/>
        </p:nvSpPr>
        <p:spPr>
          <a:xfrm>
            <a:off x="2761488" y="302666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9D5D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3A9D5D"/>
                </a:solidFill>
                <a:latin typeface="Calibri"/>
                <a:cs typeface="Calibri"/>
              </a:rPr>
              <a:t>9</a:t>
            </a:r>
          </a:p>
        </p:txBody>
      </p:sp>
      <p:cxnSp>
        <p:nvCxnSpPr>
          <p:cNvPr id="295" name="Arrow 9"/>
          <p:cNvCxnSpPr/>
          <p:nvPr/>
        </p:nvCxnSpPr>
        <p:spPr>
          <a:xfrm flipH="1">
            <a:off x="2414016" y="363474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96" name="Step 10"/>
          <p:cNvSpPr/>
          <p:nvPr/>
        </p:nvSpPr>
        <p:spPr>
          <a:xfrm>
            <a:off x="502920" y="3154680"/>
            <a:ext cx="1874520" cy="960120"/>
          </a:xfrm>
          <a:prstGeom prst="roundRect">
            <a:avLst>
              <a:gd name="adj" fmla="val 12000"/>
            </a:avLst>
          </a:prstGeom>
          <a:solidFill>
            <a:srgbClr val="3A9D5D"/>
          </a:solidFill>
          <a:ln>
            <a:noFill/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Results displayed in Streamlit</a:t>
            </a:r>
          </a:p>
        </p:txBody>
      </p:sp>
      <p:sp>
        <p:nvSpPr>
          <p:cNvPr id="297" name="Step badge 10"/>
          <p:cNvSpPr/>
          <p:nvPr/>
        </p:nvSpPr>
        <p:spPr>
          <a:xfrm>
            <a:off x="411480" y="302666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9D5D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3A9D5D"/>
                </a:solidFill>
                <a:latin typeface="Calibri"/>
                <a:cs typeface="Calibri"/>
              </a:rPr>
              <a:t>10</a:t>
            </a:r>
          </a:p>
        </p:txBody>
      </p:sp>
      <p:cxnSp>
        <p:nvCxnSpPr>
          <p:cNvPr id="298" name="Arrow 5 to 6"/>
          <p:cNvCxnSpPr/>
          <p:nvPr/>
        </p:nvCxnSpPr>
        <p:spPr>
          <a:xfrm>
            <a:off x="10840212" y="2368296"/>
            <a:ext cx="0" cy="749808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99" name="Arrow note LLM"/>
          <p:cNvSpPr txBox="1"/>
          <p:nvPr/>
        </p:nvSpPr>
        <p:spPr>
          <a:xfrm>
            <a:off x="10931652" y="251460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dirty="0">
                <a:solidFill>
                  <a:srgbClr val="5F6B7A"/>
                </a:solidFill>
                <a:latin typeface="Calibri"/>
                <a:cs typeface="Calibri"/>
              </a:rPr>
              <a:t>SQL text only</a:t>
            </a:r>
          </a:p>
        </p:txBody>
      </p:sp>
      <p:sp>
        <p:nvSpPr>
          <p:cNvPr id="300" name="Key principle"/>
          <p:cNvSpPr/>
          <p:nvPr/>
        </p:nvSpPr>
        <p:spPr>
          <a:xfrm>
            <a:off x="502920" y="4434840"/>
            <a:ext cx="11155680" cy="457200"/>
          </a:xfrm>
          <a:prstGeom prst="roundRect">
            <a:avLst>
              <a:gd name="adj" fmla="val 20000"/>
            </a:avLst>
          </a:prstGeom>
          <a:solidFill>
            <a:srgbClr val="FFF4DB"/>
          </a:solidFill>
          <a:ln w="12700">
            <a:solidFill>
              <a:srgbClr val="E0B050"/>
            </a:solidFill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B3A6B"/>
                </a:solidFill>
                <a:latin typeface="Calibri"/>
                <a:cs typeface="Calibri"/>
              </a:rPr>
              <a:t>The LLM only generates SQL text. The application validates it, and DuckDB executes it. Insights and charts come from the returned results.</a:t>
            </a:r>
          </a:p>
        </p:txBody>
      </p:sp>
      <p:sp>
        <p:nvSpPr>
          <p:cNvPr id="301" name="Legend swatch 1"/>
          <p:cNvSpPr/>
          <p:nvPr/>
        </p:nvSpPr>
        <p:spPr>
          <a:xfrm>
            <a:off x="2377440" y="5138928"/>
            <a:ext cx="201168" cy="201168"/>
          </a:xfrm>
          <a:prstGeom prst="roundRect">
            <a:avLst/>
          </a:prstGeom>
          <a:solidFill>
            <a:srgbClr val="5F6B7A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02" name="Legend label 1"/>
          <p:cNvSpPr txBox="1"/>
          <p:nvPr/>
        </p:nvSpPr>
        <p:spPr>
          <a:xfrm>
            <a:off x="2624328" y="5074920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22B38"/>
                </a:solidFill>
                <a:latin typeface="Calibri"/>
                <a:cs typeface="Calibri"/>
              </a:rPr>
              <a:t>Data preparation / input</a:t>
            </a:r>
          </a:p>
        </p:txBody>
      </p:sp>
      <p:sp>
        <p:nvSpPr>
          <p:cNvPr id="303" name="Legend swatch 2"/>
          <p:cNvSpPr/>
          <p:nvPr/>
        </p:nvSpPr>
        <p:spPr>
          <a:xfrm>
            <a:off x="4526280" y="5138928"/>
            <a:ext cx="201168" cy="201168"/>
          </a:xfrm>
          <a:prstGeom prst="roundRect">
            <a:avLst/>
          </a:prstGeom>
          <a:solidFill>
            <a:srgbClr val="2E5AA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04" name="Legend label 2"/>
          <p:cNvSpPr txBox="1"/>
          <p:nvPr/>
        </p:nvSpPr>
        <p:spPr>
          <a:xfrm>
            <a:off x="4773168" y="5074920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22B38"/>
                </a:solidFill>
                <a:latin typeface="Calibri"/>
                <a:cs typeface="Calibri"/>
              </a:rPr>
              <a:t>LLM processing</a:t>
            </a:r>
          </a:p>
        </p:txBody>
      </p:sp>
      <p:sp>
        <p:nvSpPr>
          <p:cNvPr id="305" name="Legend swatch 3"/>
          <p:cNvSpPr/>
          <p:nvPr/>
        </p:nvSpPr>
        <p:spPr>
          <a:xfrm>
            <a:off x="6172200" y="5138928"/>
            <a:ext cx="201168" cy="201168"/>
          </a:xfrm>
          <a:prstGeom prst="roundRect">
            <a:avLst/>
          </a:prstGeom>
          <a:solidFill>
            <a:srgbClr val="0E8C8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06" name="Legend label 3"/>
          <p:cNvSpPr txBox="1"/>
          <p:nvPr/>
        </p:nvSpPr>
        <p:spPr>
          <a:xfrm>
            <a:off x="6419088" y="5074920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22B38"/>
                </a:solidFill>
                <a:latin typeface="Calibri"/>
                <a:cs typeface="Calibri"/>
              </a:rPr>
              <a:t>SQL validation &amp; execution</a:t>
            </a:r>
          </a:p>
        </p:txBody>
      </p:sp>
      <p:sp>
        <p:nvSpPr>
          <p:cNvPr id="307" name="Legend swatch 4"/>
          <p:cNvSpPr/>
          <p:nvPr/>
        </p:nvSpPr>
        <p:spPr>
          <a:xfrm>
            <a:off x="8366760" y="5138928"/>
            <a:ext cx="201168" cy="201168"/>
          </a:xfrm>
          <a:prstGeom prst="roundRect">
            <a:avLst/>
          </a:prstGeom>
          <a:solidFill>
            <a:srgbClr val="3A9D5D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08" name="Legend label 4"/>
          <p:cNvSpPr txBox="1"/>
          <p:nvPr/>
        </p:nvSpPr>
        <p:spPr>
          <a:xfrm>
            <a:off x="8613648" y="5074920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22B38"/>
                </a:solidFill>
                <a:latin typeface="Calibri"/>
                <a:cs typeface="Calibri"/>
              </a:rPr>
              <a:t>Result presentation</a:t>
            </a:r>
          </a:p>
        </p:txBody>
      </p:sp>
      <p:sp>
        <p:nvSpPr>
          <p:cNvPr id="309" name="Supporting features"/>
          <p:cNvSpPr/>
          <p:nvPr/>
        </p:nvSpPr>
        <p:spPr>
          <a:xfrm>
            <a:off x="2377440" y="5468112"/>
            <a:ext cx="9281160" cy="365760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5F6B7A"/>
            </a:solidFill>
            <a:prstDash val="dash"/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5F6B7A"/>
                </a:solidFill>
                <a:latin typeface="Calibri"/>
                <a:cs typeface="Calibri"/>
              </a:rPr>
              <a:t>Supporting features: follow-up question handling and session-level (in-memory) query history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Data Narrator: NL-to-SQL BI Copilot with Auto-Insights</a:t>
            </a:r>
          </a:p>
        </p:txBody>
      </p:sp>
      <p:graphicFrame>
        <p:nvGraphicFramePr>
          <p:cNvPr id="310" name="Technology roles table"/>
          <p:cNvGraphicFramePr>
            <a:graphicFrameLocks noGrp="1"/>
          </p:cNvGraphicFramePr>
          <p:nvPr/>
        </p:nvGraphicFramePr>
        <p:xfrm>
          <a:off x="502920" y="1325880"/>
          <a:ext cx="5623560" cy="2962656"/>
        </p:xfrm>
        <a:graphic>
          <a:graphicData uri="http://schemas.openxmlformats.org/drawingml/2006/table">
            <a:tbl>
              <a:tblPr firstRow="1" bandRow="1"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Technology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Actual role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Python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Core application logic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Streamlit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User interface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Pandas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Data loading and processing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DuckDB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Query execution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Ollama + Llama 3.1 8B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SQL generation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SQL validation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Application-side safety checks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Plotly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Dynamic visualizations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Docker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Containerization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11" name="Architecture caption"/>
          <p:cNvSpPr txBox="1"/>
          <p:nvPr/>
        </p:nvSpPr>
        <p:spPr>
          <a:xfrm>
            <a:off x="6355080" y="132588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B3A6B"/>
                </a:solidFill>
                <a:latin typeface="Calibri"/>
                <a:cs typeface="Calibri"/>
              </a:rPr>
              <a:t>Component architecture</a:t>
            </a:r>
          </a:p>
        </p:txBody>
      </p:sp>
      <p:sp>
        <p:nvSpPr>
          <p:cNvPr id="312" name="Docker container boundary"/>
          <p:cNvSpPr/>
          <p:nvPr/>
        </p:nvSpPr>
        <p:spPr>
          <a:xfrm>
            <a:off x="8503920" y="1645920"/>
            <a:ext cx="3200400" cy="269748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 w="19050">
            <a:solidFill>
              <a:srgbClr val="0E8C8C"/>
            </a:solidFill>
            <a:prstDash val="dash"/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13" name="Docker label"/>
          <p:cNvSpPr txBox="1"/>
          <p:nvPr/>
        </p:nvSpPr>
        <p:spPr>
          <a:xfrm>
            <a:off x="8577072" y="166420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0E8C8C"/>
                </a:solidFill>
                <a:latin typeface="Calibri"/>
                <a:cs typeface="Calibri"/>
              </a:rPr>
              <a:t>Docker container (Python app)</a:t>
            </a:r>
          </a:p>
        </p:txBody>
      </p:sp>
      <p:sp>
        <p:nvSpPr>
          <p:cNvPr id="314" name="Arch Streamlit"/>
          <p:cNvSpPr/>
          <p:nvPr/>
        </p:nvSpPr>
        <p:spPr>
          <a:xfrm>
            <a:off x="8686800" y="1965960"/>
            <a:ext cx="2834640" cy="502920"/>
          </a:xfrm>
          <a:prstGeom prst="roundRect">
            <a:avLst/>
          </a:prstGeom>
          <a:solidFill>
            <a:srgbClr val="3A9D5D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Streamlit UI</a:t>
            </a:r>
          </a:p>
        </p:txBody>
      </p:sp>
      <p:sp>
        <p:nvSpPr>
          <p:cNvPr id="315" name="Arch Validation"/>
          <p:cNvSpPr/>
          <p:nvPr/>
        </p:nvSpPr>
        <p:spPr>
          <a:xfrm>
            <a:off x="8686800" y="2724912"/>
            <a:ext cx="2834640" cy="457200"/>
          </a:xfrm>
          <a:prstGeom prst="roundRect">
            <a:avLst/>
          </a:prstGeom>
          <a:solidFill>
            <a:srgbClr val="0E8C8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SQL validation (app-side)</a:t>
            </a:r>
          </a:p>
        </p:txBody>
      </p:sp>
      <p:sp>
        <p:nvSpPr>
          <p:cNvPr id="316" name="Arch DuckDB"/>
          <p:cNvSpPr/>
          <p:nvPr/>
        </p:nvSpPr>
        <p:spPr>
          <a:xfrm>
            <a:off x="8686800" y="3566160"/>
            <a:ext cx="1234440" cy="548640"/>
          </a:xfrm>
          <a:prstGeom prst="roundRect">
            <a:avLst/>
          </a:prstGeom>
          <a:solidFill>
            <a:srgbClr val="0E8C8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DuckDB</a:t>
            </a:r>
          </a:p>
        </p:txBody>
      </p:sp>
      <p:sp>
        <p:nvSpPr>
          <p:cNvPr id="317" name="Arch Plotly"/>
          <p:cNvSpPr/>
          <p:nvPr/>
        </p:nvSpPr>
        <p:spPr>
          <a:xfrm>
            <a:off x="10287000" y="3566160"/>
            <a:ext cx="1234440" cy="548640"/>
          </a:xfrm>
          <a:prstGeom prst="roundRect">
            <a:avLst/>
          </a:prstGeom>
          <a:solidFill>
            <a:srgbClr val="3A9D5D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Plotly</a:t>
            </a:r>
          </a:p>
        </p:txBody>
      </p:sp>
      <p:cxnSp>
        <p:nvCxnSpPr>
          <p:cNvPr id="318" name="Arch arrow UI-Val"/>
          <p:cNvCxnSpPr/>
          <p:nvPr/>
        </p:nvCxnSpPr>
        <p:spPr>
          <a:xfrm>
            <a:off x="10104120" y="2487168"/>
            <a:ext cx="0" cy="219456"/>
          </a:xfrm>
          <a:prstGeom prst="line">
            <a:avLst/>
          </a:prstGeom>
          <a:ln w="25400">
            <a:solidFill>
              <a:srgbClr val="1B3A6B"/>
            </a:solidFill>
            <a:tailEnd type="triangle" w="med" len="med"/>
          </a:ln>
        </p:spPr>
      </p:cxnSp>
      <p:cxnSp>
        <p:nvCxnSpPr>
          <p:cNvPr id="319" name="Arch arrow Val-Duck"/>
          <p:cNvCxnSpPr/>
          <p:nvPr/>
        </p:nvCxnSpPr>
        <p:spPr>
          <a:xfrm>
            <a:off x="9299448" y="3200400"/>
            <a:ext cx="0" cy="347472"/>
          </a:xfrm>
          <a:prstGeom prst="line">
            <a:avLst/>
          </a:prstGeom>
          <a:ln w="25400">
            <a:solidFill>
              <a:srgbClr val="1B3A6B"/>
            </a:solidFill>
            <a:tailEnd type="triangle" w="med" len="med"/>
          </a:ln>
        </p:spPr>
      </p:cxnSp>
      <p:cxnSp>
        <p:nvCxnSpPr>
          <p:cNvPr id="320" name="Arch arrow Duck-Plotly"/>
          <p:cNvCxnSpPr/>
          <p:nvPr/>
        </p:nvCxnSpPr>
        <p:spPr>
          <a:xfrm>
            <a:off x="9939528" y="3840480"/>
            <a:ext cx="329184" cy="0"/>
          </a:xfrm>
          <a:prstGeom prst="line">
            <a:avLst/>
          </a:prstGeom>
          <a:ln w="25400">
            <a:solidFill>
              <a:srgbClr val="1B3A6B"/>
            </a:solidFill>
            <a:tailEnd type="triangle" w="med" len="med"/>
          </a:ln>
        </p:spPr>
      </p:cxnSp>
      <p:sp>
        <p:nvSpPr>
          <p:cNvPr id="321" name="Arch label results"/>
          <p:cNvSpPr txBox="1"/>
          <p:nvPr/>
        </p:nvSpPr>
        <p:spPr>
          <a:xfrm>
            <a:off x="9939528" y="3310128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dirty="0">
                <a:solidFill>
                  <a:srgbClr val="5F6B7A"/>
                </a:solidFill>
                <a:latin typeface="Calibri"/>
                <a:cs typeface="Calibri"/>
              </a:rPr>
              <a:t>results</a:t>
            </a:r>
          </a:p>
        </p:txBody>
      </p:sp>
      <p:sp>
        <p:nvSpPr>
          <p:cNvPr id="322" name="Host label"/>
          <p:cNvSpPr txBox="1"/>
          <p:nvPr/>
        </p:nvSpPr>
        <p:spPr>
          <a:xfrm>
            <a:off x="6355080" y="166420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5F6B7A"/>
                </a:solidFill>
                <a:latin typeface="Calibri"/>
                <a:cs typeface="Calibri"/>
              </a:rPr>
              <a:t>Windows host</a:t>
            </a:r>
          </a:p>
        </p:txBody>
      </p:sp>
      <p:sp>
        <p:nvSpPr>
          <p:cNvPr id="323" name="Arch Ollama"/>
          <p:cNvSpPr/>
          <p:nvPr/>
        </p:nvSpPr>
        <p:spPr>
          <a:xfrm>
            <a:off x="6400800" y="2011680"/>
            <a:ext cx="1691640" cy="1005840"/>
          </a:xfrm>
          <a:prstGeom prst="roundRect">
            <a:avLst/>
          </a:prstGeom>
          <a:solidFill>
            <a:srgbClr val="2E5AA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Ollama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alibri"/>
                <a:cs typeface="Calibri"/>
              </a:rPr>
              <a:t>Llama 3.1 8B</a:t>
            </a:r>
          </a:p>
        </p:txBody>
      </p:sp>
      <p:cxnSp>
        <p:nvCxnSpPr>
          <p:cNvPr id="324" name="Arch arrow HTTP"/>
          <p:cNvCxnSpPr/>
          <p:nvPr/>
        </p:nvCxnSpPr>
        <p:spPr>
          <a:xfrm>
            <a:off x="8138160" y="2267712"/>
            <a:ext cx="530352" cy="0"/>
          </a:xfrm>
          <a:prstGeom prst="line">
            <a:avLst/>
          </a:prstGeom>
          <a:ln w="25400">
            <a:solidFill>
              <a:srgbClr val="1B3A6B"/>
            </a:solidFill>
            <a:headEnd type="triangle" w="med" len="med"/>
            <a:tailEnd type="triangle" w="med" len="med"/>
          </a:ln>
        </p:spPr>
      </p:cxnSp>
      <p:sp>
        <p:nvSpPr>
          <p:cNvPr id="325" name="HTTP label"/>
          <p:cNvSpPr txBox="1"/>
          <p:nvPr/>
        </p:nvSpPr>
        <p:spPr>
          <a:xfrm>
            <a:off x="7882128" y="1901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dirty="0">
                <a:solidFill>
                  <a:srgbClr val="5F6B7A"/>
                </a:solidFill>
                <a:latin typeface="Calibri"/>
                <a:cs typeface="Calibri"/>
              </a:rPr>
              <a:t>HTTP</a:t>
            </a:r>
          </a:p>
        </p:txBody>
      </p:sp>
      <p:sp>
        <p:nvSpPr>
          <p:cNvPr id="326" name="Host path note"/>
          <p:cNvSpPr txBox="1"/>
          <p:nvPr/>
        </p:nvSpPr>
        <p:spPr>
          <a:xfrm>
            <a:off x="6355080" y="310896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dirty="0">
                <a:solidFill>
                  <a:srgbClr val="5F6B7A"/>
                </a:solidFill>
                <a:latin typeface="Calibri"/>
                <a:cs typeface="Calibri"/>
              </a:rPr>
              <a:t>Container reaches host via host.docker.internal</a:t>
            </a:r>
          </a:p>
        </p:txBody>
      </p:sp>
      <p:sp>
        <p:nvSpPr>
          <p:cNvPr id="327" name="Stage Generate"/>
          <p:cNvSpPr/>
          <p:nvPr/>
        </p:nvSpPr>
        <p:spPr>
          <a:xfrm>
            <a:off x="502920" y="4526280"/>
            <a:ext cx="2697480" cy="548640"/>
          </a:xfrm>
          <a:prstGeom prst="roundRect">
            <a:avLst/>
          </a:prstGeom>
          <a:solidFill>
            <a:srgbClr val="2E5AAC"/>
          </a:solidFill>
          <a:ln>
            <a:noFill/>
          </a:ln>
        </p:spPr>
        <p:txBody>
          <a:bodyPr wrap="square" lIns="54864" tIns="32918" rIns="54864" bIns="3291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Generate: </a:t>
            </a:r>
            <a:r>
              <a:rPr lang="en-US" sz="1200" b="0" i="0" dirty="0">
                <a:solidFill>
                  <a:srgbClr val="FFFFFF"/>
                </a:solidFill>
                <a:latin typeface="Calibri"/>
                <a:cs typeface="Calibri"/>
              </a:rPr>
              <a:t>LLM writes SQL</a:t>
            </a:r>
          </a:p>
        </p:txBody>
      </p:sp>
      <p:sp>
        <p:nvSpPr>
          <p:cNvPr id="328" name="Stage Validate"/>
          <p:cNvSpPr/>
          <p:nvPr/>
        </p:nvSpPr>
        <p:spPr>
          <a:xfrm>
            <a:off x="3322015" y="4526280"/>
            <a:ext cx="2697480" cy="548640"/>
          </a:xfrm>
          <a:prstGeom prst="roundRect">
            <a:avLst/>
          </a:prstGeom>
          <a:solidFill>
            <a:srgbClr val="0E8C8C"/>
          </a:solidFill>
          <a:ln>
            <a:noFill/>
          </a:ln>
        </p:spPr>
        <p:txBody>
          <a:bodyPr wrap="square" lIns="54864" tIns="32918" rIns="54864" bIns="3291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Validate: </a:t>
            </a:r>
            <a:r>
              <a:rPr lang="en-US" sz="1200" b="0" i="0" dirty="0">
                <a:solidFill>
                  <a:srgbClr val="FFFFFF"/>
                </a:solidFill>
                <a:latin typeface="Calibri"/>
                <a:cs typeface="Calibri"/>
              </a:rPr>
              <a:t>App checks SQL safety</a:t>
            </a:r>
          </a:p>
        </p:txBody>
      </p:sp>
      <p:sp>
        <p:nvSpPr>
          <p:cNvPr id="329" name="Stage Execute"/>
          <p:cNvSpPr/>
          <p:nvPr/>
        </p:nvSpPr>
        <p:spPr>
          <a:xfrm>
            <a:off x="6141110" y="4526280"/>
            <a:ext cx="2697480" cy="548640"/>
          </a:xfrm>
          <a:prstGeom prst="roundRect">
            <a:avLst/>
          </a:prstGeom>
          <a:solidFill>
            <a:srgbClr val="0E8C8C"/>
          </a:solidFill>
          <a:ln>
            <a:noFill/>
          </a:ln>
        </p:spPr>
        <p:txBody>
          <a:bodyPr wrap="square" lIns="54864" tIns="32918" rIns="54864" bIns="3291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Execute: </a:t>
            </a:r>
            <a:r>
              <a:rPr lang="en-US" sz="1200" b="0" i="0" dirty="0">
                <a:solidFill>
                  <a:srgbClr val="FFFFFF"/>
                </a:solidFill>
                <a:latin typeface="Calibri"/>
                <a:cs typeface="Calibri"/>
              </a:rPr>
              <a:t>DuckDB runs validated SQL</a:t>
            </a:r>
          </a:p>
        </p:txBody>
      </p:sp>
      <p:sp>
        <p:nvSpPr>
          <p:cNvPr id="330" name="Stage Present"/>
          <p:cNvSpPr/>
          <p:nvPr/>
        </p:nvSpPr>
        <p:spPr>
          <a:xfrm>
            <a:off x="8960206" y="4526280"/>
            <a:ext cx="2697480" cy="548640"/>
          </a:xfrm>
          <a:prstGeom prst="roundRect">
            <a:avLst/>
          </a:prstGeom>
          <a:solidFill>
            <a:srgbClr val="3A9D5D"/>
          </a:solidFill>
          <a:ln>
            <a:noFill/>
          </a:ln>
        </p:spPr>
        <p:txBody>
          <a:bodyPr wrap="square" lIns="54864" tIns="32918" rIns="54864" bIns="3291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Present: </a:t>
            </a:r>
            <a:r>
              <a:rPr lang="en-US" sz="1200" b="0" i="0" dirty="0">
                <a:solidFill>
                  <a:srgbClr val="FFFFFF"/>
                </a:solidFill>
                <a:latin typeface="Calibri"/>
                <a:cs typeface="Calibri"/>
              </a:rPr>
              <a:t>Insights + Plotly charts</a:t>
            </a:r>
          </a:p>
        </p:txBody>
      </p:sp>
      <p:sp>
        <p:nvSpPr>
          <p:cNvPr id="331" name="Docker status"/>
          <p:cNvSpPr/>
          <p:nvPr/>
        </p:nvSpPr>
        <p:spPr>
          <a:xfrm>
            <a:off x="563270" y="5209044"/>
            <a:ext cx="11155680" cy="457200"/>
          </a:xfrm>
          <a:prstGeom prst="roundRect">
            <a:avLst>
              <a:gd name="adj" fmla="val 20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B3A6B"/>
                </a:solidFill>
                <a:latin typeface="Calibri"/>
                <a:cs typeface="Calibri"/>
              </a:rPr>
              <a:t>Docker: </a:t>
            </a:r>
            <a:r>
              <a:rPr lang="en-US" sz="1300" b="0" i="0" dirty="0">
                <a:solidFill>
                  <a:srgbClr val="222B38"/>
                </a:solidFill>
                <a:latin typeface="Calibri"/>
                <a:cs typeface="Calibri"/>
              </a:rPr>
              <a:t>application containerized; image built and tested end-to-end with Ollama on the host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Data Narrator: NL-to-SQL BI Copilot with Auto-Insights</a:t>
            </a:r>
          </a:p>
        </p:txBody>
      </p:sp>
      <p:sp>
        <p:nvSpPr>
          <p:cNvPr id="332" name="Findings card"/>
          <p:cNvSpPr/>
          <p:nvPr/>
        </p:nvSpPr>
        <p:spPr>
          <a:xfrm>
            <a:off x="502920" y="1325879"/>
            <a:ext cx="9539714" cy="4499479"/>
          </a:xfrm>
          <a:prstGeom prst="roundRect">
            <a:avLst>
              <a:gd name="adj" fmla="val 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 dirty="0"/>
          </a:p>
        </p:txBody>
      </p:sp>
      <p:sp>
        <p:nvSpPr>
          <p:cNvPr id="333" name="Findings heading"/>
          <p:cNvSpPr txBox="1"/>
          <p:nvPr/>
        </p:nvSpPr>
        <p:spPr>
          <a:xfrm>
            <a:off x="640080" y="1388827"/>
            <a:ext cx="4937760" cy="520262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B3A6B"/>
                </a:solidFill>
                <a:latin typeface="Calibri"/>
                <a:cs typeface="Calibri"/>
              </a:rPr>
              <a:t>Verified in the implemented application</a:t>
            </a:r>
          </a:p>
        </p:txBody>
      </p:sp>
      <p:sp>
        <p:nvSpPr>
          <p:cNvPr id="334" name="Findings list"/>
          <p:cNvSpPr txBox="1"/>
          <p:nvPr/>
        </p:nvSpPr>
        <p:spPr>
          <a:xfrm>
            <a:off x="640080" y="1783080"/>
            <a:ext cx="10240254" cy="38831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Tested on the original Superstore dataset</a:t>
            </a:r>
          </a:p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Tested on a second retail dataset with a different schema</a:t>
            </a:r>
          </a:p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Natural-language question → SQL → DuckDB result</a:t>
            </a:r>
          </a:p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Application-side SQL safety checks implemented</a:t>
            </a:r>
          </a:p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Tables, charts, and business insights shown in the app</a:t>
            </a:r>
          </a:p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Follow-up handling and in-memory session history</a:t>
            </a:r>
          </a:p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Docker image built and tested end-to-end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Data Narrator: NL-to-SQL BI Copilot with Auto-Insights</a:t>
            </a:r>
          </a:p>
        </p:txBody>
      </p:sp>
      <p:sp>
        <p:nvSpPr>
          <p:cNvPr id="340" name="Contribution card"/>
          <p:cNvSpPr/>
          <p:nvPr/>
        </p:nvSpPr>
        <p:spPr>
          <a:xfrm>
            <a:off x="502920" y="1371600"/>
            <a:ext cx="5669280" cy="4206240"/>
          </a:xfrm>
          <a:prstGeom prst="roundRect">
            <a:avLst>
              <a:gd name="adj" fmla="val 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41" name="Contribution heading"/>
          <p:cNvSpPr txBox="1"/>
          <p:nvPr/>
        </p:nvSpPr>
        <p:spPr>
          <a:xfrm>
            <a:off x="731520" y="1481328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B3A6B"/>
                </a:solidFill>
                <a:latin typeface="Calibri"/>
                <a:cs typeface="Calibri"/>
              </a:rPr>
              <a:t>Key Contributions</a:t>
            </a:r>
          </a:p>
        </p:txBody>
      </p:sp>
      <p:sp>
        <p:nvSpPr>
          <p:cNvPr id="342" name="Contribution list"/>
          <p:cNvSpPr txBox="1"/>
          <p:nvPr/>
        </p:nvSpPr>
        <p:spPr>
          <a:xfrm>
            <a:off x="731520" y="2011680"/>
            <a:ext cx="5212080" cy="3474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Natural-language access to uploaded data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LLM-generated SQL with application-side safety checks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DuckDB query execution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Result-driven business insights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Dynamic Plotly visualizations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Support for different dataset schemas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Follow-up question handling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Docker containerization</a:t>
            </a:r>
          </a:p>
        </p:txBody>
      </p:sp>
      <p:sp>
        <p:nvSpPr>
          <p:cNvPr id="343" name="Future card"/>
          <p:cNvSpPr/>
          <p:nvPr/>
        </p:nvSpPr>
        <p:spPr>
          <a:xfrm>
            <a:off x="6400800" y="1371600"/>
            <a:ext cx="5257800" cy="4206240"/>
          </a:xfrm>
          <a:prstGeom prst="roundRect">
            <a:avLst>
              <a:gd name="adj" fmla="val 4000"/>
            </a:avLst>
          </a:prstGeom>
          <a:solidFill>
            <a:srgbClr val="1B3A6B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44" name="Future heading"/>
          <p:cNvSpPr txBox="1"/>
          <p:nvPr/>
        </p:nvSpPr>
        <p:spPr>
          <a:xfrm>
            <a:off x="6629400" y="148132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>Future Scope</a:t>
            </a:r>
          </a:p>
        </p:txBody>
      </p:sp>
      <p:sp>
        <p:nvSpPr>
          <p:cNvPr id="345" name="Future list"/>
          <p:cNvSpPr txBox="1"/>
          <p:nvPr/>
        </p:nvSpPr>
        <p:spPr>
          <a:xfrm>
            <a:off x="6629400" y="2011680"/>
            <a:ext cx="4846320" cy="3474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FFFFFF"/>
                </a:solidFill>
                <a:latin typeface="Calibri"/>
                <a:cs typeface="Calibri"/>
              </a:rPr>
              <a:t>Formal evaluation across multiple questions and datasets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FFFFFF"/>
                </a:solidFill>
                <a:latin typeface="Calibri"/>
                <a:cs typeface="Calibri"/>
              </a:rPr>
              <a:t>Measure SQL correctness, result correctness, and chart suitability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FFFFFF"/>
                </a:solidFill>
                <a:latin typeface="Calibri"/>
                <a:cs typeface="Calibri"/>
              </a:rPr>
              <a:t>Better context handling for complex follow-ups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FFFFFF"/>
                </a:solidFill>
                <a:latin typeface="Calibri"/>
                <a:cs typeface="Calibri"/>
              </a:rPr>
              <a:t>Complete documentation and GitHub README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FFFFFF"/>
                </a:solidFill>
                <a:latin typeface="Calibri"/>
                <a:cs typeface="Calibri"/>
              </a:rPr>
              <a:t>Optional cloud deployment and hosted AI integration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Data Narrator: NL-to-SQL BI Copilot with Auto-Insights</a:t>
            </a:r>
          </a:p>
        </p:txBody>
      </p:sp>
      <p:sp>
        <p:nvSpPr>
          <p:cNvPr id="349" name="Reference row 1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50" name="Reference number 1"/>
          <p:cNvSpPr txBox="1"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E5AAC"/>
                </a:solidFill>
                <a:latin typeface="Calibri"/>
                <a:cs typeface="Calibri"/>
              </a:rPr>
              <a:t>[1]</a:t>
            </a:r>
          </a:p>
        </p:txBody>
      </p:sp>
      <p:sp>
        <p:nvSpPr>
          <p:cNvPr id="351" name="Reference name 1"/>
          <p:cNvSpPr txBox="1"/>
          <p:nvPr/>
        </p:nvSpPr>
        <p:spPr>
          <a:xfrm>
            <a:off x="1280160" y="137160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Streamlit Documentation</a:t>
            </a:r>
          </a:p>
        </p:txBody>
      </p:sp>
      <p:sp>
        <p:nvSpPr>
          <p:cNvPr id="352" name="Reference url 1"/>
          <p:cNvSpPr txBox="1"/>
          <p:nvPr/>
        </p:nvSpPr>
        <p:spPr>
          <a:xfrm>
            <a:off x="5852160" y="1371600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22B38"/>
                </a:solidFill>
                <a:latin typeface="Calibri"/>
                <a:cs typeface="Calibri"/>
              </a:rPr>
              <a:t>https://docs.streamlit.io</a:t>
            </a:r>
          </a:p>
        </p:txBody>
      </p:sp>
      <p:sp>
        <p:nvSpPr>
          <p:cNvPr id="353" name="Reference row 2"/>
          <p:cNvSpPr/>
          <p:nvPr/>
        </p:nvSpPr>
        <p:spPr>
          <a:xfrm>
            <a:off x="502920" y="1993392"/>
            <a:ext cx="11155680" cy="548640"/>
          </a:xfrm>
          <a:prstGeom prst="roundRect">
            <a:avLst>
              <a:gd name="adj" fmla="val 14000"/>
            </a:avLst>
          </a:prstGeom>
          <a:solidFill>
            <a:srgbClr val="F7FAFC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54" name="Reference number 2"/>
          <p:cNvSpPr txBox="1"/>
          <p:nvPr/>
        </p:nvSpPr>
        <p:spPr>
          <a:xfrm>
            <a:off x="640080" y="19933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E5AAC"/>
                </a:solidFill>
                <a:latin typeface="Calibri"/>
                <a:cs typeface="Calibri"/>
              </a:rPr>
              <a:t>[2]</a:t>
            </a:r>
          </a:p>
        </p:txBody>
      </p:sp>
      <p:sp>
        <p:nvSpPr>
          <p:cNvPr id="355" name="Reference name 2"/>
          <p:cNvSpPr txBox="1"/>
          <p:nvPr/>
        </p:nvSpPr>
        <p:spPr>
          <a:xfrm>
            <a:off x="1280160" y="199339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pandas Documentation</a:t>
            </a:r>
          </a:p>
        </p:txBody>
      </p:sp>
      <p:sp>
        <p:nvSpPr>
          <p:cNvPr id="356" name="Reference url 2"/>
          <p:cNvSpPr txBox="1"/>
          <p:nvPr/>
        </p:nvSpPr>
        <p:spPr>
          <a:xfrm>
            <a:off x="5852160" y="1993392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22B38"/>
                </a:solidFill>
                <a:latin typeface="Calibri"/>
                <a:cs typeface="Calibri"/>
              </a:rPr>
              <a:t>https://pandas.pydata.org/docs/</a:t>
            </a:r>
          </a:p>
        </p:txBody>
      </p:sp>
      <p:sp>
        <p:nvSpPr>
          <p:cNvPr id="357" name="Reference row 3"/>
          <p:cNvSpPr/>
          <p:nvPr/>
        </p:nvSpPr>
        <p:spPr>
          <a:xfrm>
            <a:off x="502920" y="2615184"/>
            <a:ext cx="11155680" cy="548640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58" name="Reference number 3"/>
          <p:cNvSpPr txBox="1"/>
          <p:nvPr/>
        </p:nvSpPr>
        <p:spPr>
          <a:xfrm>
            <a:off x="640080" y="261518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E5AAC"/>
                </a:solidFill>
                <a:latin typeface="Calibri"/>
                <a:cs typeface="Calibri"/>
              </a:rPr>
              <a:t>[3]</a:t>
            </a:r>
          </a:p>
        </p:txBody>
      </p:sp>
      <p:sp>
        <p:nvSpPr>
          <p:cNvPr id="359" name="Reference name 3"/>
          <p:cNvSpPr txBox="1"/>
          <p:nvPr/>
        </p:nvSpPr>
        <p:spPr>
          <a:xfrm>
            <a:off x="1280160" y="2615184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DuckDB Documentation</a:t>
            </a:r>
          </a:p>
        </p:txBody>
      </p:sp>
      <p:sp>
        <p:nvSpPr>
          <p:cNvPr id="360" name="Reference url 3"/>
          <p:cNvSpPr txBox="1"/>
          <p:nvPr/>
        </p:nvSpPr>
        <p:spPr>
          <a:xfrm>
            <a:off x="5852160" y="2615184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22B38"/>
                </a:solidFill>
                <a:latin typeface="Calibri"/>
                <a:cs typeface="Calibri"/>
              </a:rPr>
              <a:t>https://duckdb.org/docs/</a:t>
            </a:r>
          </a:p>
        </p:txBody>
      </p:sp>
      <p:sp>
        <p:nvSpPr>
          <p:cNvPr id="361" name="Reference row 4"/>
          <p:cNvSpPr/>
          <p:nvPr/>
        </p:nvSpPr>
        <p:spPr>
          <a:xfrm>
            <a:off x="502920" y="3236976"/>
            <a:ext cx="11155680" cy="548640"/>
          </a:xfrm>
          <a:prstGeom prst="roundRect">
            <a:avLst>
              <a:gd name="adj" fmla="val 14000"/>
            </a:avLst>
          </a:prstGeom>
          <a:solidFill>
            <a:srgbClr val="F7FAFC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62" name="Reference number 4"/>
          <p:cNvSpPr txBox="1"/>
          <p:nvPr/>
        </p:nvSpPr>
        <p:spPr>
          <a:xfrm>
            <a:off x="640080" y="323697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E5AAC"/>
                </a:solidFill>
                <a:latin typeface="Calibri"/>
                <a:cs typeface="Calibri"/>
              </a:rPr>
              <a:t>[4]</a:t>
            </a:r>
          </a:p>
        </p:txBody>
      </p:sp>
      <p:sp>
        <p:nvSpPr>
          <p:cNvPr id="363" name="Reference name 4"/>
          <p:cNvSpPr txBox="1"/>
          <p:nvPr/>
        </p:nvSpPr>
        <p:spPr>
          <a:xfrm>
            <a:off x="1280160" y="3236976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Plotly Python Graphing Library</a:t>
            </a:r>
          </a:p>
        </p:txBody>
      </p:sp>
      <p:sp>
        <p:nvSpPr>
          <p:cNvPr id="364" name="Reference url 4"/>
          <p:cNvSpPr txBox="1"/>
          <p:nvPr/>
        </p:nvSpPr>
        <p:spPr>
          <a:xfrm>
            <a:off x="5852160" y="3236976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22B38"/>
                </a:solidFill>
                <a:latin typeface="Calibri"/>
                <a:cs typeface="Calibri"/>
              </a:rPr>
              <a:t>https://plotly.com/python/</a:t>
            </a:r>
          </a:p>
        </p:txBody>
      </p:sp>
      <p:sp>
        <p:nvSpPr>
          <p:cNvPr id="365" name="Reference row 5"/>
          <p:cNvSpPr/>
          <p:nvPr/>
        </p:nvSpPr>
        <p:spPr>
          <a:xfrm>
            <a:off x="502920" y="3858768"/>
            <a:ext cx="11155680" cy="548640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66" name="Reference number 5"/>
          <p:cNvSpPr txBox="1"/>
          <p:nvPr/>
        </p:nvSpPr>
        <p:spPr>
          <a:xfrm>
            <a:off x="640080" y="385876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E5AAC"/>
                </a:solidFill>
                <a:latin typeface="Calibri"/>
                <a:cs typeface="Calibri"/>
              </a:rPr>
              <a:t>[5]</a:t>
            </a:r>
          </a:p>
        </p:txBody>
      </p:sp>
      <p:sp>
        <p:nvSpPr>
          <p:cNvPr id="367" name="Reference name 5"/>
          <p:cNvSpPr txBox="1"/>
          <p:nvPr/>
        </p:nvSpPr>
        <p:spPr>
          <a:xfrm>
            <a:off x="1280160" y="3858768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Ollama Documentation</a:t>
            </a:r>
          </a:p>
        </p:txBody>
      </p:sp>
      <p:sp>
        <p:nvSpPr>
          <p:cNvPr id="368" name="Reference url 5"/>
          <p:cNvSpPr txBox="1"/>
          <p:nvPr/>
        </p:nvSpPr>
        <p:spPr>
          <a:xfrm>
            <a:off x="5852160" y="3858768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22B38"/>
                </a:solidFill>
                <a:latin typeface="Calibri"/>
                <a:cs typeface="Calibri"/>
              </a:rPr>
              <a:t>https://docs.ollama.com</a:t>
            </a:r>
          </a:p>
        </p:txBody>
      </p:sp>
      <p:sp>
        <p:nvSpPr>
          <p:cNvPr id="369" name="Reference row 6"/>
          <p:cNvSpPr/>
          <p:nvPr/>
        </p:nvSpPr>
        <p:spPr>
          <a:xfrm>
            <a:off x="502920" y="4480560"/>
            <a:ext cx="11155680" cy="548640"/>
          </a:xfrm>
          <a:prstGeom prst="roundRect">
            <a:avLst>
              <a:gd name="adj" fmla="val 14000"/>
            </a:avLst>
          </a:prstGeom>
          <a:solidFill>
            <a:srgbClr val="F7FAFC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70" name="Reference number 6"/>
          <p:cNvSpPr txBox="1"/>
          <p:nvPr/>
        </p:nvSpPr>
        <p:spPr>
          <a:xfrm>
            <a:off x="640080" y="44805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E5AAC"/>
                </a:solidFill>
                <a:latin typeface="Calibri"/>
                <a:cs typeface="Calibri"/>
              </a:rPr>
              <a:t>[6]</a:t>
            </a:r>
          </a:p>
        </p:txBody>
      </p:sp>
      <p:sp>
        <p:nvSpPr>
          <p:cNvPr id="371" name="Reference name 6"/>
          <p:cNvSpPr txBox="1"/>
          <p:nvPr/>
        </p:nvSpPr>
        <p:spPr>
          <a:xfrm>
            <a:off x="1280160" y="448056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Docker Documentation</a:t>
            </a:r>
          </a:p>
        </p:txBody>
      </p:sp>
      <p:sp>
        <p:nvSpPr>
          <p:cNvPr id="372" name="Reference url 6"/>
          <p:cNvSpPr txBox="1"/>
          <p:nvPr/>
        </p:nvSpPr>
        <p:spPr>
          <a:xfrm>
            <a:off x="5852160" y="4480560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22B38"/>
                </a:solidFill>
                <a:latin typeface="Calibri"/>
                <a:cs typeface="Calibri"/>
              </a:rPr>
              <a:t>https://docs.docker.com</a:t>
            </a:r>
          </a:p>
        </p:txBody>
      </p:sp>
      <p:sp>
        <p:nvSpPr>
          <p:cNvPr id="373" name="Reference row 7"/>
          <p:cNvSpPr/>
          <p:nvPr/>
        </p:nvSpPr>
        <p:spPr>
          <a:xfrm>
            <a:off x="502920" y="5102352"/>
            <a:ext cx="11155680" cy="548640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74" name="Reference number 7"/>
          <p:cNvSpPr txBox="1"/>
          <p:nvPr/>
        </p:nvSpPr>
        <p:spPr>
          <a:xfrm>
            <a:off x="640080" y="510235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E5AAC"/>
                </a:solidFill>
                <a:latin typeface="Calibri"/>
                <a:cs typeface="Calibri"/>
              </a:rPr>
              <a:t>[7]</a:t>
            </a:r>
          </a:p>
        </p:txBody>
      </p:sp>
      <p:sp>
        <p:nvSpPr>
          <p:cNvPr id="375" name="Reference name 7"/>
          <p:cNvSpPr txBox="1"/>
          <p:nvPr/>
        </p:nvSpPr>
        <p:spPr>
          <a:xfrm>
            <a:off x="1280160" y="510235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Meta, “Introducing Llama 3.1”</a:t>
            </a:r>
          </a:p>
        </p:txBody>
      </p:sp>
      <p:sp>
        <p:nvSpPr>
          <p:cNvPr id="376" name="Reference url 7"/>
          <p:cNvSpPr txBox="1"/>
          <p:nvPr/>
        </p:nvSpPr>
        <p:spPr>
          <a:xfrm>
            <a:off x="5852160" y="5102352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22B38"/>
                </a:solidFill>
                <a:latin typeface="Calibri"/>
                <a:cs typeface="Calibri"/>
              </a:rPr>
              <a:t>https://ai.meta.com/blog/meta-llama-3-1/</a:t>
            </a:r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930</Words>
  <Application>Microsoft Office PowerPoint</Application>
  <PresentationFormat>Widescreen</PresentationFormat>
  <Paragraphs>193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Nainshi Tikait 25MML0026</cp:lastModifiedBy>
  <cp:revision>2</cp:revision>
  <dcterms:modified xsi:type="dcterms:W3CDTF">2026-10-11T13:41:35Z</dcterms:modified>
</cp:coreProperties>
</file>