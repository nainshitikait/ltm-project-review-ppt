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65" r:id="rId21"/>
    <p:sldId id="276" r:id="rId22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84" y="1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B3F4D17B-9B25-2D63-E389-71163BD2C8E7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FFC4ED1-FB42-4A6C-B292-B8C58946A85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535A630-145D-4232-9865-98341E30F7D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7083635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F837F2-3C53-43E6-9F25-242D13C5AB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02C3C5-9B28-493B-9422-74FF4AE1808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4704361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A9B68FAD-9CFA-CBF0-4B37-9944C2E932A1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D4B6E2-CC70-4366-ABC8-87480CC35B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A0D34EE-ED80-45A7-B964-53ED80D946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330363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13BCD6-D227-4C30-8364-6F161FA122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DC3054-5604-4679-AF7D-07BF06BE01A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247BA85-32D5-4EA3-9F8B-5A8B9251743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1961234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6F33A1-3BE5-4F1B-8E70-0822549022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C4CAE0-72F2-4F22-A85A-772E3DA044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EDE67E9-F76F-4049-98D4-82E9E7C800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B332A94-E906-4159-9FE4-E63CFAE0B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16D1AA-A642-4FEB-91F0-3F506A2AE8F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3936309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BF108-6EC2-4592-9D33-716E6B1AC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82673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738765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2AB71-FC15-4C88-A99B-0D66CDCEE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369B3E-A4BB-45D7-ABB7-1E151F04FE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4FD4C72-B215-468A-8722-23007428B0D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94330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F42731-906B-40B4-86D3-CD7878598D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61042F1-26FD-477E-A079-62384AA43EB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C52E8FE-8F89-4D08-8341-786A0381BB8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7385411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FB0375-D926-48D9-8605-813B1B64E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B8D7657-21CC-45AA-A2CE-92653962FC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93649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4A09EBA-4206-40BF-81B1-742CF8BD5B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  <a:prstGeom prst="rect">
            <a:avLst/>
          </a:prstGeo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B8BE7B-6EB1-4B41-A25B-B41833E5B2B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11384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255996" y="1271219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  <p:sp>
        <p:nvSpPr>
          <p:cNvPr id="4" name="Text Placeholder 13">
            <a:extLst>
              <a:ext uri="{FF2B5EF4-FFF2-40B4-BE49-F238E27FC236}">
                <a16:creationId xmlns:a16="http://schemas.microsoft.com/office/drawing/2014/main" id="{06C9D6B8-9A00-34FD-3E41-E67F07F278E4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255996" y="629525"/>
            <a:ext cx="10624338" cy="444565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2800" b="1" kern="1200" dirty="0">
                <a:solidFill>
                  <a:srgbClr val="0070C0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364773568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3">
            <a:extLst>
              <a:ext uri="{FF2B5EF4-FFF2-40B4-BE49-F238E27FC236}">
                <a16:creationId xmlns:a16="http://schemas.microsoft.com/office/drawing/2014/main" id="{F7878D79-3823-9575-1C88-56C4110E1E35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73803" y="469835"/>
            <a:ext cx="11672300" cy="650048"/>
          </a:xfrm>
        </p:spPr>
        <p:txBody>
          <a:bodyPr vert="horz" lIns="91440" tIns="45720" rIns="91440" bIns="45720" rtlCol="0">
            <a:noAutofit/>
          </a:bodyPr>
          <a:lstStyle>
            <a:lvl1pPr>
              <a:defRPr lang="en-US" sz="3200" b="1" kern="1200" dirty="0">
                <a:solidFill>
                  <a:srgbClr val="595959"/>
                </a:solidFill>
                <a:latin typeface="Frutiger 45 bold"/>
                <a:ea typeface="+mn-ea"/>
                <a:cs typeface="Calibri" panose="020F0502020204030204" pitchFamily="34" charset="0"/>
              </a:defRPr>
            </a:lvl1pPr>
          </a:lstStyle>
          <a:p>
            <a:pPr marL="0" lv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</a:pPr>
            <a:r>
              <a:rPr lang="en-US" dirty="0"/>
              <a:t>Title Here</a:t>
            </a:r>
          </a:p>
        </p:txBody>
      </p:sp>
    </p:spTree>
    <p:extLst>
      <p:ext uri="{BB962C8B-B14F-4D97-AF65-F5344CB8AC3E}">
        <p14:creationId xmlns:p14="http://schemas.microsoft.com/office/powerpoint/2010/main" val="24435425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3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microsoft.com/office/2007/relationships/hdphoto" Target="../media/hdphoto1.wdp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19" Type="http://schemas.microsoft.com/office/2007/relationships/hdphoto" Target="../media/hdphoto2.wdp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D087FE-85BE-5152-9EB5-3B57AE38DD48}"/>
              </a:ext>
            </a:extLst>
          </p:cNvPr>
          <p:cNvPicPr>
            <a:picLocks noChangeAspect="1"/>
          </p:cNvPicPr>
          <p:nvPr userDrawn="1"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5337544"/>
            <a:ext cx="12191994" cy="1548307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8EFA70D2-ADBF-0DD4-D7D1-F37201867E99}"/>
              </a:ext>
            </a:extLst>
          </p:cNvPr>
          <p:cNvSpPr/>
          <p:nvPr userDrawn="1"/>
        </p:nvSpPr>
        <p:spPr>
          <a:xfrm>
            <a:off x="0" y="0"/>
            <a:ext cx="12192000" cy="365125"/>
          </a:xfrm>
          <a:prstGeom prst="rect">
            <a:avLst/>
          </a:prstGeom>
          <a:gradFill>
            <a:gsLst>
              <a:gs pos="5000">
                <a:srgbClr val="47BDAE"/>
              </a:gs>
              <a:gs pos="59000">
                <a:srgbClr val="25B9ED"/>
              </a:gs>
              <a:gs pos="100000">
                <a:srgbClr val="FFFFFF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 sz="2000" b="1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BC08DB-FBED-4A43-AE4B-B2CE371FE6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77271" y="1191757"/>
            <a:ext cx="11004446" cy="479500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1028" name="Picture 4" descr="LTIMindtree logo in transparent PNG and vectorized SVG formats">
            <a:extLst>
              <a:ext uri="{FF2B5EF4-FFF2-40B4-BE49-F238E27FC236}">
                <a16:creationId xmlns:a16="http://schemas.microsoft.com/office/drawing/2014/main" id="{21F70453-17DB-04F6-290A-DCDEF9FDE02E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saturation sat="400000"/>
                    </a14:imgEffect>
                    <a14:imgEffect>
                      <a14:brightnessContrast bright="-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45387" y="6562429"/>
            <a:ext cx="1541059" cy="295571"/>
          </a:xfrm>
          <a:prstGeom prst="rect">
            <a:avLst/>
          </a:prstGeom>
          <a:noFill/>
        </p:spPr>
      </p:pic>
      <p:sp>
        <p:nvSpPr>
          <p:cNvPr id="6" name="Title Placeholder 1">
            <a:extLst>
              <a:ext uri="{FF2B5EF4-FFF2-40B4-BE49-F238E27FC236}">
                <a16:creationId xmlns:a16="http://schemas.microsoft.com/office/drawing/2014/main" id="{DBDE3A73-7407-B3B5-0BC2-D13C973D143A}"/>
              </a:ext>
            </a:extLst>
          </p:cNvPr>
          <p:cNvSpPr txBox="1">
            <a:spLocks/>
          </p:cNvSpPr>
          <p:nvPr userDrawn="1"/>
        </p:nvSpPr>
        <p:spPr>
          <a:xfrm>
            <a:off x="221274" y="88514"/>
            <a:ext cx="8176583" cy="110324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endParaRPr lang="en-US" dirty="0"/>
          </a:p>
        </p:txBody>
      </p: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70A0B4C8-C250-76C3-01DB-D728F6B32656}"/>
              </a:ext>
            </a:extLst>
          </p:cNvPr>
          <p:cNvSpPr txBox="1">
            <a:spLocks/>
          </p:cNvSpPr>
          <p:nvPr userDrawn="1"/>
        </p:nvSpPr>
        <p:spPr>
          <a:xfrm>
            <a:off x="391411" y="640135"/>
            <a:ext cx="11290305" cy="5237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>
              <a:latin typeface="Calibri (Body)"/>
            </a:endParaRPr>
          </a:p>
        </p:txBody>
      </p:sp>
      <p:sp>
        <p:nvSpPr>
          <p:cNvPr id="12" name="Text Placeholder 2">
            <a:extLst>
              <a:ext uri="{FF2B5EF4-FFF2-40B4-BE49-F238E27FC236}">
                <a16:creationId xmlns:a16="http://schemas.microsoft.com/office/drawing/2014/main" id="{349D7A90-F0A3-C216-D67E-9B86D1BECDF5}"/>
              </a:ext>
            </a:extLst>
          </p:cNvPr>
          <p:cNvSpPr txBox="1">
            <a:spLocks/>
          </p:cNvSpPr>
          <p:nvPr userDrawn="1"/>
        </p:nvSpPr>
        <p:spPr>
          <a:xfrm>
            <a:off x="158720" y="413891"/>
            <a:ext cx="10025576" cy="68594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383075D7-F006-A81F-68F1-A5F218FAF004}"/>
              </a:ext>
            </a:extLst>
          </p:cNvPr>
          <p:cNvPicPr>
            <a:picLocks noChangeAspect="1"/>
          </p:cNvPicPr>
          <p:nvPr userDrawn="1"/>
        </p:nvPicPr>
        <p:blipFill>
          <a:blip r:embed="rId18">
            <a:extLst>
              <a:ext uri="{BEBA8EAE-BF5A-486C-A8C5-ECC9F3942E4B}">
                <a14:imgProps xmlns:a14="http://schemas.microsoft.com/office/drawing/2010/main">
                  <a14:imgLayer r:embed="rId19">
                    <a14:imgEffect>
                      <a14:brightnessContrast bright="-20000" contrast="2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554" y="6358271"/>
            <a:ext cx="964436" cy="4112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0482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2.xml"/><Relationship Id="rId4" Type="http://schemas.microsoft.com/office/2007/relationships/hdphoto" Target="../media/hdphoto3.wdp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180236" y="1600200"/>
            <a:ext cx="11428184" cy="30213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Review III</a:t>
            </a:r>
          </a:p>
          <a:p>
            <a:pPr algn="ctr">
              <a:spcAft>
                <a:spcPts val="600"/>
              </a:spcAft>
            </a:pPr>
            <a:r>
              <a:rPr lang="en-US" sz="3000" b="1" i="0" dirty="0">
                <a:solidFill>
                  <a:srgbClr val="FFFFFF"/>
                </a:solidFill>
                <a:latin typeface="Calibri"/>
                <a:cs typeface="Calibri"/>
              </a:rPr>
              <a:t>Data Narrator: NL-to-SQL BI Copilot with Auto-Insights</a:t>
            </a:r>
          </a:p>
          <a:p>
            <a:pPr algn="ctr">
              <a:spcAft>
                <a:spcPts val="1800"/>
              </a:spcAft>
            </a:pPr>
            <a:r>
              <a:rPr lang="en-US" sz="1800" b="0" i="1" dirty="0">
                <a:solidFill>
                  <a:srgbClr val="FFFFFF"/>
                </a:solidFill>
                <a:latin typeface="Calibri"/>
                <a:cs typeface="Calibri"/>
              </a:rPr>
              <a:t>Natural Language → SQL → Data → Visualization → Insight</a:t>
            </a:r>
          </a:p>
          <a:p>
            <a:pPr algn="ctr">
              <a:spcAft>
                <a:spcPts val="200"/>
              </a:spcAft>
            </a:pPr>
            <a:r>
              <a:rPr lang="en-US" sz="2600" b="1" i="0" dirty="0">
                <a:solidFill>
                  <a:srgbClr val="FFFFFF"/>
                </a:solidFill>
                <a:latin typeface="Calibri"/>
                <a:cs typeface="Calibri"/>
              </a:rPr>
              <a:t>Nainshi Tikait</a:t>
            </a:r>
          </a:p>
          <a:p>
            <a:pPr algn="ctr">
              <a:spcAft>
                <a:spcPts val="200"/>
              </a:spcAft>
            </a:pPr>
            <a:r>
              <a:rPr lang="en-US" sz="2000" b="0" i="0" dirty="0">
                <a:solidFill>
                  <a:srgbClr val="FFFFFF"/>
                </a:solidFill>
                <a:latin typeface="Calibri"/>
                <a:cs typeface="Calibri"/>
              </a:rPr>
              <a:t>T9919</a:t>
            </a:r>
          </a:p>
          <a:p>
            <a:pPr algn="ctr">
              <a:spcAft>
                <a:spcPts val="200"/>
              </a:spcAft>
            </a:pPr>
            <a:r>
              <a:rPr lang="en-US" sz="2000" b="0" i="0" dirty="0">
                <a:solidFill>
                  <a:srgbClr val="FFFFFF"/>
                </a:solidFill>
                <a:latin typeface="Calibri"/>
                <a:cs typeface="Calibri"/>
              </a:rPr>
              <a:t>M.Tech Artificial Intelligence and Machine Learning</a:t>
            </a:r>
          </a:p>
          <a:p>
            <a:pPr algn="ctr">
              <a:spcAft>
                <a:spcPts val="0"/>
              </a:spcAft>
            </a:pPr>
            <a:r>
              <a:rPr lang="en-US" sz="2000" b="0" i="0" dirty="0">
                <a:solidFill>
                  <a:srgbClr val="FFFFFF"/>
                </a:solidFill>
                <a:latin typeface="Calibri"/>
                <a:cs typeface="Calibri"/>
              </a:rPr>
              <a:t>VIT Vellore  |  2025–2027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4495075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Data Narrator: NL-to-SQL BI Copilot with Auto-Insights</a:t>
            </a:r>
          </a:p>
        </p:txBody>
      </p:sp>
      <p:sp>
        <p:nvSpPr>
          <p:cNvPr id="201" name="Intro bullets"/>
          <p:cNvSpPr txBox="1"/>
          <p:nvPr/>
        </p:nvSpPr>
        <p:spPr>
          <a:xfrm>
            <a:off x="502920" y="1371600"/>
            <a:ext cx="11155680" cy="30175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000" b="1" i="0" dirty="0">
                <a:solidFill>
                  <a:srgbClr val="1B3A6B"/>
                </a:solidFill>
                <a:latin typeface="Calibri"/>
                <a:cs typeface="Calibri"/>
              </a:rPr>
              <a:t>Business users often depend on analysts or technical staff </a:t>
            </a: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for data-driven answers.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000" b="1" i="0" dirty="0">
                <a:solidFill>
                  <a:srgbClr val="1B3A6B"/>
                </a:solidFill>
                <a:latin typeface="Calibri"/>
                <a:cs typeface="Calibri"/>
              </a:rPr>
              <a:t>SQL knowledge is a barrier </a:t>
            </a: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to independent data exploration.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000" b="1" i="0" dirty="0">
                <a:solidFill>
                  <a:srgbClr val="1B3A6B"/>
                </a:solidFill>
                <a:latin typeface="Calibri"/>
                <a:cs typeface="Calibri"/>
              </a:rPr>
              <a:t>Data Narrator lets users ask analytical questions in plain English </a:t>
            </a: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on their own CSV / Excel data.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2000" b="1" i="0" dirty="0">
                <a:solidFill>
                  <a:srgbClr val="1B3A6B"/>
                </a:solidFill>
                <a:latin typeface="Calibri"/>
                <a:cs typeface="Calibri"/>
              </a:rPr>
              <a:t>The app converts the question into SQL, </a:t>
            </a: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retrieves results, builds a chart, and writes a concise insight.</a:t>
            </a:r>
          </a:p>
        </p:txBody>
      </p:sp>
      <p:sp>
        <p:nvSpPr>
          <p:cNvPr id="202" name="Pipeline caption"/>
          <p:cNvSpPr txBox="1"/>
          <p:nvPr/>
        </p:nvSpPr>
        <p:spPr>
          <a:xfrm>
            <a:off x="518008" y="4526280"/>
            <a:ext cx="9144000" cy="3200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5F6B7A"/>
                </a:solidFill>
                <a:latin typeface="Calibri"/>
                <a:cs typeface="Calibri"/>
              </a:rPr>
              <a:t>Core idea: from question to insight</a:t>
            </a:r>
          </a:p>
        </p:txBody>
      </p:sp>
      <p:sp>
        <p:nvSpPr>
          <p:cNvPr id="203" name="Pipeline Natural Language"/>
          <p:cNvSpPr/>
          <p:nvPr/>
        </p:nvSpPr>
        <p:spPr>
          <a:xfrm>
            <a:off x="518008" y="4892040"/>
            <a:ext cx="1828800" cy="640080"/>
          </a:xfrm>
          <a:prstGeom prst="roundRect">
            <a:avLst/>
          </a:prstGeom>
          <a:solidFill>
            <a:srgbClr val="5F6B7A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Natural Language</a:t>
            </a:r>
          </a:p>
        </p:txBody>
      </p:sp>
      <p:cxnSp>
        <p:nvCxnSpPr>
          <p:cNvPr id="204" name="Pipeline arrow 0"/>
          <p:cNvCxnSpPr/>
          <p:nvPr/>
        </p:nvCxnSpPr>
        <p:spPr>
          <a:xfrm>
            <a:off x="2392528" y="5212080"/>
            <a:ext cx="411480" cy="0"/>
          </a:xfrm>
          <a:prstGeom prst="line">
            <a:avLst/>
          </a:prstGeom>
          <a:ln w="31750">
            <a:solidFill>
              <a:srgbClr val="5F6B7A"/>
            </a:solidFill>
            <a:tailEnd type="triangle" w="med" len="med"/>
          </a:ln>
        </p:spPr>
      </p:cxnSp>
      <p:sp>
        <p:nvSpPr>
          <p:cNvPr id="205" name="Pipeline SQL"/>
          <p:cNvSpPr/>
          <p:nvPr/>
        </p:nvSpPr>
        <p:spPr>
          <a:xfrm>
            <a:off x="2849728" y="4892040"/>
            <a:ext cx="1828800" cy="640080"/>
          </a:xfrm>
          <a:prstGeom prst="roundRect">
            <a:avLst/>
          </a:prstGeom>
          <a:solidFill>
            <a:srgbClr val="2E5AA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SQL</a:t>
            </a:r>
          </a:p>
        </p:txBody>
      </p:sp>
      <p:cxnSp>
        <p:nvCxnSpPr>
          <p:cNvPr id="206" name="Pipeline arrow 1"/>
          <p:cNvCxnSpPr/>
          <p:nvPr/>
        </p:nvCxnSpPr>
        <p:spPr>
          <a:xfrm>
            <a:off x="4724248" y="5212080"/>
            <a:ext cx="411480" cy="0"/>
          </a:xfrm>
          <a:prstGeom prst="line">
            <a:avLst/>
          </a:prstGeom>
          <a:ln w="31750">
            <a:solidFill>
              <a:srgbClr val="5F6B7A"/>
            </a:solidFill>
            <a:tailEnd type="triangle" w="med" len="med"/>
          </a:ln>
        </p:spPr>
      </p:cxnSp>
      <p:sp>
        <p:nvSpPr>
          <p:cNvPr id="207" name="Pipeline Data"/>
          <p:cNvSpPr/>
          <p:nvPr/>
        </p:nvSpPr>
        <p:spPr>
          <a:xfrm>
            <a:off x="5181448" y="4892040"/>
            <a:ext cx="1828800" cy="640080"/>
          </a:xfrm>
          <a:prstGeom prst="roundRect">
            <a:avLst/>
          </a:prstGeom>
          <a:solidFill>
            <a:srgbClr val="0E8C8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Data</a:t>
            </a:r>
          </a:p>
        </p:txBody>
      </p:sp>
      <p:cxnSp>
        <p:nvCxnSpPr>
          <p:cNvPr id="208" name="Pipeline arrow 2"/>
          <p:cNvCxnSpPr/>
          <p:nvPr/>
        </p:nvCxnSpPr>
        <p:spPr>
          <a:xfrm>
            <a:off x="7055968" y="5212080"/>
            <a:ext cx="411480" cy="0"/>
          </a:xfrm>
          <a:prstGeom prst="line">
            <a:avLst/>
          </a:prstGeom>
          <a:ln w="31750">
            <a:solidFill>
              <a:srgbClr val="5F6B7A"/>
            </a:solidFill>
            <a:tailEnd type="triangle" w="med" len="med"/>
          </a:ln>
        </p:spPr>
      </p:cxnSp>
      <p:sp>
        <p:nvSpPr>
          <p:cNvPr id="209" name="Pipeline Visualization"/>
          <p:cNvSpPr/>
          <p:nvPr/>
        </p:nvSpPr>
        <p:spPr>
          <a:xfrm>
            <a:off x="7513168" y="4892040"/>
            <a:ext cx="1828800" cy="640080"/>
          </a:xfrm>
          <a:prstGeom prst="roundRect">
            <a:avLst/>
          </a:prstGeom>
          <a:solidFill>
            <a:srgbClr val="3A9D5D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Visualization</a:t>
            </a:r>
          </a:p>
        </p:txBody>
      </p:sp>
      <p:cxnSp>
        <p:nvCxnSpPr>
          <p:cNvPr id="210" name="Pipeline arrow 3"/>
          <p:cNvCxnSpPr/>
          <p:nvPr/>
        </p:nvCxnSpPr>
        <p:spPr>
          <a:xfrm>
            <a:off x="9387688" y="5212080"/>
            <a:ext cx="411480" cy="0"/>
          </a:xfrm>
          <a:prstGeom prst="line">
            <a:avLst/>
          </a:prstGeom>
          <a:ln w="31750">
            <a:solidFill>
              <a:srgbClr val="5F6B7A"/>
            </a:solidFill>
            <a:tailEnd type="triangle" w="med" len="med"/>
          </a:ln>
        </p:spPr>
      </p:cxnSp>
      <p:sp>
        <p:nvSpPr>
          <p:cNvPr id="211" name="Pipeline Insight"/>
          <p:cNvSpPr/>
          <p:nvPr/>
        </p:nvSpPr>
        <p:spPr>
          <a:xfrm>
            <a:off x="9844888" y="4892040"/>
            <a:ext cx="1828800" cy="64008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1" i="0" dirty="0">
                <a:solidFill>
                  <a:srgbClr val="FFFFFF"/>
                </a:solidFill>
                <a:latin typeface="Calibri"/>
                <a:cs typeface="Calibri"/>
              </a:rPr>
              <a:t>Insight</a:t>
            </a:r>
          </a:p>
        </p:txBody>
      </p:sp>
    </p:spTree>
    <p:extLst>
      <p:ext uri="{BB962C8B-B14F-4D97-AF65-F5344CB8AC3E}">
        <p14:creationId xmlns:p14="http://schemas.microsoft.com/office/powerpoint/2010/main" val="20881806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Data Narrator: NL-to-SQL BI Copilot with Auto-Insights</a:t>
            </a:r>
          </a:p>
        </p:txBody>
      </p:sp>
      <p:sp>
        <p:nvSpPr>
          <p:cNvPr id="212" name="Objective card 1"/>
          <p:cNvSpPr/>
          <p:nvPr/>
        </p:nvSpPr>
        <p:spPr>
          <a:xfrm>
            <a:off x="502920" y="1371600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13" name="Objective number 1"/>
          <p:cNvSpPr/>
          <p:nvPr/>
        </p:nvSpPr>
        <p:spPr>
          <a:xfrm>
            <a:off x="640080" y="1554480"/>
            <a:ext cx="530352" cy="530352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14" name="Objective text 1"/>
          <p:cNvSpPr txBox="1"/>
          <p:nvPr/>
        </p:nvSpPr>
        <p:spPr>
          <a:xfrm>
            <a:off x="1307592" y="1444752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Convert natural-language questions into SQL queries</a:t>
            </a:r>
          </a:p>
        </p:txBody>
      </p:sp>
      <p:sp>
        <p:nvSpPr>
          <p:cNvPr id="215" name="Objective card 2"/>
          <p:cNvSpPr/>
          <p:nvPr/>
        </p:nvSpPr>
        <p:spPr>
          <a:xfrm>
            <a:off x="6217920" y="1371600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16" name="Objective number 2"/>
          <p:cNvSpPr/>
          <p:nvPr/>
        </p:nvSpPr>
        <p:spPr>
          <a:xfrm>
            <a:off x="6355080" y="1554480"/>
            <a:ext cx="530352" cy="530352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17" name="Objective text 2"/>
          <p:cNvSpPr txBox="1"/>
          <p:nvPr/>
        </p:nvSpPr>
        <p:spPr>
          <a:xfrm>
            <a:off x="7022592" y="1444752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Support analysis across different uploaded dataset schemas</a:t>
            </a:r>
          </a:p>
        </p:txBody>
      </p:sp>
      <p:sp>
        <p:nvSpPr>
          <p:cNvPr id="218" name="Objective card 3"/>
          <p:cNvSpPr/>
          <p:nvPr/>
        </p:nvSpPr>
        <p:spPr>
          <a:xfrm>
            <a:off x="502920" y="2450592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19" name="Objective number 3"/>
          <p:cNvSpPr/>
          <p:nvPr/>
        </p:nvSpPr>
        <p:spPr>
          <a:xfrm>
            <a:off x="640080" y="2633472"/>
            <a:ext cx="530352" cy="530352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20" name="Objective text 3"/>
          <p:cNvSpPr txBox="1"/>
          <p:nvPr/>
        </p:nvSpPr>
        <p:spPr>
          <a:xfrm>
            <a:off x="1307592" y="2523744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Validate generated SQL before execution</a:t>
            </a:r>
          </a:p>
        </p:txBody>
      </p:sp>
      <p:sp>
        <p:nvSpPr>
          <p:cNvPr id="221" name="Objective card 4"/>
          <p:cNvSpPr/>
          <p:nvPr/>
        </p:nvSpPr>
        <p:spPr>
          <a:xfrm>
            <a:off x="6217920" y="2450592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22" name="Objective number 4"/>
          <p:cNvSpPr/>
          <p:nvPr/>
        </p:nvSpPr>
        <p:spPr>
          <a:xfrm>
            <a:off x="6355080" y="2633472"/>
            <a:ext cx="530352" cy="530352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23" name="Objective text 4"/>
          <p:cNvSpPr txBox="1"/>
          <p:nvPr/>
        </p:nvSpPr>
        <p:spPr>
          <a:xfrm>
            <a:off x="7022592" y="2523744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Retrieve information from DuckDB</a:t>
            </a:r>
          </a:p>
        </p:txBody>
      </p:sp>
      <p:sp>
        <p:nvSpPr>
          <p:cNvPr id="224" name="Objective card 5"/>
          <p:cNvSpPr/>
          <p:nvPr/>
        </p:nvSpPr>
        <p:spPr>
          <a:xfrm>
            <a:off x="502920" y="3529584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25" name="Objective number 5"/>
          <p:cNvSpPr/>
          <p:nvPr/>
        </p:nvSpPr>
        <p:spPr>
          <a:xfrm>
            <a:off x="640080" y="3712464"/>
            <a:ext cx="530352" cy="530352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26" name="Objective text 5"/>
          <p:cNvSpPr txBox="1"/>
          <p:nvPr/>
        </p:nvSpPr>
        <p:spPr>
          <a:xfrm>
            <a:off x="1307592" y="3602736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Generate data-driven business insights</a:t>
            </a:r>
          </a:p>
        </p:txBody>
      </p:sp>
      <p:sp>
        <p:nvSpPr>
          <p:cNvPr id="227" name="Objective card 6"/>
          <p:cNvSpPr/>
          <p:nvPr/>
        </p:nvSpPr>
        <p:spPr>
          <a:xfrm>
            <a:off x="6217920" y="3529584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28" name="Objective number 6"/>
          <p:cNvSpPr/>
          <p:nvPr/>
        </p:nvSpPr>
        <p:spPr>
          <a:xfrm>
            <a:off x="6355080" y="3712464"/>
            <a:ext cx="530352" cy="530352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29" name="Objective text 6"/>
          <p:cNvSpPr txBox="1"/>
          <p:nvPr/>
        </p:nvSpPr>
        <p:spPr>
          <a:xfrm>
            <a:off x="7022592" y="3602736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Automatically select appropriate Plotly visualizations</a:t>
            </a:r>
          </a:p>
        </p:txBody>
      </p:sp>
      <p:sp>
        <p:nvSpPr>
          <p:cNvPr id="230" name="Objective card 7"/>
          <p:cNvSpPr/>
          <p:nvPr/>
        </p:nvSpPr>
        <p:spPr>
          <a:xfrm>
            <a:off x="502920" y="4608576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31" name="Objective number 7"/>
          <p:cNvSpPr/>
          <p:nvPr/>
        </p:nvSpPr>
        <p:spPr>
          <a:xfrm>
            <a:off x="640080" y="4791456"/>
            <a:ext cx="530352" cy="530352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232" name="Objective text 7"/>
          <p:cNvSpPr txBox="1"/>
          <p:nvPr/>
        </p:nvSpPr>
        <p:spPr>
          <a:xfrm>
            <a:off x="1307592" y="4681728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Support follow-up questions and session-level query history</a:t>
            </a:r>
          </a:p>
        </p:txBody>
      </p:sp>
      <p:sp>
        <p:nvSpPr>
          <p:cNvPr id="233" name="Objective card 8"/>
          <p:cNvSpPr/>
          <p:nvPr/>
        </p:nvSpPr>
        <p:spPr>
          <a:xfrm>
            <a:off x="6217920" y="4608576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34" name="Objective number 8"/>
          <p:cNvSpPr/>
          <p:nvPr/>
        </p:nvSpPr>
        <p:spPr>
          <a:xfrm>
            <a:off x="6355080" y="4791456"/>
            <a:ext cx="530352" cy="530352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235" name="Objective text 8"/>
          <p:cNvSpPr txBox="1"/>
          <p:nvPr/>
        </p:nvSpPr>
        <p:spPr>
          <a:xfrm>
            <a:off x="7022592" y="4681728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Package the application using Docker</a:t>
            </a:r>
          </a:p>
        </p:txBody>
      </p:sp>
    </p:spTree>
    <p:extLst>
      <p:ext uri="{BB962C8B-B14F-4D97-AF65-F5344CB8AC3E}">
        <p14:creationId xmlns:p14="http://schemas.microsoft.com/office/powerpoint/2010/main" val="17394505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Data Narrator: NL-to-SQL BI Copilot with Auto-Insights</a:t>
            </a:r>
          </a:p>
        </p:txBody>
      </p:sp>
      <p:sp>
        <p:nvSpPr>
          <p:cNvPr id="236" name="Module row 1"/>
          <p:cNvSpPr/>
          <p:nvPr/>
        </p:nvSpPr>
        <p:spPr>
          <a:xfrm>
            <a:off x="502920" y="1325880"/>
            <a:ext cx="11155680" cy="56692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37" name="Module badge 1"/>
          <p:cNvSpPr/>
          <p:nvPr/>
        </p:nvSpPr>
        <p:spPr>
          <a:xfrm>
            <a:off x="594360" y="1408176"/>
            <a:ext cx="402336" cy="402336"/>
          </a:xfrm>
          <a:prstGeom prst="ellipse">
            <a:avLst/>
          </a:prstGeom>
          <a:solidFill>
            <a:srgbClr val="5F6B7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8" name="Module name 1"/>
          <p:cNvSpPr txBox="1"/>
          <p:nvPr/>
        </p:nvSpPr>
        <p:spPr>
          <a:xfrm>
            <a:off x="1097280" y="1325880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Dataset Upload &amp; Processing</a:t>
            </a:r>
          </a:p>
        </p:txBody>
      </p:sp>
      <p:sp>
        <p:nvSpPr>
          <p:cNvPr id="239" name="Module desc 1"/>
          <p:cNvSpPr txBox="1"/>
          <p:nvPr/>
        </p:nvSpPr>
        <p:spPr>
          <a:xfrm>
            <a:off x="4709160" y="1325880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CSV / XLS / XLSX read with Pandas and registered as a queryable DuckDB table</a:t>
            </a:r>
          </a:p>
        </p:txBody>
      </p:sp>
      <p:sp>
        <p:nvSpPr>
          <p:cNvPr id="240" name="Module row 2"/>
          <p:cNvSpPr/>
          <p:nvPr/>
        </p:nvSpPr>
        <p:spPr>
          <a:xfrm>
            <a:off x="502920" y="1975104"/>
            <a:ext cx="11155680" cy="56692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41" name="Module badge 2"/>
          <p:cNvSpPr/>
          <p:nvPr/>
        </p:nvSpPr>
        <p:spPr>
          <a:xfrm>
            <a:off x="594360" y="2057400"/>
            <a:ext cx="402336" cy="402336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42" name="Module name 2"/>
          <p:cNvSpPr txBox="1"/>
          <p:nvPr/>
        </p:nvSpPr>
        <p:spPr>
          <a:xfrm>
            <a:off x="1097280" y="1975104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Natural Language-to-SQL Generation</a:t>
            </a:r>
          </a:p>
        </p:txBody>
      </p:sp>
      <p:sp>
        <p:nvSpPr>
          <p:cNvPr id="243" name="Module desc 2"/>
          <p:cNvSpPr txBox="1"/>
          <p:nvPr/>
        </p:nvSpPr>
        <p:spPr>
          <a:xfrm>
            <a:off x="4709160" y="1975104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Question sent over HTTP to Ollama (Llama 3.1 8B), which returns DuckDB-compatible SQL</a:t>
            </a:r>
          </a:p>
        </p:txBody>
      </p:sp>
      <p:sp>
        <p:nvSpPr>
          <p:cNvPr id="244" name="Module row 3"/>
          <p:cNvSpPr/>
          <p:nvPr/>
        </p:nvSpPr>
        <p:spPr>
          <a:xfrm>
            <a:off x="502920" y="2624328"/>
            <a:ext cx="11155680" cy="56692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45" name="Module badge 3"/>
          <p:cNvSpPr/>
          <p:nvPr/>
        </p:nvSpPr>
        <p:spPr>
          <a:xfrm>
            <a:off x="594360" y="2706624"/>
            <a:ext cx="402336" cy="402336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46" name="Module name 3"/>
          <p:cNvSpPr txBox="1"/>
          <p:nvPr/>
        </p:nvSpPr>
        <p:spPr>
          <a:xfrm>
            <a:off x="1097280" y="2624328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SQL Validation &amp; Execution</a:t>
            </a:r>
          </a:p>
        </p:txBody>
      </p:sp>
      <p:sp>
        <p:nvSpPr>
          <p:cNvPr id="247" name="Module desc 3"/>
          <p:cNvSpPr txBox="1"/>
          <p:nvPr/>
        </p:nvSpPr>
        <p:spPr>
          <a:xfrm>
            <a:off x="4709160" y="2624328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Blocks INSERT/UPDATE/DELETE/DROP and multi-statement SQL; checks table use; DuckDB runs only validated SQL</a:t>
            </a:r>
          </a:p>
        </p:txBody>
      </p:sp>
      <p:sp>
        <p:nvSpPr>
          <p:cNvPr id="248" name="Module row 4"/>
          <p:cNvSpPr/>
          <p:nvPr/>
        </p:nvSpPr>
        <p:spPr>
          <a:xfrm>
            <a:off x="502920" y="3273552"/>
            <a:ext cx="11155680" cy="56692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49" name="Module badge 4"/>
          <p:cNvSpPr/>
          <p:nvPr/>
        </p:nvSpPr>
        <p:spPr>
          <a:xfrm>
            <a:off x="594360" y="3355848"/>
            <a:ext cx="402336" cy="402336"/>
          </a:xfrm>
          <a:prstGeom prst="ellipse">
            <a:avLst/>
          </a:prstGeom>
          <a:solidFill>
            <a:srgbClr val="3A9D5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50" name="Module name 4"/>
          <p:cNvSpPr txBox="1"/>
          <p:nvPr/>
        </p:nvSpPr>
        <p:spPr>
          <a:xfrm>
            <a:off x="1097280" y="3273552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Business Insight Generation</a:t>
            </a:r>
          </a:p>
        </p:txBody>
      </p:sp>
      <p:sp>
        <p:nvSpPr>
          <p:cNvPr id="251" name="Module desc 4"/>
          <p:cNvSpPr txBox="1"/>
          <p:nvPr/>
        </p:nvSpPr>
        <p:spPr>
          <a:xfrm>
            <a:off x="4709160" y="3273552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Short insights written from the actual query results</a:t>
            </a:r>
          </a:p>
        </p:txBody>
      </p:sp>
      <p:sp>
        <p:nvSpPr>
          <p:cNvPr id="252" name="Module row 5"/>
          <p:cNvSpPr/>
          <p:nvPr/>
        </p:nvSpPr>
        <p:spPr>
          <a:xfrm>
            <a:off x="502920" y="3922776"/>
            <a:ext cx="11155680" cy="56692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53" name="Module badge 5"/>
          <p:cNvSpPr/>
          <p:nvPr/>
        </p:nvSpPr>
        <p:spPr>
          <a:xfrm>
            <a:off x="594360" y="4005072"/>
            <a:ext cx="402336" cy="402336"/>
          </a:xfrm>
          <a:prstGeom prst="ellipse">
            <a:avLst/>
          </a:prstGeom>
          <a:solidFill>
            <a:srgbClr val="3A9D5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54" name="Module name 5"/>
          <p:cNvSpPr txBox="1"/>
          <p:nvPr/>
        </p:nvSpPr>
        <p:spPr>
          <a:xfrm>
            <a:off x="1097280" y="3922776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Dynamic Visualization</a:t>
            </a:r>
          </a:p>
        </p:txBody>
      </p:sp>
      <p:sp>
        <p:nvSpPr>
          <p:cNvPr id="255" name="Module desc 5"/>
          <p:cNvSpPr txBox="1"/>
          <p:nvPr/>
        </p:nvSpPr>
        <p:spPr>
          <a:xfrm>
            <a:off x="4709160" y="3922776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Plotly: KPI for scalar, bar, pie, or line (date) chosen from the result type</a:t>
            </a:r>
          </a:p>
        </p:txBody>
      </p:sp>
      <p:sp>
        <p:nvSpPr>
          <p:cNvPr id="256" name="Module row 6"/>
          <p:cNvSpPr/>
          <p:nvPr/>
        </p:nvSpPr>
        <p:spPr>
          <a:xfrm>
            <a:off x="502920" y="4572000"/>
            <a:ext cx="11155680" cy="56692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57" name="Module badge 6"/>
          <p:cNvSpPr/>
          <p:nvPr/>
        </p:nvSpPr>
        <p:spPr>
          <a:xfrm>
            <a:off x="594360" y="4654296"/>
            <a:ext cx="402336" cy="402336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58" name="Module name 6"/>
          <p:cNvSpPr txBox="1"/>
          <p:nvPr/>
        </p:nvSpPr>
        <p:spPr>
          <a:xfrm>
            <a:off x="1097280" y="4572000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Follow-up Handling &amp; Session History</a:t>
            </a:r>
          </a:p>
        </p:txBody>
      </p:sp>
      <p:sp>
        <p:nvSpPr>
          <p:cNvPr id="259" name="Module desc 6"/>
          <p:cNvSpPr txBox="1"/>
          <p:nvPr/>
        </p:nvSpPr>
        <p:spPr>
          <a:xfrm>
            <a:off x="4709160" y="4572000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Application-side context and filter safeguards; in-memory history for the current session</a:t>
            </a:r>
          </a:p>
        </p:txBody>
      </p:sp>
      <p:sp>
        <p:nvSpPr>
          <p:cNvPr id="260" name="Module row 7"/>
          <p:cNvSpPr/>
          <p:nvPr/>
        </p:nvSpPr>
        <p:spPr>
          <a:xfrm>
            <a:off x="502920" y="5221224"/>
            <a:ext cx="11155680" cy="56692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61" name="Module badge 7"/>
          <p:cNvSpPr/>
          <p:nvPr/>
        </p:nvSpPr>
        <p:spPr>
          <a:xfrm>
            <a:off x="594360" y="5303520"/>
            <a:ext cx="402336" cy="402336"/>
          </a:xfrm>
          <a:prstGeom prst="ellipse">
            <a:avLst/>
          </a:prstGeom>
          <a:solidFill>
            <a:srgbClr val="1B3A6B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262" name="Module name 7"/>
          <p:cNvSpPr txBox="1"/>
          <p:nvPr/>
        </p:nvSpPr>
        <p:spPr>
          <a:xfrm>
            <a:off x="1097280" y="5221224"/>
            <a:ext cx="356616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Docker Containerization</a:t>
            </a:r>
          </a:p>
        </p:txBody>
      </p:sp>
      <p:sp>
        <p:nvSpPr>
          <p:cNvPr id="263" name="Module desc 7"/>
          <p:cNvSpPr txBox="1"/>
          <p:nvPr/>
        </p:nvSpPr>
        <p:spPr>
          <a:xfrm>
            <a:off x="4709160" y="5221224"/>
            <a:ext cx="6858000" cy="56692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Dockerfile + requirements; image built and tested end-to-end; Ollama stays on the host</a:t>
            </a:r>
          </a:p>
        </p:txBody>
      </p:sp>
    </p:spTree>
    <p:extLst>
      <p:ext uri="{BB962C8B-B14F-4D97-AF65-F5344CB8AC3E}">
        <p14:creationId xmlns:p14="http://schemas.microsoft.com/office/powerpoint/2010/main" val="33775862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Data Narrator: NL-to-SQL BI Copilot with Auto-Insights</a:t>
            </a:r>
          </a:p>
        </p:txBody>
      </p:sp>
      <p:sp>
        <p:nvSpPr>
          <p:cNvPr id="264" name="Problem card"/>
          <p:cNvSpPr/>
          <p:nvPr/>
        </p:nvSpPr>
        <p:spPr>
          <a:xfrm>
            <a:off x="502920" y="1371600"/>
            <a:ext cx="5486400" cy="4160520"/>
          </a:xfrm>
          <a:prstGeom prst="roundRect">
            <a:avLst>
              <a:gd name="adj" fmla="val 5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65" name="Problem heading"/>
          <p:cNvSpPr txBox="1"/>
          <p:nvPr/>
        </p:nvSpPr>
        <p:spPr>
          <a:xfrm>
            <a:off x="731520" y="1481328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1B3A6B"/>
                </a:solidFill>
                <a:latin typeface="Calibri"/>
                <a:cs typeface="Calibri"/>
              </a:rPr>
              <a:t>The Problem</a:t>
            </a:r>
          </a:p>
        </p:txBody>
      </p:sp>
      <p:sp>
        <p:nvSpPr>
          <p:cNvPr id="266" name="Problem text"/>
          <p:cNvSpPr txBox="1"/>
          <p:nvPr/>
        </p:nvSpPr>
        <p:spPr>
          <a:xfrm>
            <a:off x="731520" y="2011680"/>
            <a:ext cx="5029200" cy="33832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Traditional data analysis often requires users to know SQL or rely on technical analysts.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This can slow down access to business information.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14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Users also need a convenient path from a natural-language question to query results, visualizations, and understandable insights.</a:t>
            </a:r>
          </a:p>
        </p:txBody>
      </p:sp>
      <p:sp>
        <p:nvSpPr>
          <p:cNvPr id="267" name="Goal card"/>
          <p:cNvSpPr/>
          <p:nvPr/>
        </p:nvSpPr>
        <p:spPr>
          <a:xfrm>
            <a:off x="6263640" y="1371600"/>
            <a:ext cx="5394960" cy="4160520"/>
          </a:xfrm>
          <a:prstGeom prst="roundRect">
            <a:avLst>
              <a:gd name="adj" fmla="val 5000"/>
            </a:avLst>
          </a:prstGeom>
          <a:solidFill>
            <a:srgbClr val="1B3A6B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68" name="Goal heading"/>
          <p:cNvSpPr txBox="1"/>
          <p:nvPr/>
        </p:nvSpPr>
        <p:spPr>
          <a:xfrm>
            <a:off x="6492240" y="1481328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Project Goal</a:t>
            </a:r>
          </a:p>
        </p:txBody>
      </p:sp>
      <p:sp>
        <p:nvSpPr>
          <p:cNvPr id="269" name="Goal text"/>
          <p:cNvSpPr txBox="1"/>
          <p:nvPr/>
        </p:nvSpPr>
        <p:spPr>
          <a:xfrm>
            <a:off x="6492240" y="2011680"/>
            <a:ext cx="4937760" cy="33832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dirty="0">
                <a:solidFill>
                  <a:srgbClr val="FFFFFF"/>
                </a:solidFill>
                <a:latin typeface="Calibri"/>
                <a:cs typeface="Calibri"/>
              </a:rPr>
              <a:t>To develop an interactive natural-language-based data analysis application that generates SQL, applies safety validation, retrieves results, and presents meaningful insights and visualizations from uploaded datasets.</a:t>
            </a:r>
          </a:p>
        </p:txBody>
      </p:sp>
    </p:spTree>
    <p:extLst>
      <p:ext uri="{BB962C8B-B14F-4D97-AF65-F5344CB8AC3E}">
        <p14:creationId xmlns:p14="http://schemas.microsoft.com/office/powerpoint/2010/main" val="20346819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Data Narrator: NL-to-SQL BI Copilot with Auto-Insights</a:t>
            </a:r>
          </a:p>
        </p:txBody>
      </p:sp>
      <p:sp>
        <p:nvSpPr>
          <p:cNvPr id="270" name="Step 1"/>
          <p:cNvSpPr/>
          <p:nvPr/>
        </p:nvSpPr>
        <p:spPr>
          <a:xfrm>
            <a:off x="502920" y="1371600"/>
            <a:ext cx="1874520" cy="960120"/>
          </a:xfrm>
          <a:prstGeom prst="roundRect">
            <a:avLst>
              <a:gd name="adj" fmla="val 12000"/>
            </a:avLst>
          </a:prstGeom>
          <a:solidFill>
            <a:srgbClr val="5F6B7A"/>
          </a:solidFill>
          <a:ln>
            <a:noFill/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User uploads CSV / Excel dataset</a:t>
            </a:r>
          </a:p>
        </p:txBody>
      </p:sp>
      <p:sp>
        <p:nvSpPr>
          <p:cNvPr id="271" name="Step badge 1"/>
          <p:cNvSpPr/>
          <p:nvPr/>
        </p:nvSpPr>
        <p:spPr>
          <a:xfrm>
            <a:off x="411480" y="124358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F6B7A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5F6B7A"/>
                </a:solidFill>
                <a:latin typeface="Calibri"/>
                <a:cs typeface="Calibri"/>
              </a:rPr>
              <a:t>1</a:t>
            </a:r>
          </a:p>
        </p:txBody>
      </p:sp>
      <p:cxnSp>
        <p:nvCxnSpPr>
          <p:cNvPr id="272" name="Arrow 1"/>
          <p:cNvCxnSpPr/>
          <p:nvPr/>
        </p:nvCxnSpPr>
        <p:spPr>
          <a:xfrm>
            <a:off x="2414016" y="185166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73" name="Step 2"/>
          <p:cNvSpPr/>
          <p:nvPr/>
        </p:nvSpPr>
        <p:spPr>
          <a:xfrm>
            <a:off x="2852928" y="1371600"/>
            <a:ext cx="1874520" cy="960120"/>
          </a:xfrm>
          <a:prstGeom prst="roundRect">
            <a:avLst>
              <a:gd name="adj" fmla="val 12000"/>
            </a:avLst>
          </a:prstGeom>
          <a:solidFill>
            <a:srgbClr val="5F6B7A"/>
          </a:solidFill>
          <a:ln>
            <a:noFill/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Pandas loads and processes data</a:t>
            </a:r>
          </a:p>
        </p:txBody>
      </p:sp>
      <p:sp>
        <p:nvSpPr>
          <p:cNvPr id="274" name="Step badge 2"/>
          <p:cNvSpPr/>
          <p:nvPr/>
        </p:nvSpPr>
        <p:spPr>
          <a:xfrm>
            <a:off x="2761488" y="124358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F6B7A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5F6B7A"/>
                </a:solidFill>
                <a:latin typeface="Calibri"/>
                <a:cs typeface="Calibri"/>
              </a:rPr>
              <a:t>2</a:t>
            </a:r>
          </a:p>
        </p:txBody>
      </p:sp>
      <p:cxnSp>
        <p:nvCxnSpPr>
          <p:cNvPr id="275" name="Arrow 2"/>
          <p:cNvCxnSpPr/>
          <p:nvPr/>
        </p:nvCxnSpPr>
        <p:spPr>
          <a:xfrm>
            <a:off x="4764024" y="185166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76" name="Step 3"/>
          <p:cNvSpPr/>
          <p:nvPr/>
        </p:nvSpPr>
        <p:spPr>
          <a:xfrm>
            <a:off x="5202936" y="1371600"/>
            <a:ext cx="1874520" cy="960120"/>
          </a:xfrm>
          <a:prstGeom prst="roundRect">
            <a:avLst>
              <a:gd name="adj" fmla="val 12000"/>
            </a:avLst>
          </a:prstGeom>
          <a:solidFill>
            <a:srgbClr val="5F6B7A"/>
          </a:solidFill>
          <a:ln>
            <a:noFill/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DuckDB table is created</a:t>
            </a:r>
          </a:p>
        </p:txBody>
      </p:sp>
      <p:sp>
        <p:nvSpPr>
          <p:cNvPr id="277" name="Step badge 3"/>
          <p:cNvSpPr/>
          <p:nvPr/>
        </p:nvSpPr>
        <p:spPr>
          <a:xfrm>
            <a:off x="5111496" y="124358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F6B7A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5F6B7A"/>
                </a:solidFill>
                <a:latin typeface="Calibri"/>
                <a:cs typeface="Calibri"/>
              </a:rPr>
              <a:t>3</a:t>
            </a:r>
          </a:p>
        </p:txBody>
      </p:sp>
      <p:cxnSp>
        <p:nvCxnSpPr>
          <p:cNvPr id="278" name="Arrow 3"/>
          <p:cNvCxnSpPr/>
          <p:nvPr/>
        </p:nvCxnSpPr>
        <p:spPr>
          <a:xfrm>
            <a:off x="7114032" y="185166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79" name="Step 4"/>
          <p:cNvSpPr/>
          <p:nvPr/>
        </p:nvSpPr>
        <p:spPr>
          <a:xfrm>
            <a:off x="7552944" y="1371600"/>
            <a:ext cx="1874520" cy="960120"/>
          </a:xfrm>
          <a:prstGeom prst="roundRect">
            <a:avLst>
              <a:gd name="adj" fmla="val 12000"/>
            </a:avLst>
          </a:prstGeom>
          <a:solidFill>
            <a:srgbClr val="5F6B7A"/>
          </a:solidFill>
          <a:ln>
            <a:noFill/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User enters a natural-language question</a:t>
            </a:r>
          </a:p>
        </p:txBody>
      </p:sp>
      <p:sp>
        <p:nvSpPr>
          <p:cNvPr id="280" name="Step badge 4"/>
          <p:cNvSpPr/>
          <p:nvPr/>
        </p:nvSpPr>
        <p:spPr>
          <a:xfrm>
            <a:off x="7461504" y="124358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5F6B7A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5F6B7A"/>
                </a:solidFill>
                <a:latin typeface="Calibri"/>
                <a:cs typeface="Calibri"/>
              </a:rPr>
              <a:t>4</a:t>
            </a:r>
          </a:p>
        </p:txBody>
      </p:sp>
      <p:cxnSp>
        <p:nvCxnSpPr>
          <p:cNvPr id="281" name="Arrow 4"/>
          <p:cNvCxnSpPr/>
          <p:nvPr/>
        </p:nvCxnSpPr>
        <p:spPr>
          <a:xfrm>
            <a:off x="9464040" y="185166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82" name="Step 5"/>
          <p:cNvSpPr/>
          <p:nvPr/>
        </p:nvSpPr>
        <p:spPr>
          <a:xfrm>
            <a:off x="9902952" y="1371600"/>
            <a:ext cx="1874520" cy="960120"/>
          </a:xfrm>
          <a:prstGeom prst="roundRect">
            <a:avLst>
              <a:gd name="adj" fmla="val 12000"/>
            </a:avLst>
          </a:prstGeom>
          <a:solidFill>
            <a:srgbClr val="2E5AAC"/>
          </a:solidFill>
          <a:ln>
            <a:noFill/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Ollama + Llama 3.1 8B generates SQL</a:t>
            </a:r>
          </a:p>
        </p:txBody>
      </p:sp>
      <p:sp>
        <p:nvSpPr>
          <p:cNvPr id="283" name="Step badge 5"/>
          <p:cNvSpPr/>
          <p:nvPr/>
        </p:nvSpPr>
        <p:spPr>
          <a:xfrm>
            <a:off x="9811512" y="124358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AA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2E5AAC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84" name="Step 6"/>
          <p:cNvSpPr/>
          <p:nvPr/>
        </p:nvSpPr>
        <p:spPr>
          <a:xfrm>
            <a:off x="9902952" y="3154680"/>
            <a:ext cx="1874520" cy="960120"/>
          </a:xfrm>
          <a:prstGeom prst="roundRect">
            <a:avLst>
              <a:gd name="adj" fmla="val 12000"/>
            </a:avLst>
          </a:prstGeom>
          <a:solidFill>
            <a:srgbClr val="0E8C8C"/>
          </a:solidFill>
          <a:ln>
            <a:noFill/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Application-side SQL safety validation</a:t>
            </a:r>
          </a:p>
        </p:txBody>
      </p:sp>
      <p:sp>
        <p:nvSpPr>
          <p:cNvPr id="285" name="Step badge 6"/>
          <p:cNvSpPr/>
          <p:nvPr/>
        </p:nvSpPr>
        <p:spPr>
          <a:xfrm>
            <a:off x="9811512" y="302666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8C8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E8C8C"/>
                </a:solidFill>
                <a:latin typeface="Calibri"/>
                <a:cs typeface="Calibri"/>
              </a:rPr>
              <a:t>6</a:t>
            </a:r>
          </a:p>
        </p:txBody>
      </p:sp>
      <p:cxnSp>
        <p:nvCxnSpPr>
          <p:cNvPr id="286" name="Arrow 6"/>
          <p:cNvCxnSpPr/>
          <p:nvPr/>
        </p:nvCxnSpPr>
        <p:spPr>
          <a:xfrm flipH="1">
            <a:off x="9464040" y="363474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87" name="Step 7"/>
          <p:cNvSpPr/>
          <p:nvPr/>
        </p:nvSpPr>
        <p:spPr>
          <a:xfrm>
            <a:off x="7552944" y="3154680"/>
            <a:ext cx="1874520" cy="960120"/>
          </a:xfrm>
          <a:prstGeom prst="roundRect">
            <a:avLst>
              <a:gd name="adj" fmla="val 12000"/>
            </a:avLst>
          </a:prstGeom>
          <a:solidFill>
            <a:srgbClr val="0E8C8C"/>
          </a:solidFill>
          <a:ln>
            <a:noFill/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DuckDB executes the validated query</a:t>
            </a:r>
          </a:p>
        </p:txBody>
      </p:sp>
      <p:sp>
        <p:nvSpPr>
          <p:cNvPr id="288" name="Step badge 7"/>
          <p:cNvSpPr/>
          <p:nvPr/>
        </p:nvSpPr>
        <p:spPr>
          <a:xfrm>
            <a:off x="7461504" y="302666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8C8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E8C8C"/>
                </a:solidFill>
                <a:latin typeface="Calibri"/>
                <a:cs typeface="Calibri"/>
              </a:rPr>
              <a:t>7</a:t>
            </a:r>
          </a:p>
        </p:txBody>
      </p:sp>
      <p:cxnSp>
        <p:nvCxnSpPr>
          <p:cNvPr id="289" name="Arrow 7"/>
          <p:cNvCxnSpPr/>
          <p:nvPr/>
        </p:nvCxnSpPr>
        <p:spPr>
          <a:xfrm flipH="1">
            <a:off x="7114032" y="363474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90" name="Step 8"/>
          <p:cNvSpPr/>
          <p:nvPr/>
        </p:nvSpPr>
        <p:spPr>
          <a:xfrm>
            <a:off x="5202936" y="3154680"/>
            <a:ext cx="1874520" cy="960120"/>
          </a:xfrm>
          <a:prstGeom prst="roundRect">
            <a:avLst>
              <a:gd name="adj" fmla="val 12000"/>
            </a:avLst>
          </a:prstGeom>
          <a:solidFill>
            <a:srgbClr val="0E8C8C"/>
          </a:solidFill>
          <a:ln>
            <a:noFill/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Query results are retrieved</a:t>
            </a:r>
          </a:p>
        </p:txBody>
      </p:sp>
      <p:sp>
        <p:nvSpPr>
          <p:cNvPr id="291" name="Step badge 8"/>
          <p:cNvSpPr/>
          <p:nvPr/>
        </p:nvSpPr>
        <p:spPr>
          <a:xfrm>
            <a:off x="5111496" y="302666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8C8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E8C8C"/>
                </a:solidFill>
                <a:latin typeface="Calibri"/>
                <a:cs typeface="Calibri"/>
              </a:rPr>
              <a:t>8</a:t>
            </a:r>
          </a:p>
        </p:txBody>
      </p:sp>
      <p:cxnSp>
        <p:nvCxnSpPr>
          <p:cNvPr id="292" name="Arrow 8"/>
          <p:cNvCxnSpPr/>
          <p:nvPr/>
        </p:nvCxnSpPr>
        <p:spPr>
          <a:xfrm flipH="1">
            <a:off x="4764024" y="363474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93" name="Step 9"/>
          <p:cNvSpPr/>
          <p:nvPr/>
        </p:nvSpPr>
        <p:spPr>
          <a:xfrm>
            <a:off x="2852928" y="3154680"/>
            <a:ext cx="1874520" cy="960120"/>
          </a:xfrm>
          <a:prstGeom prst="roundRect">
            <a:avLst>
              <a:gd name="adj" fmla="val 12000"/>
            </a:avLst>
          </a:prstGeom>
          <a:solidFill>
            <a:srgbClr val="3A9D5D"/>
          </a:solidFill>
          <a:ln>
            <a:noFill/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Business insights + dynamic Plotly charts</a:t>
            </a:r>
          </a:p>
        </p:txBody>
      </p:sp>
      <p:sp>
        <p:nvSpPr>
          <p:cNvPr id="294" name="Step badge 9"/>
          <p:cNvSpPr/>
          <p:nvPr/>
        </p:nvSpPr>
        <p:spPr>
          <a:xfrm>
            <a:off x="2761488" y="302666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9D5D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3A9D5D"/>
                </a:solidFill>
                <a:latin typeface="Calibri"/>
                <a:cs typeface="Calibri"/>
              </a:rPr>
              <a:t>9</a:t>
            </a:r>
          </a:p>
        </p:txBody>
      </p:sp>
      <p:cxnSp>
        <p:nvCxnSpPr>
          <p:cNvPr id="295" name="Arrow 9"/>
          <p:cNvCxnSpPr/>
          <p:nvPr/>
        </p:nvCxnSpPr>
        <p:spPr>
          <a:xfrm flipH="1">
            <a:off x="2414016" y="363474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96" name="Step 10"/>
          <p:cNvSpPr/>
          <p:nvPr/>
        </p:nvSpPr>
        <p:spPr>
          <a:xfrm>
            <a:off x="502920" y="3154680"/>
            <a:ext cx="1874520" cy="960120"/>
          </a:xfrm>
          <a:prstGeom prst="roundRect">
            <a:avLst>
              <a:gd name="adj" fmla="val 12000"/>
            </a:avLst>
          </a:prstGeom>
          <a:solidFill>
            <a:srgbClr val="3A9D5D"/>
          </a:solidFill>
          <a:ln>
            <a:noFill/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FFFFFF"/>
                </a:solidFill>
                <a:latin typeface="Calibri"/>
                <a:cs typeface="Calibri"/>
              </a:rPr>
              <a:t>Results displayed in Streamlit</a:t>
            </a:r>
          </a:p>
        </p:txBody>
      </p:sp>
      <p:sp>
        <p:nvSpPr>
          <p:cNvPr id="297" name="Step badge 10"/>
          <p:cNvSpPr/>
          <p:nvPr/>
        </p:nvSpPr>
        <p:spPr>
          <a:xfrm>
            <a:off x="411480" y="302666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9D5D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3A9D5D"/>
                </a:solidFill>
                <a:latin typeface="Calibri"/>
                <a:cs typeface="Calibri"/>
              </a:rPr>
              <a:t>10</a:t>
            </a:r>
          </a:p>
        </p:txBody>
      </p:sp>
      <p:cxnSp>
        <p:nvCxnSpPr>
          <p:cNvPr id="298" name="Arrow 5 to 6"/>
          <p:cNvCxnSpPr/>
          <p:nvPr/>
        </p:nvCxnSpPr>
        <p:spPr>
          <a:xfrm>
            <a:off x="10840212" y="2368296"/>
            <a:ext cx="0" cy="749808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99" name="Arrow note LLM"/>
          <p:cNvSpPr txBox="1"/>
          <p:nvPr/>
        </p:nvSpPr>
        <p:spPr>
          <a:xfrm>
            <a:off x="10931652" y="2514600"/>
            <a:ext cx="914400" cy="6400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0" i="1" dirty="0">
                <a:solidFill>
                  <a:srgbClr val="5F6B7A"/>
                </a:solidFill>
                <a:latin typeface="Calibri"/>
                <a:cs typeface="Calibri"/>
              </a:rPr>
              <a:t>SQL text only</a:t>
            </a:r>
          </a:p>
        </p:txBody>
      </p:sp>
      <p:sp>
        <p:nvSpPr>
          <p:cNvPr id="300" name="Key principle"/>
          <p:cNvSpPr/>
          <p:nvPr/>
        </p:nvSpPr>
        <p:spPr>
          <a:xfrm>
            <a:off x="502920" y="4434840"/>
            <a:ext cx="11155680" cy="457200"/>
          </a:xfrm>
          <a:prstGeom prst="roundRect">
            <a:avLst>
              <a:gd name="adj" fmla="val 20000"/>
            </a:avLst>
          </a:prstGeom>
          <a:solidFill>
            <a:srgbClr val="FFF4DB"/>
          </a:solidFill>
          <a:ln w="12700">
            <a:solidFill>
              <a:srgbClr val="E0B050"/>
            </a:solidFill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The LLM only generates SQL text. The application validates it, and DuckDB executes it. Insights and charts come from the returned results.</a:t>
            </a:r>
          </a:p>
        </p:txBody>
      </p:sp>
      <p:sp>
        <p:nvSpPr>
          <p:cNvPr id="301" name="Legend swatch 1"/>
          <p:cNvSpPr/>
          <p:nvPr/>
        </p:nvSpPr>
        <p:spPr>
          <a:xfrm>
            <a:off x="2377440" y="5138928"/>
            <a:ext cx="201168" cy="201168"/>
          </a:xfrm>
          <a:prstGeom prst="roundRect">
            <a:avLst/>
          </a:prstGeom>
          <a:solidFill>
            <a:srgbClr val="5F6B7A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02" name="Legend label 1"/>
          <p:cNvSpPr txBox="1"/>
          <p:nvPr/>
        </p:nvSpPr>
        <p:spPr>
          <a:xfrm>
            <a:off x="2624328" y="5074920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22B38"/>
                </a:solidFill>
                <a:latin typeface="Calibri"/>
                <a:cs typeface="Calibri"/>
              </a:rPr>
              <a:t>Data preparation / input</a:t>
            </a:r>
          </a:p>
        </p:txBody>
      </p:sp>
      <p:sp>
        <p:nvSpPr>
          <p:cNvPr id="303" name="Legend swatch 2"/>
          <p:cNvSpPr/>
          <p:nvPr/>
        </p:nvSpPr>
        <p:spPr>
          <a:xfrm>
            <a:off x="4526280" y="5138928"/>
            <a:ext cx="201168" cy="201168"/>
          </a:xfrm>
          <a:prstGeom prst="roundRect">
            <a:avLst/>
          </a:prstGeom>
          <a:solidFill>
            <a:srgbClr val="2E5AA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04" name="Legend label 2"/>
          <p:cNvSpPr txBox="1"/>
          <p:nvPr/>
        </p:nvSpPr>
        <p:spPr>
          <a:xfrm>
            <a:off x="4773168" y="5074920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22B38"/>
                </a:solidFill>
                <a:latin typeface="Calibri"/>
                <a:cs typeface="Calibri"/>
              </a:rPr>
              <a:t>LLM processing</a:t>
            </a:r>
          </a:p>
        </p:txBody>
      </p:sp>
      <p:sp>
        <p:nvSpPr>
          <p:cNvPr id="305" name="Legend swatch 3"/>
          <p:cNvSpPr/>
          <p:nvPr/>
        </p:nvSpPr>
        <p:spPr>
          <a:xfrm>
            <a:off x="6172200" y="5138928"/>
            <a:ext cx="201168" cy="201168"/>
          </a:xfrm>
          <a:prstGeom prst="roundRect">
            <a:avLst/>
          </a:prstGeom>
          <a:solidFill>
            <a:srgbClr val="0E8C8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06" name="Legend label 3"/>
          <p:cNvSpPr txBox="1"/>
          <p:nvPr/>
        </p:nvSpPr>
        <p:spPr>
          <a:xfrm>
            <a:off x="6419088" y="5074920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22B38"/>
                </a:solidFill>
                <a:latin typeface="Calibri"/>
                <a:cs typeface="Calibri"/>
              </a:rPr>
              <a:t>SQL validation &amp; execution</a:t>
            </a:r>
          </a:p>
        </p:txBody>
      </p:sp>
      <p:sp>
        <p:nvSpPr>
          <p:cNvPr id="307" name="Legend swatch 4"/>
          <p:cNvSpPr/>
          <p:nvPr/>
        </p:nvSpPr>
        <p:spPr>
          <a:xfrm>
            <a:off x="8366760" y="5138928"/>
            <a:ext cx="201168" cy="201168"/>
          </a:xfrm>
          <a:prstGeom prst="roundRect">
            <a:avLst/>
          </a:prstGeom>
          <a:solidFill>
            <a:srgbClr val="3A9D5D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08" name="Legend label 4"/>
          <p:cNvSpPr txBox="1"/>
          <p:nvPr/>
        </p:nvSpPr>
        <p:spPr>
          <a:xfrm>
            <a:off x="8613648" y="5074920"/>
            <a:ext cx="2103120" cy="32918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222B38"/>
                </a:solidFill>
                <a:latin typeface="Calibri"/>
                <a:cs typeface="Calibri"/>
              </a:rPr>
              <a:t>Result presentation</a:t>
            </a:r>
          </a:p>
        </p:txBody>
      </p:sp>
      <p:sp>
        <p:nvSpPr>
          <p:cNvPr id="309" name="Supporting features"/>
          <p:cNvSpPr/>
          <p:nvPr/>
        </p:nvSpPr>
        <p:spPr>
          <a:xfrm>
            <a:off x="2377440" y="5468112"/>
            <a:ext cx="9281160" cy="365760"/>
          </a:xfrm>
          <a:prstGeom prst="roundRect">
            <a:avLst>
              <a:gd name="adj" fmla="val 25000"/>
            </a:avLst>
          </a:prstGeom>
          <a:noFill/>
          <a:ln w="12700">
            <a:solidFill>
              <a:srgbClr val="5F6B7A"/>
            </a:solidFill>
            <a:prstDash val="dash"/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1" dirty="0">
                <a:solidFill>
                  <a:srgbClr val="5F6B7A"/>
                </a:solidFill>
                <a:latin typeface="Calibri"/>
                <a:cs typeface="Calibri"/>
              </a:rPr>
              <a:t>Supporting features: follow-up question handling and session-level (in-memory) query history</a:t>
            </a:r>
          </a:p>
        </p:txBody>
      </p:sp>
    </p:spTree>
    <p:extLst>
      <p:ext uri="{BB962C8B-B14F-4D97-AF65-F5344CB8AC3E}">
        <p14:creationId xmlns:p14="http://schemas.microsoft.com/office/powerpoint/2010/main" val="20158188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Data Narrator: NL-to-SQL BI Copilot with Auto-Insights</a:t>
            </a:r>
          </a:p>
        </p:txBody>
      </p:sp>
      <p:graphicFrame>
        <p:nvGraphicFramePr>
          <p:cNvPr id="310" name="Technology roles table"/>
          <p:cNvGraphicFramePr>
            <a:graphicFrameLocks noGrp="1"/>
          </p:cNvGraphicFramePr>
          <p:nvPr/>
        </p:nvGraphicFramePr>
        <p:xfrm>
          <a:off x="502920" y="1325880"/>
          <a:ext cx="5623560" cy="2962656"/>
        </p:xfrm>
        <a:graphic>
          <a:graphicData uri="http://schemas.openxmlformats.org/drawingml/2006/table">
            <a:tbl>
              <a:tblPr firstRow="1" bandRow="1"/>
              <a:tblGrid>
                <a:gridCol w="22402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83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Technology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Actual role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Python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Core application logic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Streamlit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User interface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Pandas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Data loading and processing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DuckDB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Query execution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Ollama + Llama 3.1 8B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SQL generation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SQL validation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Application-side safety checks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Plotly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Dynamic visualizations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Docker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Containerization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11" name="Architecture caption"/>
          <p:cNvSpPr txBox="1"/>
          <p:nvPr/>
        </p:nvSpPr>
        <p:spPr>
          <a:xfrm>
            <a:off x="6355080" y="1325880"/>
            <a:ext cx="530352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B3A6B"/>
                </a:solidFill>
                <a:latin typeface="Calibri"/>
                <a:cs typeface="Calibri"/>
              </a:rPr>
              <a:t>Component architecture</a:t>
            </a:r>
          </a:p>
        </p:txBody>
      </p:sp>
      <p:sp>
        <p:nvSpPr>
          <p:cNvPr id="312" name="Docker container boundary"/>
          <p:cNvSpPr/>
          <p:nvPr/>
        </p:nvSpPr>
        <p:spPr>
          <a:xfrm>
            <a:off x="8503920" y="1645920"/>
            <a:ext cx="3200400" cy="2697480"/>
          </a:xfrm>
          <a:prstGeom prst="roundRect">
            <a:avLst>
              <a:gd name="adj" fmla="val 5000"/>
            </a:avLst>
          </a:prstGeom>
          <a:solidFill>
            <a:srgbClr val="F4F9FC"/>
          </a:solidFill>
          <a:ln w="19050">
            <a:solidFill>
              <a:srgbClr val="0E8C8C"/>
            </a:solidFill>
            <a:prstDash val="dash"/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13" name="Docker label"/>
          <p:cNvSpPr txBox="1"/>
          <p:nvPr/>
        </p:nvSpPr>
        <p:spPr>
          <a:xfrm>
            <a:off x="8577072" y="1664208"/>
            <a:ext cx="301752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0E8C8C"/>
                </a:solidFill>
                <a:latin typeface="Calibri"/>
                <a:cs typeface="Calibri"/>
              </a:rPr>
              <a:t>Docker container (Python app)</a:t>
            </a:r>
          </a:p>
        </p:txBody>
      </p:sp>
      <p:sp>
        <p:nvSpPr>
          <p:cNvPr id="314" name="Arch Streamlit"/>
          <p:cNvSpPr/>
          <p:nvPr/>
        </p:nvSpPr>
        <p:spPr>
          <a:xfrm>
            <a:off x="8686800" y="1965960"/>
            <a:ext cx="2834640" cy="502920"/>
          </a:xfrm>
          <a:prstGeom prst="roundRect">
            <a:avLst/>
          </a:prstGeom>
          <a:solidFill>
            <a:srgbClr val="3A9D5D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Streamlit UI</a:t>
            </a:r>
          </a:p>
        </p:txBody>
      </p:sp>
      <p:sp>
        <p:nvSpPr>
          <p:cNvPr id="315" name="Arch Validation"/>
          <p:cNvSpPr/>
          <p:nvPr/>
        </p:nvSpPr>
        <p:spPr>
          <a:xfrm>
            <a:off x="8686800" y="2724912"/>
            <a:ext cx="2834640" cy="457200"/>
          </a:xfrm>
          <a:prstGeom prst="roundRect">
            <a:avLst/>
          </a:prstGeom>
          <a:solidFill>
            <a:srgbClr val="0E8C8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SQL validation (app-side)</a:t>
            </a:r>
          </a:p>
        </p:txBody>
      </p:sp>
      <p:sp>
        <p:nvSpPr>
          <p:cNvPr id="316" name="Arch DuckDB"/>
          <p:cNvSpPr/>
          <p:nvPr/>
        </p:nvSpPr>
        <p:spPr>
          <a:xfrm>
            <a:off x="8686800" y="3566160"/>
            <a:ext cx="1234440" cy="548640"/>
          </a:xfrm>
          <a:prstGeom prst="roundRect">
            <a:avLst/>
          </a:prstGeom>
          <a:solidFill>
            <a:srgbClr val="0E8C8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DuckDB</a:t>
            </a:r>
          </a:p>
        </p:txBody>
      </p:sp>
      <p:sp>
        <p:nvSpPr>
          <p:cNvPr id="317" name="Arch Plotly"/>
          <p:cNvSpPr/>
          <p:nvPr/>
        </p:nvSpPr>
        <p:spPr>
          <a:xfrm>
            <a:off x="10287000" y="3566160"/>
            <a:ext cx="1234440" cy="548640"/>
          </a:xfrm>
          <a:prstGeom prst="roundRect">
            <a:avLst/>
          </a:prstGeom>
          <a:solidFill>
            <a:srgbClr val="3A9D5D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FFFFFF"/>
                </a:solidFill>
                <a:latin typeface="Calibri"/>
                <a:cs typeface="Calibri"/>
              </a:rPr>
              <a:t>Plotly</a:t>
            </a:r>
          </a:p>
        </p:txBody>
      </p:sp>
      <p:cxnSp>
        <p:nvCxnSpPr>
          <p:cNvPr id="318" name="Arch arrow UI-Val"/>
          <p:cNvCxnSpPr/>
          <p:nvPr/>
        </p:nvCxnSpPr>
        <p:spPr>
          <a:xfrm>
            <a:off x="10104120" y="2487168"/>
            <a:ext cx="0" cy="219456"/>
          </a:xfrm>
          <a:prstGeom prst="line">
            <a:avLst/>
          </a:prstGeom>
          <a:ln w="25400">
            <a:solidFill>
              <a:srgbClr val="1B3A6B"/>
            </a:solidFill>
            <a:tailEnd type="triangle" w="med" len="med"/>
          </a:ln>
        </p:spPr>
      </p:cxnSp>
      <p:cxnSp>
        <p:nvCxnSpPr>
          <p:cNvPr id="319" name="Arch arrow Val-Duck"/>
          <p:cNvCxnSpPr/>
          <p:nvPr/>
        </p:nvCxnSpPr>
        <p:spPr>
          <a:xfrm>
            <a:off x="9299448" y="3200400"/>
            <a:ext cx="0" cy="347472"/>
          </a:xfrm>
          <a:prstGeom prst="line">
            <a:avLst/>
          </a:prstGeom>
          <a:ln w="25400">
            <a:solidFill>
              <a:srgbClr val="1B3A6B"/>
            </a:solidFill>
            <a:tailEnd type="triangle" w="med" len="med"/>
          </a:ln>
        </p:spPr>
      </p:cxnSp>
      <p:cxnSp>
        <p:nvCxnSpPr>
          <p:cNvPr id="320" name="Arch arrow Duck-Plotly"/>
          <p:cNvCxnSpPr/>
          <p:nvPr/>
        </p:nvCxnSpPr>
        <p:spPr>
          <a:xfrm>
            <a:off x="9939528" y="3840480"/>
            <a:ext cx="329184" cy="0"/>
          </a:xfrm>
          <a:prstGeom prst="line">
            <a:avLst/>
          </a:prstGeom>
          <a:ln w="25400">
            <a:solidFill>
              <a:srgbClr val="1B3A6B"/>
            </a:solidFill>
            <a:tailEnd type="triangle" w="med" len="med"/>
          </a:ln>
        </p:spPr>
      </p:cxnSp>
      <p:sp>
        <p:nvSpPr>
          <p:cNvPr id="321" name="Arch label results"/>
          <p:cNvSpPr txBox="1"/>
          <p:nvPr/>
        </p:nvSpPr>
        <p:spPr>
          <a:xfrm>
            <a:off x="9939528" y="3310128"/>
            <a:ext cx="155448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dirty="0">
                <a:solidFill>
                  <a:srgbClr val="5F6B7A"/>
                </a:solidFill>
                <a:latin typeface="Calibri"/>
                <a:cs typeface="Calibri"/>
              </a:rPr>
              <a:t>results</a:t>
            </a:r>
          </a:p>
        </p:txBody>
      </p:sp>
      <p:sp>
        <p:nvSpPr>
          <p:cNvPr id="322" name="Host label"/>
          <p:cNvSpPr txBox="1"/>
          <p:nvPr/>
        </p:nvSpPr>
        <p:spPr>
          <a:xfrm>
            <a:off x="6355080" y="1664208"/>
            <a:ext cx="1828800" cy="256032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00" b="1" i="0" dirty="0">
                <a:solidFill>
                  <a:srgbClr val="5F6B7A"/>
                </a:solidFill>
                <a:latin typeface="Calibri"/>
                <a:cs typeface="Calibri"/>
              </a:rPr>
              <a:t>Windows host</a:t>
            </a:r>
          </a:p>
        </p:txBody>
      </p:sp>
      <p:sp>
        <p:nvSpPr>
          <p:cNvPr id="323" name="Arch Ollama"/>
          <p:cNvSpPr/>
          <p:nvPr/>
        </p:nvSpPr>
        <p:spPr>
          <a:xfrm>
            <a:off x="6400800" y="2011680"/>
            <a:ext cx="1691640" cy="1005840"/>
          </a:xfrm>
          <a:prstGeom prst="roundRect">
            <a:avLst/>
          </a:prstGeom>
          <a:solidFill>
            <a:srgbClr val="2E5AA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Ollama</a:t>
            </a:r>
          </a:p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dirty="0">
                <a:solidFill>
                  <a:srgbClr val="FFFFFF"/>
                </a:solidFill>
                <a:latin typeface="Calibri"/>
                <a:cs typeface="Calibri"/>
              </a:rPr>
              <a:t>Llama 3.1 8B</a:t>
            </a:r>
          </a:p>
        </p:txBody>
      </p:sp>
      <p:cxnSp>
        <p:nvCxnSpPr>
          <p:cNvPr id="324" name="Arch arrow HTTP"/>
          <p:cNvCxnSpPr/>
          <p:nvPr/>
        </p:nvCxnSpPr>
        <p:spPr>
          <a:xfrm>
            <a:off x="8138160" y="2267712"/>
            <a:ext cx="530352" cy="0"/>
          </a:xfrm>
          <a:prstGeom prst="line">
            <a:avLst/>
          </a:prstGeom>
          <a:ln w="25400">
            <a:solidFill>
              <a:srgbClr val="1B3A6B"/>
            </a:solidFill>
            <a:headEnd type="triangle" w="med" len="med"/>
            <a:tailEnd type="triangle" w="med" len="med"/>
          </a:ln>
        </p:spPr>
      </p:cxnSp>
      <p:sp>
        <p:nvSpPr>
          <p:cNvPr id="325" name="HTTP label"/>
          <p:cNvSpPr txBox="1"/>
          <p:nvPr/>
        </p:nvSpPr>
        <p:spPr>
          <a:xfrm>
            <a:off x="7882128" y="1901952"/>
            <a:ext cx="548640" cy="2743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dirty="0">
                <a:solidFill>
                  <a:srgbClr val="5F6B7A"/>
                </a:solidFill>
                <a:latin typeface="Calibri"/>
                <a:cs typeface="Calibri"/>
              </a:rPr>
              <a:t>HTTP</a:t>
            </a:r>
          </a:p>
        </p:txBody>
      </p:sp>
      <p:sp>
        <p:nvSpPr>
          <p:cNvPr id="326" name="Host path note"/>
          <p:cNvSpPr txBox="1"/>
          <p:nvPr/>
        </p:nvSpPr>
        <p:spPr>
          <a:xfrm>
            <a:off x="6355080" y="3108960"/>
            <a:ext cx="2103120" cy="5029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00" b="0" i="1" dirty="0">
                <a:solidFill>
                  <a:srgbClr val="5F6B7A"/>
                </a:solidFill>
                <a:latin typeface="Calibri"/>
                <a:cs typeface="Calibri"/>
              </a:rPr>
              <a:t>Container reaches host via host.docker.internal</a:t>
            </a:r>
          </a:p>
        </p:txBody>
      </p:sp>
      <p:sp>
        <p:nvSpPr>
          <p:cNvPr id="327" name="Stage Generate"/>
          <p:cNvSpPr/>
          <p:nvPr/>
        </p:nvSpPr>
        <p:spPr>
          <a:xfrm>
            <a:off x="502920" y="4526280"/>
            <a:ext cx="2697480" cy="548640"/>
          </a:xfrm>
          <a:prstGeom prst="roundRect">
            <a:avLst/>
          </a:prstGeom>
          <a:solidFill>
            <a:srgbClr val="2E5AAC"/>
          </a:solidFill>
          <a:ln>
            <a:noFill/>
          </a:ln>
        </p:spPr>
        <p:txBody>
          <a:bodyPr wrap="square" lIns="54864" tIns="32918" rIns="54864" bIns="3291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Generate: </a:t>
            </a:r>
            <a:r>
              <a:rPr lang="en-US" sz="1200" b="0" i="0" dirty="0">
                <a:solidFill>
                  <a:srgbClr val="FFFFFF"/>
                </a:solidFill>
                <a:latin typeface="Calibri"/>
                <a:cs typeface="Calibri"/>
              </a:rPr>
              <a:t>LLM writes SQL</a:t>
            </a:r>
          </a:p>
        </p:txBody>
      </p:sp>
      <p:sp>
        <p:nvSpPr>
          <p:cNvPr id="328" name="Stage Validate"/>
          <p:cNvSpPr/>
          <p:nvPr/>
        </p:nvSpPr>
        <p:spPr>
          <a:xfrm>
            <a:off x="3322015" y="4526280"/>
            <a:ext cx="2697480" cy="548640"/>
          </a:xfrm>
          <a:prstGeom prst="roundRect">
            <a:avLst/>
          </a:prstGeom>
          <a:solidFill>
            <a:srgbClr val="0E8C8C"/>
          </a:solidFill>
          <a:ln>
            <a:noFill/>
          </a:ln>
        </p:spPr>
        <p:txBody>
          <a:bodyPr wrap="square" lIns="54864" tIns="32918" rIns="54864" bIns="3291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Validate: </a:t>
            </a:r>
            <a:r>
              <a:rPr lang="en-US" sz="1200" b="0" i="0" dirty="0">
                <a:solidFill>
                  <a:srgbClr val="FFFFFF"/>
                </a:solidFill>
                <a:latin typeface="Calibri"/>
                <a:cs typeface="Calibri"/>
              </a:rPr>
              <a:t>App checks SQL safety</a:t>
            </a:r>
          </a:p>
        </p:txBody>
      </p:sp>
      <p:sp>
        <p:nvSpPr>
          <p:cNvPr id="329" name="Stage Execute"/>
          <p:cNvSpPr/>
          <p:nvPr/>
        </p:nvSpPr>
        <p:spPr>
          <a:xfrm>
            <a:off x="6141110" y="4526280"/>
            <a:ext cx="2697480" cy="548640"/>
          </a:xfrm>
          <a:prstGeom prst="roundRect">
            <a:avLst/>
          </a:prstGeom>
          <a:solidFill>
            <a:srgbClr val="0E8C8C"/>
          </a:solidFill>
          <a:ln>
            <a:noFill/>
          </a:ln>
        </p:spPr>
        <p:txBody>
          <a:bodyPr wrap="square" lIns="54864" tIns="32918" rIns="54864" bIns="3291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Execute: </a:t>
            </a:r>
            <a:r>
              <a:rPr lang="en-US" sz="1200" b="0" i="0" dirty="0">
                <a:solidFill>
                  <a:srgbClr val="FFFFFF"/>
                </a:solidFill>
                <a:latin typeface="Calibri"/>
                <a:cs typeface="Calibri"/>
              </a:rPr>
              <a:t>DuckDB runs validated SQL</a:t>
            </a:r>
          </a:p>
        </p:txBody>
      </p:sp>
      <p:sp>
        <p:nvSpPr>
          <p:cNvPr id="330" name="Stage Present"/>
          <p:cNvSpPr/>
          <p:nvPr/>
        </p:nvSpPr>
        <p:spPr>
          <a:xfrm>
            <a:off x="8960206" y="4526280"/>
            <a:ext cx="2697480" cy="548640"/>
          </a:xfrm>
          <a:prstGeom prst="roundRect">
            <a:avLst/>
          </a:prstGeom>
          <a:solidFill>
            <a:srgbClr val="3A9D5D"/>
          </a:solidFill>
          <a:ln>
            <a:noFill/>
          </a:ln>
        </p:spPr>
        <p:txBody>
          <a:bodyPr wrap="square" lIns="54864" tIns="32918" rIns="54864" bIns="3291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Present: </a:t>
            </a:r>
            <a:r>
              <a:rPr lang="en-US" sz="1200" b="0" i="0" dirty="0">
                <a:solidFill>
                  <a:srgbClr val="FFFFFF"/>
                </a:solidFill>
                <a:latin typeface="Calibri"/>
                <a:cs typeface="Calibri"/>
              </a:rPr>
              <a:t>Insights + Plotly charts</a:t>
            </a:r>
          </a:p>
        </p:txBody>
      </p:sp>
      <p:sp>
        <p:nvSpPr>
          <p:cNvPr id="331" name="Docker status"/>
          <p:cNvSpPr/>
          <p:nvPr/>
        </p:nvSpPr>
        <p:spPr>
          <a:xfrm>
            <a:off x="563270" y="5209044"/>
            <a:ext cx="11155680" cy="457200"/>
          </a:xfrm>
          <a:prstGeom prst="roundRect">
            <a:avLst>
              <a:gd name="adj" fmla="val 20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B3A6B"/>
                </a:solidFill>
                <a:latin typeface="Calibri"/>
                <a:cs typeface="Calibri"/>
              </a:rPr>
              <a:t>Docker: </a:t>
            </a: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application containerized; image built and tested end-to-end with Ollama on the host</a:t>
            </a:r>
          </a:p>
        </p:txBody>
      </p:sp>
    </p:spTree>
    <p:extLst>
      <p:ext uri="{BB962C8B-B14F-4D97-AF65-F5344CB8AC3E}">
        <p14:creationId xmlns:p14="http://schemas.microsoft.com/office/powerpoint/2010/main" val="1079446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Data Narrator: NL-to-SQL BI Copilot with Auto-Insights</a:t>
            </a:r>
          </a:p>
        </p:txBody>
      </p:sp>
      <p:sp>
        <p:nvSpPr>
          <p:cNvPr id="332" name="Findings card"/>
          <p:cNvSpPr/>
          <p:nvPr/>
        </p:nvSpPr>
        <p:spPr>
          <a:xfrm>
            <a:off x="502920" y="1325879"/>
            <a:ext cx="9539714" cy="4499479"/>
          </a:xfrm>
          <a:prstGeom prst="roundRect">
            <a:avLst>
              <a:gd name="adj" fmla="val 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 dirty="0"/>
          </a:p>
        </p:txBody>
      </p:sp>
      <p:sp>
        <p:nvSpPr>
          <p:cNvPr id="333" name="Findings heading"/>
          <p:cNvSpPr txBox="1"/>
          <p:nvPr/>
        </p:nvSpPr>
        <p:spPr>
          <a:xfrm>
            <a:off x="640080" y="1388827"/>
            <a:ext cx="4937760" cy="520262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B3A6B"/>
                </a:solidFill>
                <a:latin typeface="Calibri"/>
                <a:cs typeface="Calibri"/>
              </a:rPr>
              <a:t>Verified in the implemented application</a:t>
            </a:r>
          </a:p>
        </p:txBody>
      </p:sp>
      <p:sp>
        <p:nvSpPr>
          <p:cNvPr id="334" name="Findings list"/>
          <p:cNvSpPr txBox="1"/>
          <p:nvPr/>
        </p:nvSpPr>
        <p:spPr>
          <a:xfrm>
            <a:off x="640080" y="1783080"/>
            <a:ext cx="10240254" cy="3883164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Tested on the original Superstore dataset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Tested on a second retail dataset with a different schema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Natural-language question → SQL → DuckDB result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Application-side SQL safety checks implemented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Tables, charts, and business insights shown in the app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Follow-up handling and in-memory session history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2000" b="0" i="0" dirty="0">
                <a:solidFill>
                  <a:srgbClr val="222B38"/>
                </a:solidFill>
                <a:latin typeface="Calibri"/>
                <a:cs typeface="Calibri"/>
              </a:rPr>
              <a:t>Docker image built and tested end-to-end</a:t>
            </a:r>
          </a:p>
        </p:txBody>
      </p:sp>
    </p:spTree>
    <p:extLst>
      <p:ext uri="{BB962C8B-B14F-4D97-AF65-F5344CB8AC3E}">
        <p14:creationId xmlns:p14="http://schemas.microsoft.com/office/powerpoint/2010/main" val="679362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Data Narrator: NL-to-SQL BI Copilot with Auto-Insights</a:t>
            </a:r>
          </a:p>
        </p:txBody>
      </p:sp>
      <p:sp>
        <p:nvSpPr>
          <p:cNvPr id="340" name="Contribution card"/>
          <p:cNvSpPr/>
          <p:nvPr/>
        </p:nvSpPr>
        <p:spPr>
          <a:xfrm>
            <a:off x="502920" y="1371600"/>
            <a:ext cx="5669280" cy="4206240"/>
          </a:xfrm>
          <a:prstGeom prst="roundRect">
            <a:avLst>
              <a:gd name="adj" fmla="val 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41" name="Contribution heading"/>
          <p:cNvSpPr txBox="1"/>
          <p:nvPr/>
        </p:nvSpPr>
        <p:spPr>
          <a:xfrm>
            <a:off x="731520" y="1481328"/>
            <a:ext cx="521208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B3A6B"/>
                </a:solidFill>
                <a:latin typeface="Calibri"/>
                <a:cs typeface="Calibri"/>
              </a:rPr>
              <a:t>Key Contributions</a:t>
            </a:r>
          </a:p>
        </p:txBody>
      </p:sp>
      <p:sp>
        <p:nvSpPr>
          <p:cNvPr id="342" name="Contribution list"/>
          <p:cNvSpPr txBox="1"/>
          <p:nvPr/>
        </p:nvSpPr>
        <p:spPr>
          <a:xfrm>
            <a:off x="731520" y="2011680"/>
            <a:ext cx="5212080" cy="3474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Natural-language access to uploaded data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LLM-generated SQL with application-side safety checks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DuckDB query execution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Result-driven business insights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Dynamic Plotly visualizations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Support for different dataset schemas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Follow-up question handling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7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222B38"/>
                </a:solidFill>
                <a:latin typeface="Calibri"/>
                <a:cs typeface="Calibri"/>
              </a:rPr>
              <a:t>Docker containerization</a:t>
            </a:r>
          </a:p>
        </p:txBody>
      </p:sp>
      <p:sp>
        <p:nvSpPr>
          <p:cNvPr id="343" name="Future card"/>
          <p:cNvSpPr/>
          <p:nvPr/>
        </p:nvSpPr>
        <p:spPr>
          <a:xfrm>
            <a:off x="6400800" y="1371600"/>
            <a:ext cx="5257800" cy="4206240"/>
          </a:xfrm>
          <a:prstGeom prst="roundRect">
            <a:avLst>
              <a:gd name="adj" fmla="val 4000"/>
            </a:avLst>
          </a:prstGeom>
          <a:solidFill>
            <a:srgbClr val="1B3A6B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44" name="Future heading"/>
          <p:cNvSpPr txBox="1"/>
          <p:nvPr/>
        </p:nvSpPr>
        <p:spPr>
          <a:xfrm>
            <a:off x="6629400" y="1481328"/>
            <a:ext cx="484632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FFFFFF"/>
                </a:solidFill>
                <a:latin typeface="Calibri"/>
                <a:cs typeface="Calibri"/>
              </a:rPr>
              <a:t>Future Scope</a:t>
            </a:r>
          </a:p>
        </p:txBody>
      </p:sp>
      <p:sp>
        <p:nvSpPr>
          <p:cNvPr id="345" name="Future list"/>
          <p:cNvSpPr txBox="1"/>
          <p:nvPr/>
        </p:nvSpPr>
        <p:spPr>
          <a:xfrm>
            <a:off x="6629400" y="2011680"/>
            <a:ext cx="4846320" cy="347472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FFFFFF"/>
                </a:solidFill>
                <a:latin typeface="Calibri"/>
                <a:cs typeface="Calibri"/>
              </a:rPr>
              <a:t>Formal evaluation across multiple questions and datasets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FFFFFF"/>
                </a:solidFill>
                <a:latin typeface="Calibri"/>
                <a:cs typeface="Calibri"/>
              </a:rPr>
              <a:t>Measure SQL correctness, result correctness, and chart suitability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FFFFFF"/>
                </a:solidFill>
                <a:latin typeface="Calibri"/>
                <a:cs typeface="Calibri"/>
              </a:rPr>
              <a:t>Better context handling for complex follow-ups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FFFFFF"/>
                </a:solidFill>
                <a:latin typeface="Calibri"/>
                <a:cs typeface="Calibri"/>
              </a:rPr>
              <a:t>Complete documentation and GitHub README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600" b="0" i="0" dirty="0">
                <a:solidFill>
                  <a:srgbClr val="FFFFFF"/>
                </a:solidFill>
                <a:latin typeface="Calibri"/>
                <a:cs typeface="Calibri"/>
              </a:rPr>
              <a:t>Optional cloud deployment and hosted AI integration</a:t>
            </a:r>
          </a:p>
        </p:txBody>
      </p:sp>
    </p:spTree>
    <p:extLst>
      <p:ext uri="{BB962C8B-B14F-4D97-AF65-F5344CB8AC3E}">
        <p14:creationId xmlns:p14="http://schemas.microsoft.com/office/powerpoint/2010/main" val="21983719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Data Narrator: NL-to-SQL BI Copilot with Auto-Insights</a:t>
            </a:r>
          </a:p>
        </p:txBody>
      </p:sp>
      <p:sp>
        <p:nvSpPr>
          <p:cNvPr id="349" name="Reference row 1"/>
          <p:cNvSpPr/>
          <p:nvPr/>
        </p:nvSpPr>
        <p:spPr>
          <a:xfrm>
            <a:off x="502920" y="1371600"/>
            <a:ext cx="11155680" cy="548640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50" name="Reference number 1"/>
          <p:cNvSpPr txBox="1"/>
          <p:nvPr/>
        </p:nvSpPr>
        <p:spPr>
          <a:xfrm>
            <a:off x="640080" y="137160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E5AAC"/>
                </a:solidFill>
                <a:latin typeface="Calibri"/>
                <a:cs typeface="Calibri"/>
              </a:rPr>
              <a:t>[1]</a:t>
            </a:r>
          </a:p>
        </p:txBody>
      </p:sp>
      <p:sp>
        <p:nvSpPr>
          <p:cNvPr id="351" name="Reference name 1"/>
          <p:cNvSpPr txBox="1"/>
          <p:nvPr/>
        </p:nvSpPr>
        <p:spPr>
          <a:xfrm>
            <a:off x="1280160" y="137160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Streamlit Documentation</a:t>
            </a:r>
          </a:p>
        </p:txBody>
      </p:sp>
      <p:sp>
        <p:nvSpPr>
          <p:cNvPr id="352" name="Reference url 1"/>
          <p:cNvSpPr txBox="1"/>
          <p:nvPr/>
        </p:nvSpPr>
        <p:spPr>
          <a:xfrm>
            <a:off x="5852160" y="1371600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22B38"/>
                </a:solidFill>
                <a:latin typeface="Calibri"/>
                <a:cs typeface="Calibri"/>
              </a:rPr>
              <a:t>https://docs.streamlit.io</a:t>
            </a:r>
          </a:p>
        </p:txBody>
      </p:sp>
      <p:sp>
        <p:nvSpPr>
          <p:cNvPr id="353" name="Reference row 2"/>
          <p:cNvSpPr/>
          <p:nvPr/>
        </p:nvSpPr>
        <p:spPr>
          <a:xfrm>
            <a:off x="502920" y="1993392"/>
            <a:ext cx="11155680" cy="548640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54" name="Reference number 2"/>
          <p:cNvSpPr txBox="1"/>
          <p:nvPr/>
        </p:nvSpPr>
        <p:spPr>
          <a:xfrm>
            <a:off x="640080" y="199339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E5AAC"/>
                </a:solidFill>
                <a:latin typeface="Calibri"/>
                <a:cs typeface="Calibri"/>
              </a:rPr>
              <a:t>[2]</a:t>
            </a:r>
          </a:p>
        </p:txBody>
      </p:sp>
      <p:sp>
        <p:nvSpPr>
          <p:cNvPr id="355" name="Reference name 2"/>
          <p:cNvSpPr txBox="1"/>
          <p:nvPr/>
        </p:nvSpPr>
        <p:spPr>
          <a:xfrm>
            <a:off x="1280160" y="199339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pandas Documentation</a:t>
            </a:r>
          </a:p>
        </p:txBody>
      </p:sp>
      <p:sp>
        <p:nvSpPr>
          <p:cNvPr id="356" name="Reference url 2"/>
          <p:cNvSpPr txBox="1"/>
          <p:nvPr/>
        </p:nvSpPr>
        <p:spPr>
          <a:xfrm>
            <a:off x="5852160" y="1993392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22B38"/>
                </a:solidFill>
                <a:latin typeface="Calibri"/>
                <a:cs typeface="Calibri"/>
              </a:rPr>
              <a:t>https://pandas.pydata.org/docs/</a:t>
            </a:r>
          </a:p>
        </p:txBody>
      </p:sp>
      <p:sp>
        <p:nvSpPr>
          <p:cNvPr id="357" name="Reference row 3"/>
          <p:cNvSpPr/>
          <p:nvPr/>
        </p:nvSpPr>
        <p:spPr>
          <a:xfrm>
            <a:off x="502920" y="2615184"/>
            <a:ext cx="11155680" cy="548640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58" name="Reference number 3"/>
          <p:cNvSpPr txBox="1"/>
          <p:nvPr/>
        </p:nvSpPr>
        <p:spPr>
          <a:xfrm>
            <a:off x="640080" y="2615184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E5AAC"/>
                </a:solidFill>
                <a:latin typeface="Calibri"/>
                <a:cs typeface="Calibri"/>
              </a:rPr>
              <a:t>[3]</a:t>
            </a:r>
          </a:p>
        </p:txBody>
      </p:sp>
      <p:sp>
        <p:nvSpPr>
          <p:cNvPr id="359" name="Reference name 3"/>
          <p:cNvSpPr txBox="1"/>
          <p:nvPr/>
        </p:nvSpPr>
        <p:spPr>
          <a:xfrm>
            <a:off x="1280160" y="2615184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DuckDB Documentation</a:t>
            </a:r>
          </a:p>
        </p:txBody>
      </p:sp>
      <p:sp>
        <p:nvSpPr>
          <p:cNvPr id="360" name="Reference url 3"/>
          <p:cNvSpPr txBox="1"/>
          <p:nvPr/>
        </p:nvSpPr>
        <p:spPr>
          <a:xfrm>
            <a:off x="5852160" y="2615184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22B38"/>
                </a:solidFill>
                <a:latin typeface="Calibri"/>
                <a:cs typeface="Calibri"/>
              </a:rPr>
              <a:t>https://duckdb.org/docs/</a:t>
            </a:r>
          </a:p>
        </p:txBody>
      </p:sp>
      <p:sp>
        <p:nvSpPr>
          <p:cNvPr id="361" name="Reference row 4"/>
          <p:cNvSpPr/>
          <p:nvPr/>
        </p:nvSpPr>
        <p:spPr>
          <a:xfrm>
            <a:off x="502920" y="3236976"/>
            <a:ext cx="11155680" cy="548640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62" name="Reference number 4"/>
          <p:cNvSpPr txBox="1"/>
          <p:nvPr/>
        </p:nvSpPr>
        <p:spPr>
          <a:xfrm>
            <a:off x="640080" y="3236976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E5AAC"/>
                </a:solidFill>
                <a:latin typeface="Calibri"/>
                <a:cs typeface="Calibri"/>
              </a:rPr>
              <a:t>[4]</a:t>
            </a:r>
          </a:p>
        </p:txBody>
      </p:sp>
      <p:sp>
        <p:nvSpPr>
          <p:cNvPr id="363" name="Reference name 4"/>
          <p:cNvSpPr txBox="1"/>
          <p:nvPr/>
        </p:nvSpPr>
        <p:spPr>
          <a:xfrm>
            <a:off x="1280160" y="3236976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Plotly Python Graphing Library</a:t>
            </a:r>
          </a:p>
        </p:txBody>
      </p:sp>
      <p:sp>
        <p:nvSpPr>
          <p:cNvPr id="364" name="Reference url 4"/>
          <p:cNvSpPr txBox="1"/>
          <p:nvPr/>
        </p:nvSpPr>
        <p:spPr>
          <a:xfrm>
            <a:off x="5852160" y="3236976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22B38"/>
                </a:solidFill>
                <a:latin typeface="Calibri"/>
                <a:cs typeface="Calibri"/>
              </a:rPr>
              <a:t>https://plotly.com/python/</a:t>
            </a:r>
          </a:p>
        </p:txBody>
      </p:sp>
      <p:sp>
        <p:nvSpPr>
          <p:cNvPr id="365" name="Reference row 5"/>
          <p:cNvSpPr/>
          <p:nvPr/>
        </p:nvSpPr>
        <p:spPr>
          <a:xfrm>
            <a:off x="502920" y="3858768"/>
            <a:ext cx="11155680" cy="548640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66" name="Reference number 5"/>
          <p:cNvSpPr txBox="1"/>
          <p:nvPr/>
        </p:nvSpPr>
        <p:spPr>
          <a:xfrm>
            <a:off x="640080" y="3858768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E5AAC"/>
                </a:solidFill>
                <a:latin typeface="Calibri"/>
                <a:cs typeface="Calibri"/>
              </a:rPr>
              <a:t>[5]</a:t>
            </a:r>
          </a:p>
        </p:txBody>
      </p:sp>
      <p:sp>
        <p:nvSpPr>
          <p:cNvPr id="367" name="Reference name 5"/>
          <p:cNvSpPr txBox="1"/>
          <p:nvPr/>
        </p:nvSpPr>
        <p:spPr>
          <a:xfrm>
            <a:off x="1280160" y="3858768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Ollama Documentation</a:t>
            </a:r>
          </a:p>
        </p:txBody>
      </p:sp>
      <p:sp>
        <p:nvSpPr>
          <p:cNvPr id="368" name="Reference url 5"/>
          <p:cNvSpPr txBox="1"/>
          <p:nvPr/>
        </p:nvSpPr>
        <p:spPr>
          <a:xfrm>
            <a:off x="5852160" y="3858768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22B38"/>
                </a:solidFill>
                <a:latin typeface="Calibri"/>
                <a:cs typeface="Calibri"/>
              </a:rPr>
              <a:t>https://docs.ollama.com</a:t>
            </a:r>
          </a:p>
        </p:txBody>
      </p:sp>
      <p:sp>
        <p:nvSpPr>
          <p:cNvPr id="369" name="Reference row 6"/>
          <p:cNvSpPr/>
          <p:nvPr/>
        </p:nvSpPr>
        <p:spPr>
          <a:xfrm>
            <a:off x="502920" y="4480560"/>
            <a:ext cx="11155680" cy="548640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70" name="Reference number 6"/>
          <p:cNvSpPr txBox="1"/>
          <p:nvPr/>
        </p:nvSpPr>
        <p:spPr>
          <a:xfrm>
            <a:off x="640080" y="4480560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E5AAC"/>
                </a:solidFill>
                <a:latin typeface="Calibri"/>
                <a:cs typeface="Calibri"/>
              </a:rPr>
              <a:t>[6]</a:t>
            </a:r>
          </a:p>
        </p:txBody>
      </p:sp>
      <p:sp>
        <p:nvSpPr>
          <p:cNvPr id="371" name="Reference name 6"/>
          <p:cNvSpPr txBox="1"/>
          <p:nvPr/>
        </p:nvSpPr>
        <p:spPr>
          <a:xfrm>
            <a:off x="1280160" y="4480560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Docker Documentation</a:t>
            </a:r>
          </a:p>
        </p:txBody>
      </p:sp>
      <p:sp>
        <p:nvSpPr>
          <p:cNvPr id="372" name="Reference url 6"/>
          <p:cNvSpPr txBox="1"/>
          <p:nvPr/>
        </p:nvSpPr>
        <p:spPr>
          <a:xfrm>
            <a:off x="5852160" y="4480560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22B38"/>
                </a:solidFill>
                <a:latin typeface="Calibri"/>
                <a:cs typeface="Calibri"/>
              </a:rPr>
              <a:t>https://docs.docker.com</a:t>
            </a:r>
          </a:p>
        </p:txBody>
      </p:sp>
      <p:sp>
        <p:nvSpPr>
          <p:cNvPr id="373" name="Reference row 7"/>
          <p:cNvSpPr/>
          <p:nvPr/>
        </p:nvSpPr>
        <p:spPr>
          <a:xfrm>
            <a:off x="502920" y="5102352"/>
            <a:ext cx="11155680" cy="548640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74" name="Reference number 7"/>
          <p:cNvSpPr txBox="1"/>
          <p:nvPr/>
        </p:nvSpPr>
        <p:spPr>
          <a:xfrm>
            <a:off x="640080" y="5102352"/>
            <a:ext cx="54864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2E5AAC"/>
                </a:solidFill>
                <a:latin typeface="Calibri"/>
                <a:cs typeface="Calibri"/>
              </a:rPr>
              <a:t>[7]</a:t>
            </a:r>
          </a:p>
        </p:txBody>
      </p:sp>
      <p:sp>
        <p:nvSpPr>
          <p:cNvPr id="375" name="Reference name 7"/>
          <p:cNvSpPr txBox="1"/>
          <p:nvPr/>
        </p:nvSpPr>
        <p:spPr>
          <a:xfrm>
            <a:off x="1280160" y="5102352"/>
            <a:ext cx="448056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Meta, “Introducing Llama 3.1”</a:t>
            </a:r>
          </a:p>
        </p:txBody>
      </p:sp>
      <p:sp>
        <p:nvSpPr>
          <p:cNvPr id="376" name="Reference url 7"/>
          <p:cNvSpPr txBox="1"/>
          <p:nvPr/>
        </p:nvSpPr>
        <p:spPr>
          <a:xfrm>
            <a:off x="5852160" y="5102352"/>
            <a:ext cx="56692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0" i="0" dirty="0">
                <a:solidFill>
                  <a:srgbClr val="222B38"/>
                </a:solidFill>
                <a:latin typeface="Calibri"/>
                <a:cs typeface="Calibri"/>
              </a:rPr>
              <a:t>https://ai.meta.com/blog/meta-llama-3-1/</a:t>
            </a:r>
          </a:p>
        </p:txBody>
      </p:sp>
    </p:spTree>
    <p:extLst>
      <p:ext uri="{BB962C8B-B14F-4D97-AF65-F5344CB8AC3E}">
        <p14:creationId xmlns:p14="http://schemas.microsoft.com/office/powerpoint/2010/main" val="16598901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98D30BC0-07A3-DCDA-0D0B-DD40C2178A62}"/>
              </a:ext>
            </a:extLst>
          </p:cNvPr>
          <p:cNvSpPr/>
          <p:nvPr/>
        </p:nvSpPr>
        <p:spPr>
          <a:xfrm>
            <a:off x="-31269" y="29737"/>
            <a:ext cx="12254538" cy="6868389"/>
          </a:xfrm>
          <a:prstGeom prst="rect">
            <a:avLst/>
          </a:prstGeom>
          <a:gradFill>
            <a:gsLst>
              <a:gs pos="0">
                <a:srgbClr val="47BDAF"/>
              </a:gs>
              <a:gs pos="100000">
                <a:srgbClr val="3793A6"/>
              </a:gs>
              <a:gs pos="39000">
                <a:srgbClr val="1C4D98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Frutiger LT Pro 45 Light" panose="020B0403030504020204" pitchFamily="34" charset="0"/>
              <a:ea typeface="+mn-ea"/>
              <a:cs typeface="+mn-cs"/>
            </a:endParaRPr>
          </a:p>
        </p:txBody>
      </p:sp>
      <p:sp>
        <p:nvSpPr>
          <p:cNvPr id="14" name="Text Placeholder 1">
            <a:extLst>
              <a:ext uri="{FF2B5EF4-FFF2-40B4-BE49-F238E27FC236}">
                <a16:creationId xmlns:a16="http://schemas.microsoft.com/office/drawing/2014/main" id="{0741E81D-922F-23FE-07A9-320FA2B27E3A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2289635" y="17705"/>
            <a:ext cx="6910121" cy="1058125"/>
          </a:xfrm>
        </p:spPr>
        <p:txBody>
          <a:bodyPr/>
          <a:lstStyle/>
          <a:p>
            <a:pPr marL="0" indent="0" algn="ctr">
              <a:buNone/>
            </a:pPr>
            <a:r>
              <a:rPr lang="en-US" sz="4400" dirty="0">
                <a:solidFill>
                  <a:schemeClr val="bg1"/>
                </a:solidFill>
              </a:rPr>
              <a:t>M.Tech/MCA Program </a:t>
            </a:r>
          </a:p>
          <a:p>
            <a:pPr marL="0" indent="0" algn="ctr">
              <a:buNone/>
            </a:pPr>
            <a:r>
              <a:rPr lang="en-US" sz="2000" dirty="0">
                <a:solidFill>
                  <a:schemeClr val="bg1"/>
                </a:solidFill>
              </a:rPr>
              <a:t>Advanced Industry Integrated Programs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19DFA2-C55E-F4D5-C53A-B5ECEB442DC1}"/>
              </a:ext>
            </a:extLst>
          </p:cNvPr>
          <p:cNvCxnSpPr/>
          <p:nvPr/>
        </p:nvCxnSpPr>
        <p:spPr>
          <a:xfrm>
            <a:off x="2977350" y="1120307"/>
            <a:ext cx="5866228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1AA452C-B3E6-7A79-FD46-04E813851A85}"/>
              </a:ext>
            </a:extLst>
          </p:cNvPr>
          <p:cNvSpPr/>
          <p:nvPr/>
        </p:nvSpPr>
        <p:spPr>
          <a:xfrm>
            <a:off x="4125951" y="1177578"/>
            <a:ext cx="3033131" cy="286036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Frutiger 45 bold"/>
                <a:ea typeface="+mn-ea"/>
                <a:cs typeface="Calibri" panose="020F0502020204030204" pitchFamily="34" charset="0"/>
              </a:rPr>
              <a:t>Jointly offered by University and LTIMindTree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8A8852-79FE-2D69-0530-D7712358063B}"/>
              </a:ext>
            </a:extLst>
          </p:cNvPr>
          <p:cNvSpPr txBox="1"/>
          <p:nvPr/>
        </p:nvSpPr>
        <p:spPr>
          <a:xfrm>
            <a:off x="548640" y="1554480"/>
            <a:ext cx="11064240" cy="28315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400"/>
              </a:spcAft>
            </a:pPr>
            <a:r>
              <a:rPr lang="en-US" sz="2800" b="1" i="0" dirty="0">
                <a:solidFill>
                  <a:srgbClr val="FFFFFF"/>
                </a:solidFill>
                <a:latin typeface="Calibri"/>
                <a:cs typeface="Calibri"/>
              </a:rPr>
              <a:t>Review III</a:t>
            </a:r>
          </a:p>
          <a:p>
            <a:pPr algn="ctr">
              <a:spcAft>
                <a:spcPts val="1400"/>
              </a:spcAft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RAG-Based Intelligent Defect Detection and Knowledge Assistance for Smart Manufacturing with Azure Cloud Deployment and Interactive Visualization</a:t>
            </a:r>
          </a:p>
          <a:p>
            <a:pPr algn="ctr">
              <a:spcAft>
                <a:spcPts val="200"/>
              </a:spcAft>
            </a:pPr>
            <a:r>
              <a:rPr lang="en-US" sz="2600" b="1" i="0" dirty="0">
                <a:solidFill>
                  <a:srgbClr val="FFFFFF"/>
                </a:solidFill>
                <a:latin typeface="Calibri"/>
                <a:cs typeface="Calibri"/>
              </a:rPr>
              <a:t>Nainshi Tikait</a:t>
            </a:r>
          </a:p>
          <a:p>
            <a:pPr algn="ctr">
              <a:spcAft>
                <a:spcPts val="200"/>
              </a:spcAft>
            </a:pPr>
            <a:r>
              <a:rPr lang="en-US" sz="2000" b="0" i="0" dirty="0">
                <a:solidFill>
                  <a:srgbClr val="FFFFFF"/>
                </a:solidFill>
                <a:latin typeface="Calibri"/>
                <a:cs typeface="Calibri"/>
              </a:rPr>
              <a:t>T9919</a:t>
            </a:r>
          </a:p>
          <a:p>
            <a:pPr algn="ctr">
              <a:spcAft>
                <a:spcPts val="200"/>
              </a:spcAft>
            </a:pPr>
            <a:r>
              <a:rPr lang="en-US" sz="2000" b="0" i="0" dirty="0">
                <a:solidFill>
                  <a:srgbClr val="FFFFFF"/>
                </a:solidFill>
                <a:latin typeface="Calibri"/>
                <a:cs typeface="Calibri"/>
              </a:rPr>
              <a:t>M.Tech Artificial Intelligence and Machine Learning</a:t>
            </a:r>
          </a:p>
          <a:p>
            <a:pPr algn="ctr">
              <a:spcAft>
                <a:spcPts val="0"/>
              </a:spcAft>
            </a:pPr>
            <a:r>
              <a:rPr lang="en-US" sz="2000" b="0" i="0" dirty="0">
                <a:solidFill>
                  <a:srgbClr val="FFFFFF"/>
                </a:solidFill>
                <a:latin typeface="Calibri"/>
                <a:cs typeface="Calibri"/>
              </a:rPr>
              <a:t>VIT Vellore  |  2025–2027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E7F5D19-19F4-F87F-17C2-8520612BCFEC}"/>
              </a:ext>
            </a:extLst>
          </p:cNvPr>
          <p:cNvGraphicFramePr>
            <a:graphicFrameLocks noGrp="1"/>
          </p:cNvGraphicFramePr>
          <p:nvPr/>
        </p:nvGraphicFramePr>
        <p:xfrm>
          <a:off x="-47290" y="5501244"/>
          <a:ext cx="12239216" cy="3264833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119608">
                  <a:extLst>
                    <a:ext uri="{9D8B030D-6E8A-4147-A177-3AD203B41FA5}">
                      <a16:colId xmlns:a16="http://schemas.microsoft.com/office/drawing/2014/main" val="586572480"/>
                    </a:ext>
                  </a:extLst>
                </a:gridCol>
                <a:gridCol w="6119608">
                  <a:extLst>
                    <a:ext uri="{9D8B030D-6E8A-4147-A177-3AD203B41FA5}">
                      <a16:colId xmlns:a16="http://schemas.microsoft.com/office/drawing/2014/main" val="157907922"/>
                    </a:ext>
                  </a:extLst>
                </a:gridCol>
              </a:tblGrid>
              <a:tr h="152747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Knowledge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marL="0" marR="0" lvl="0" indent="0" algn="just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bg1"/>
                          </a:solidFill>
                          <a:latin typeface="Frutiger 45 bold"/>
                          <a:cs typeface="Calibri" panose="020F0502020204030204" pitchFamily="34" charset="0"/>
                        </a:rPr>
                        <a:t>                                                                     Implementation partner</a:t>
                      </a:r>
                      <a:endParaRPr lang="en-US" dirty="0">
                        <a:solidFill>
                          <a:schemeClr val="bg1"/>
                        </a:solidFill>
                      </a:endParaRPr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2133668230"/>
                  </a:ext>
                </a:extLst>
              </a:tr>
              <a:tr h="1184198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mpd="sng">
                      <a:noFill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166263768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2715C658-0B94-5B63-55F1-B9B6F645F0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75332" y="5852667"/>
            <a:ext cx="1987468" cy="847417"/>
          </a:xfrm>
          <a:prstGeom prst="rect">
            <a:avLst/>
          </a:prstGeom>
        </p:spPr>
      </p:pic>
      <p:pic>
        <p:nvPicPr>
          <p:cNvPr id="9" name="Picture 2" descr="LTIMindtree - Technology Consulting and Digital Solutions Company">
            <a:extLst>
              <a:ext uri="{FF2B5EF4-FFF2-40B4-BE49-F238E27FC236}">
                <a16:creationId xmlns:a16="http://schemas.microsoft.com/office/drawing/2014/main" id="{B3D78849-E5F7-1DB2-227F-14244586123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bright="1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5852667"/>
            <a:ext cx="3886489" cy="86488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1112669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18EFD-13D1-118F-A8E4-F9E2D3695A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B4E3812-AF2F-9DD8-6ECF-C3425146B38F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Introduction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A295426A-3395-FE92-30C7-C8A6AC62DE62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2D91B1D4-191E-E882-BD37-9FBAED57B57F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Smart Manufacturing: RAG-Based Defect Detection &amp; Knowledge Assistance</a:t>
            </a:r>
          </a:p>
        </p:txBody>
      </p:sp>
      <p:sp>
        <p:nvSpPr>
          <p:cNvPr id="201" name="Intro bullets"/>
          <p:cNvSpPr txBox="1"/>
          <p:nvPr/>
        </p:nvSpPr>
        <p:spPr>
          <a:xfrm>
            <a:off x="502920" y="1325880"/>
            <a:ext cx="11155680" cy="338328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900" b="1" i="0" dirty="0">
                <a:solidFill>
                  <a:srgbClr val="1B3A6B"/>
                </a:solidFill>
                <a:latin typeface="Calibri"/>
                <a:cs typeface="Calibri"/>
              </a:rPr>
              <a:t>Manufacturing processes generate multiple sensor readings </a:t>
            </a:r>
            <a:r>
              <a:rPr lang="en-US" sz="1900" b="0" i="0" dirty="0">
                <a:solidFill>
                  <a:srgbClr val="222B38"/>
                </a:solidFill>
                <a:latin typeface="Calibri"/>
                <a:cs typeface="Calibri"/>
              </a:rPr>
              <a:t>that interact with one another.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900" b="1" i="0" dirty="0">
                <a:solidFill>
                  <a:srgbClr val="1B3A6B"/>
                </a:solidFill>
                <a:latin typeface="Calibri"/>
                <a:cs typeface="Calibri"/>
              </a:rPr>
              <a:t>Engineers need to identify defect severity </a:t>
            </a:r>
            <a:r>
              <a:rPr lang="en-US" sz="1900" b="0" i="0" dirty="0">
                <a:solidFill>
                  <a:srgbClr val="222B38"/>
                </a:solidFill>
                <a:latin typeface="Calibri"/>
                <a:cs typeface="Calibri"/>
              </a:rPr>
              <a:t>and find relevant troubleshooting guidance.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900" b="1" i="0" dirty="0">
                <a:solidFill>
                  <a:srgbClr val="1B3A6B"/>
                </a:solidFill>
                <a:latin typeface="Calibri"/>
                <a:cs typeface="Calibri"/>
              </a:rPr>
              <a:t>Machine learning </a:t>
            </a:r>
            <a:r>
              <a:rPr lang="en-US" sz="1900" b="0" i="0" dirty="0">
                <a:solidFill>
                  <a:srgbClr val="222B38"/>
                </a:solidFill>
                <a:latin typeface="Calibri"/>
                <a:cs typeface="Calibri"/>
              </a:rPr>
              <a:t>classifies the defect category from sensor features.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900" b="1" i="0" dirty="0">
                <a:solidFill>
                  <a:srgbClr val="1B3A6B"/>
                </a:solidFill>
                <a:latin typeface="Calibri"/>
                <a:cs typeface="Calibri"/>
              </a:rPr>
              <a:t>RAG </a:t>
            </a:r>
            <a:r>
              <a:rPr lang="en-US" sz="1900" b="0" i="0" dirty="0">
                <a:solidFill>
                  <a:srgbClr val="222B38"/>
                </a:solidFill>
                <a:latin typeface="Calibri"/>
                <a:cs typeface="Calibri"/>
              </a:rPr>
              <a:t>retrieves relevant manufacturing knowledge.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900" b="1" i="0" dirty="0">
                <a:solidFill>
                  <a:srgbClr val="1B3A6B"/>
                </a:solidFill>
                <a:latin typeface="Calibri"/>
                <a:cs typeface="Calibri"/>
              </a:rPr>
              <a:t>An LLM </a:t>
            </a:r>
            <a:r>
              <a:rPr lang="en-US" sz="1900" b="0" i="0" dirty="0">
                <a:solidFill>
                  <a:srgbClr val="222B38"/>
                </a:solidFill>
                <a:latin typeface="Calibri"/>
                <a:cs typeface="Calibri"/>
              </a:rPr>
              <a:t>turns the prediction and retrieved knowledge into a readable recommendation.</a:t>
            </a:r>
          </a:p>
          <a:p>
            <a:pPr marL="274320" indent="-274320" algn="l">
              <a:lnSpc>
                <a:spcPct val="100000"/>
              </a:lnSpc>
              <a:spcBef>
                <a:spcPts val="0"/>
              </a:spcBef>
              <a:spcAft>
                <a:spcPts val="900"/>
              </a:spcAft>
              <a:buFont typeface="Arial"/>
              <a:buChar char="•"/>
            </a:pPr>
            <a:r>
              <a:rPr lang="en-US" sz="1900" b="1" i="0" dirty="0">
                <a:solidFill>
                  <a:srgbClr val="1B3A6B"/>
                </a:solidFill>
                <a:latin typeface="Calibri"/>
                <a:cs typeface="Calibri"/>
              </a:rPr>
              <a:t>This project combines all of these </a:t>
            </a:r>
            <a:r>
              <a:rPr lang="en-US" sz="1900" b="0" i="0" dirty="0">
                <a:solidFill>
                  <a:srgbClr val="222B38"/>
                </a:solidFill>
                <a:latin typeface="Calibri"/>
                <a:cs typeface="Calibri"/>
              </a:rPr>
              <a:t>in an interactive Streamlit application.</a:t>
            </a:r>
          </a:p>
        </p:txBody>
      </p:sp>
      <p:sp>
        <p:nvSpPr>
          <p:cNvPr id="202" name="Pipeline Sensor Data"/>
          <p:cNvSpPr/>
          <p:nvPr/>
        </p:nvSpPr>
        <p:spPr>
          <a:xfrm>
            <a:off x="266548" y="4846320"/>
            <a:ext cx="1965960" cy="640080"/>
          </a:xfrm>
          <a:prstGeom prst="roundRect">
            <a:avLst/>
          </a:prstGeom>
          <a:solidFill>
            <a:srgbClr val="5F6B7A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Sensor Data</a:t>
            </a:r>
          </a:p>
        </p:txBody>
      </p:sp>
      <p:cxnSp>
        <p:nvCxnSpPr>
          <p:cNvPr id="203" name="Pipeline arrow 0"/>
          <p:cNvCxnSpPr/>
          <p:nvPr/>
        </p:nvCxnSpPr>
        <p:spPr>
          <a:xfrm>
            <a:off x="2278228" y="5166360"/>
            <a:ext cx="365760" cy="0"/>
          </a:xfrm>
          <a:prstGeom prst="line">
            <a:avLst/>
          </a:prstGeom>
          <a:ln w="31750">
            <a:solidFill>
              <a:srgbClr val="5F6B7A"/>
            </a:solidFill>
            <a:tailEnd type="triangle" w="med" len="med"/>
          </a:ln>
        </p:spPr>
      </p:cxnSp>
      <p:sp>
        <p:nvSpPr>
          <p:cNvPr id="204" name="Pipeline ML (SVM)"/>
          <p:cNvSpPr/>
          <p:nvPr/>
        </p:nvSpPr>
        <p:spPr>
          <a:xfrm>
            <a:off x="2689708" y="4846320"/>
            <a:ext cx="1965960" cy="640080"/>
          </a:xfrm>
          <a:prstGeom prst="roundRect">
            <a:avLst/>
          </a:prstGeom>
          <a:solidFill>
            <a:srgbClr val="2E5AA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ML (SVM)</a:t>
            </a:r>
          </a:p>
        </p:txBody>
      </p:sp>
      <p:cxnSp>
        <p:nvCxnSpPr>
          <p:cNvPr id="205" name="Pipeline arrow 1"/>
          <p:cNvCxnSpPr/>
          <p:nvPr/>
        </p:nvCxnSpPr>
        <p:spPr>
          <a:xfrm>
            <a:off x="4701388" y="5166360"/>
            <a:ext cx="365760" cy="0"/>
          </a:xfrm>
          <a:prstGeom prst="line">
            <a:avLst/>
          </a:prstGeom>
          <a:ln w="31750">
            <a:solidFill>
              <a:srgbClr val="5F6B7A"/>
            </a:solidFill>
            <a:tailEnd type="triangle" w="med" len="med"/>
          </a:ln>
        </p:spPr>
      </p:cxnSp>
      <p:sp>
        <p:nvSpPr>
          <p:cNvPr id="206" name="Pipeline RAG Retrieval"/>
          <p:cNvSpPr/>
          <p:nvPr/>
        </p:nvSpPr>
        <p:spPr>
          <a:xfrm>
            <a:off x="5112868" y="4846320"/>
            <a:ext cx="1965960" cy="640080"/>
          </a:xfrm>
          <a:prstGeom prst="roundRect">
            <a:avLst/>
          </a:prstGeom>
          <a:solidFill>
            <a:srgbClr val="0E8C8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RAG Retrieval</a:t>
            </a:r>
          </a:p>
        </p:txBody>
      </p:sp>
      <p:cxnSp>
        <p:nvCxnSpPr>
          <p:cNvPr id="207" name="Pipeline arrow 2"/>
          <p:cNvCxnSpPr/>
          <p:nvPr/>
        </p:nvCxnSpPr>
        <p:spPr>
          <a:xfrm>
            <a:off x="7124548" y="5166360"/>
            <a:ext cx="365760" cy="0"/>
          </a:xfrm>
          <a:prstGeom prst="line">
            <a:avLst/>
          </a:prstGeom>
          <a:ln w="31750">
            <a:solidFill>
              <a:srgbClr val="5F6B7A"/>
            </a:solidFill>
            <a:tailEnd type="triangle" w="med" len="med"/>
          </a:ln>
        </p:spPr>
      </p:cxnSp>
      <p:sp>
        <p:nvSpPr>
          <p:cNvPr id="208" name="Pipeline LLM Recommendation"/>
          <p:cNvSpPr/>
          <p:nvPr/>
        </p:nvSpPr>
        <p:spPr>
          <a:xfrm>
            <a:off x="7536028" y="4846320"/>
            <a:ext cx="1965960" cy="640080"/>
          </a:xfrm>
          <a:prstGeom prst="roundRect">
            <a:avLst/>
          </a:prstGeom>
          <a:solidFill>
            <a:srgbClr val="3A9D5D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LLM Recommendation</a:t>
            </a:r>
          </a:p>
        </p:txBody>
      </p:sp>
      <p:cxnSp>
        <p:nvCxnSpPr>
          <p:cNvPr id="209" name="Pipeline arrow 3"/>
          <p:cNvCxnSpPr/>
          <p:nvPr/>
        </p:nvCxnSpPr>
        <p:spPr>
          <a:xfrm>
            <a:off x="9547708" y="5166360"/>
            <a:ext cx="365760" cy="0"/>
          </a:xfrm>
          <a:prstGeom prst="line">
            <a:avLst/>
          </a:prstGeom>
          <a:ln w="31750">
            <a:solidFill>
              <a:srgbClr val="5F6B7A"/>
            </a:solidFill>
            <a:tailEnd type="triangle" w="med" len="med"/>
          </a:ln>
        </p:spPr>
      </p:cxnSp>
      <p:sp>
        <p:nvSpPr>
          <p:cNvPr id="210" name="Pipeline Streamlit Dashboard"/>
          <p:cNvSpPr/>
          <p:nvPr/>
        </p:nvSpPr>
        <p:spPr>
          <a:xfrm>
            <a:off x="9959188" y="4846320"/>
            <a:ext cx="1965960" cy="640080"/>
          </a:xfrm>
          <a:prstGeom prst="roundRect">
            <a:avLst/>
          </a:prstGeom>
          <a:solidFill>
            <a:srgbClr val="1B3A6B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Streamlit Dashboard</a:t>
            </a:r>
          </a:p>
        </p:txBody>
      </p:sp>
    </p:spTree>
    <p:extLst>
      <p:ext uri="{BB962C8B-B14F-4D97-AF65-F5344CB8AC3E}">
        <p14:creationId xmlns:p14="http://schemas.microsoft.com/office/powerpoint/2010/main" val="7862959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D1235D-73A1-0B84-0745-6B97432CB0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2FF40D3-B05A-88C3-591F-882A93FC9918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1" i="0" u="none" strike="noStrike" kern="1200" cap="none" spc="0" normalizeH="0" baseline="0" noProof="0" dirty="0">
                <a:ln>
                  <a:noFill/>
                </a:ln>
                <a:solidFill>
                  <a:srgbClr val="5B9BD5">
                    <a:lumMod val="50000"/>
                  </a:srgb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Objectives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2740D4D-2363-70E1-0E6E-1BDDA8C33C8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4452DD5-D934-4955-F39B-2109AC72692F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Smart Manufacturing: RAG-Based Defect Detection &amp; Knowledge Assistance</a:t>
            </a:r>
          </a:p>
        </p:txBody>
      </p:sp>
      <p:sp>
        <p:nvSpPr>
          <p:cNvPr id="211" name="Objective card 1"/>
          <p:cNvSpPr/>
          <p:nvPr/>
        </p:nvSpPr>
        <p:spPr>
          <a:xfrm>
            <a:off x="502920" y="1325880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12" name="Objective number 1"/>
          <p:cNvSpPr/>
          <p:nvPr/>
        </p:nvSpPr>
        <p:spPr>
          <a:xfrm>
            <a:off x="640080" y="1508760"/>
            <a:ext cx="530352" cy="530352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13" name="Objective text 1"/>
          <p:cNvSpPr txBox="1"/>
          <p:nvPr/>
        </p:nvSpPr>
        <p:spPr>
          <a:xfrm>
            <a:off x="1307592" y="1399032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Analyse manufacturing sensor features</a:t>
            </a:r>
          </a:p>
        </p:txBody>
      </p:sp>
      <p:sp>
        <p:nvSpPr>
          <p:cNvPr id="214" name="Objective card 2"/>
          <p:cNvSpPr/>
          <p:nvPr/>
        </p:nvSpPr>
        <p:spPr>
          <a:xfrm>
            <a:off x="6217920" y="1325880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15" name="Objective number 2"/>
          <p:cNvSpPr/>
          <p:nvPr/>
        </p:nvSpPr>
        <p:spPr>
          <a:xfrm>
            <a:off x="6355080" y="1508760"/>
            <a:ext cx="530352" cy="530352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16" name="Objective text 2"/>
          <p:cNvSpPr txBox="1"/>
          <p:nvPr/>
        </p:nvSpPr>
        <p:spPr>
          <a:xfrm>
            <a:off x="7022592" y="1399032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Compare machine learning models for defect classification</a:t>
            </a:r>
          </a:p>
        </p:txBody>
      </p:sp>
      <p:sp>
        <p:nvSpPr>
          <p:cNvPr id="217" name="Objective card 3"/>
          <p:cNvSpPr/>
          <p:nvPr/>
        </p:nvSpPr>
        <p:spPr>
          <a:xfrm>
            <a:off x="502920" y="2404872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18" name="Objective number 3"/>
          <p:cNvSpPr/>
          <p:nvPr/>
        </p:nvSpPr>
        <p:spPr>
          <a:xfrm>
            <a:off x="640080" y="2587752"/>
            <a:ext cx="530352" cy="530352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19" name="Objective text 3"/>
          <p:cNvSpPr txBox="1"/>
          <p:nvPr/>
        </p:nvSpPr>
        <p:spPr>
          <a:xfrm>
            <a:off x="1307592" y="2478024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Select an effective classification model</a:t>
            </a:r>
          </a:p>
        </p:txBody>
      </p:sp>
      <p:sp>
        <p:nvSpPr>
          <p:cNvPr id="220" name="Objective card 4"/>
          <p:cNvSpPr/>
          <p:nvPr/>
        </p:nvSpPr>
        <p:spPr>
          <a:xfrm>
            <a:off x="6217920" y="2404872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21" name="Objective number 4"/>
          <p:cNvSpPr/>
          <p:nvPr/>
        </p:nvSpPr>
        <p:spPr>
          <a:xfrm>
            <a:off x="6355080" y="2587752"/>
            <a:ext cx="530352" cy="530352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22" name="Objective text 4"/>
          <p:cNvSpPr txBox="1"/>
          <p:nvPr/>
        </p:nvSpPr>
        <p:spPr>
          <a:xfrm>
            <a:off x="7022592" y="2478024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Retrieve relevant troubleshooting knowledge through RAG</a:t>
            </a:r>
          </a:p>
        </p:txBody>
      </p:sp>
      <p:sp>
        <p:nvSpPr>
          <p:cNvPr id="223" name="Objective card 5"/>
          <p:cNvSpPr/>
          <p:nvPr/>
        </p:nvSpPr>
        <p:spPr>
          <a:xfrm>
            <a:off x="502920" y="3483864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24" name="Objective number 5"/>
          <p:cNvSpPr/>
          <p:nvPr/>
        </p:nvSpPr>
        <p:spPr>
          <a:xfrm>
            <a:off x="640080" y="3666744"/>
            <a:ext cx="530352" cy="530352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25" name="Objective text 5"/>
          <p:cNvSpPr txBox="1"/>
          <p:nvPr/>
        </p:nvSpPr>
        <p:spPr>
          <a:xfrm>
            <a:off x="1307592" y="3557016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Generate understandable corrective recommendations using an LLM</a:t>
            </a:r>
          </a:p>
        </p:txBody>
      </p:sp>
      <p:sp>
        <p:nvSpPr>
          <p:cNvPr id="226" name="Objective card 6"/>
          <p:cNvSpPr/>
          <p:nvPr/>
        </p:nvSpPr>
        <p:spPr>
          <a:xfrm>
            <a:off x="6217920" y="3483864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27" name="Objective number 6"/>
          <p:cNvSpPr/>
          <p:nvPr/>
        </p:nvSpPr>
        <p:spPr>
          <a:xfrm>
            <a:off x="6355080" y="3666744"/>
            <a:ext cx="530352" cy="530352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28" name="Objective text 6"/>
          <p:cNvSpPr txBox="1"/>
          <p:nvPr/>
        </p:nvSpPr>
        <p:spPr>
          <a:xfrm>
            <a:off x="7022592" y="3557016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Display predictions, confidence, and knowledge in an interactive dashboard</a:t>
            </a:r>
          </a:p>
        </p:txBody>
      </p:sp>
      <p:sp>
        <p:nvSpPr>
          <p:cNvPr id="229" name="Objective card 7"/>
          <p:cNvSpPr/>
          <p:nvPr/>
        </p:nvSpPr>
        <p:spPr>
          <a:xfrm>
            <a:off x="502920" y="4562856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30" name="Objective number 7"/>
          <p:cNvSpPr/>
          <p:nvPr/>
        </p:nvSpPr>
        <p:spPr>
          <a:xfrm>
            <a:off x="640080" y="4745736"/>
            <a:ext cx="530352" cy="530352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231" name="Objective text 7"/>
          <p:cNvSpPr txBox="1"/>
          <p:nvPr/>
        </p:nvSpPr>
        <p:spPr>
          <a:xfrm>
            <a:off x="1307592" y="4636008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Support sequential batch monitoring and defect-severity summaries</a:t>
            </a:r>
          </a:p>
        </p:txBody>
      </p:sp>
      <p:sp>
        <p:nvSpPr>
          <p:cNvPr id="232" name="Objective card 8"/>
          <p:cNvSpPr/>
          <p:nvPr/>
        </p:nvSpPr>
        <p:spPr>
          <a:xfrm>
            <a:off x="6217920" y="4562856"/>
            <a:ext cx="5440680" cy="896112"/>
          </a:xfrm>
          <a:prstGeom prst="roundRect">
            <a:avLst>
              <a:gd name="adj" fmla="val 12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33" name="Objective number 8"/>
          <p:cNvSpPr/>
          <p:nvPr/>
        </p:nvSpPr>
        <p:spPr>
          <a:xfrm>
            <a:off x="6355080" y="4745736"/>
            <a:ext cx="530352" cy="530352"/>
          </a:xfrm>
          <a:prstGeom prst="ellipse">
            <a:avLst/>
          </a:prstGeom>
          <a:solidFill>
            <a:srgbClr val="5F6B7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234" name="Objective text 8"/>
          <p:cNvSpPr txBox="1"/>
          <p:nvPr/>
        </p:nvSpPr>
        <p:spPr>
          <a:xfrm>
            <a:off x="7022592" y="4636008"/>
            <a:ext cx="4526280" cy="7498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Explore Azure cloud deployment as a planned enhancement</a:t>
            </a:r>
          </a:p>
        </p:txBody>
      </p:sp>
    </p:spTree>
    <p:extLst>
      <p:ext uri="{BB962C8B-B14F-4D97-AF65-F5344CB8AC3E}">
        <p14:creationId xmlns:p14="http://schemas.microsoft.com/office/powerpoint/2010/main" val="8686163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5EA9B7F-B60D-6297-DC95-0FDA7E6D7C7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  <a:latin typeface="Calibri" panose="020F0502020204030204"/>
              </a:rPr>
              <a:t>Modules</a:t>
            </a: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5B9BD5">
                  <a:lumMod val="50000"/>
                </a:srgbClr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06F77F89-4F98-73F2-FD5A-5DD416A6F12F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>
            <a:extLst>
              <a:ext uri="{FF2B5EF4-FFF2-40B4-BE49-F238E27FC236}">
                <a16:creationId xmlns:a16="http://schemas.microsoft.com/office/drawing/2014/main" id="{65221164-7940-3B34-A613-28A74A63E0F7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Smart Manufacturing: RAG-Based Defect Detection &amp; Knowledge Assistance</a:t>
            </a:r>
          </a:p>
        </p:txBody>
      </p:sp>
      <p:sp>
        <p:nvSpPr>
          <p:cNvPr id="236" name="Module row 1"/>
          <p:cNvSpPr/>
          <p:nvPr/>
        </p:nvSpPr>
        <p:spPr>
          <a:xfrm>
            <a:off x="502920" y="1280160"/>
            <a:ext cx="11155680" cy="493776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37" name="Module badge 1"/>
          <p:cNvSpPr/>
          <p:nvPr/>
        </p:nvSpPr>
        <p:spPr>
          <a:xfrm>
            <a:off x="594360" y="1344168"/>
            <a:ext cx="365760" cy="365760"/>
          </a:xfrm>
          <a:prstGeom prst="ellipse">
            <a:avLst/>
          </a:prstGeom>
          <a:solidFill>
            <a:srgbClr val="5F6B7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1</a:t>
            </a:r>
          </a:p>
        </p:txBody>
      </p:sp>
      <p:sp>
        <p:nvSpPr>
          <p:cNvPr id="238" name="Module name 1"/>
          <p:cNvSpPr txBox="1"/>
          <p:nvPr/>
        </p:nvSpPr>
        <p:spPr>
          <a:xfrm>
            <a:off x="1051560" y="1280160"/>
            <a:ext cx="43434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Dataset Generation &amp; Preprocessing</a:t>
            </a:r>
          </a:p>
        </p:txBody>
      </p:sp>
      <p:sp>
        <p:nvSpPr>
          <p:cNvPr id="239" name="Module desc 1"/>
          <p:cNvSpPr txBox="1"/>
          <p:nvPr/>
        </p:nvSpPr>
        <p:spPr>
          <a:xfrm>
            <a:off x="5440680" y="1280160"/>
            <a:ext cx="61722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Synthetic data: 10,000 rows, 5 sensor features, 4 defect classes</a:t>
            </a:r>
          </a:p>
        </p:txBody>
      </p:sp>
      <p:sp>
        <p:nvSpPr>
          <p:cNvPr id="240" name="Module row 2"/>
          <p:cNvSpPr/>
          <p:nvPr/>
        </p:nvSpPr>
        <p:spPr>
          <a:xfrm>
            <a:off x="502920" y="1833372"/>
            <a:ext cx="11155680" cy="493776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41" name="Module badge 2"/>
          <p:cNvSpPr/>
          <p:nvPr/>
        </p:nvSpPr>
        <p:spPr>
          <a:xfrm>
            <a:off x="594360" y="1897380"/>
            <a:ext cx="365760" cy="365760"/>
          </a:xfrm>
          <a:prstGeom prst="ellipse">
            <a:avLst/>
          </a:prstGeom>
          <a:solidFill>
            <a:srgbClr val="5F6B7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2</a:t>
            </a:r>
          </a:p>
        </p:txBody>
      </p:sp>
      <p:sp>
        <p:nvSpPr>
          <p:cNvPr id="242" name="Module name 2"/>
          <p:cNvSpPr txBox="1"/>
          <p:nvPr/>
        </p:nvSpPr>
        <p:spPr>
          <a:xfrm>
            <a:off x="1051560" y="1833372"/>
            <a:ext cx="43434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Exploratory Data Analysis</a:t>
            </a:r>
          </a:p>
        </p:txBody>
      </p:sp>
      <p:sp>
        <p:nvSpPr>
          <p:cNvPr id="243" name="Module desc 2"/>
          <p:cNvSpPr txBox="1"/>
          <p:nvPr/>
        </p:nvSpPr>
        <p:spPr>
          <a:xfrm>
            <a:off x="5440680" y="1833372"/>
            <a:ext cx="61722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Shape, types, missing values, duplicates, statistics, distributions</a:t>
            </a:r>
          </a:p>
        </p:txBody>
      </p:sp>
      <p:sp>
        <p:nvSpPr>
          <p:cNvPr id="244" name="Module row 3"/>
          <p:cNvSpPr/>
          <p:nvPr/>
        </p:nvSpPr>
        <p:spPr>
          <a:xfrm>
            <a:off x="502920" y="2386584"/>
            <a:ext cx="11155680" cy="493776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45" name="Module badge 3"/>
          <p:cNvSpPr/>
          <p:nvPr/>
        </p:nvSpPr>
        <p:spPr>
          <a:xfrm>
            <a:off x="594360" y="2450592"/>
            <a:ext cx="365760" cy="365760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3</a:t>
            </a:r>
          </a:p>
        </p:txBody>
      </p:sp>
      <p:sp>
        <p:nvSpPr>
          <p:cNvPr id="246" name="Module name 3"/>
          <p:cNvSpPr txBox="1"/>
          <p:nvPr/>
        </p:nvSpPr>
        <p:spPr>
          <a:xfrm>
            <a:off x="1051560" y="2386584"/>
            <a:ext cx="43434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ML Training &amp; Evaluation</a:t>
            </a:r>
          </a:p>
        </p:txBody>
      </p:sp>
      <p:sp>
        <p:nvSpPr>
          <p:cNvPr id="247" name="Module desc 3"/>
          <p:cNvSpPr txBox="1"/>
          <p:nvPr/>
        </p:nvSpPr>
        <p:spPr>
          <a:xfrm>
            <a:off x="5440680" y="2386584"/>
            <a:ext cx="61722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Four classifiers compared on a stratified 80/20 split; SVM selected</a:t>
            </a:r>
          </a:p>
        </p:txBody>
      </p:sp>
      <p:sp>
        <p:nvSpPr>
          <p:cNvPr id="248" name="Module row 4"/>
          <p:cNvSpPr/>
          <p:nvPr/>
        </p:nvSpPr>
        <p:spPr>
          <a:xfrm>
            <a:off x="502920" y="2939796"/>
            <a:ext cx="11155680" cy="493776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49" name="Module badge 4"/>
          <p:cNvSpPr/>
          <p:nvPr/>
        </p:nvSpPr>
        <p:spPr>
          <a:xfrm>
            <a:off x="594360" y="3003804"/>
            <a:ext cx="365760" cy="365760"/>
          </a:xfrm>
          <a:prstGeom prst="ellipse">
            <a:avLst/>
          </a:prstGeom>
          <a:solidFill>
            <a:srgbClr val="2E5AA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4</a:t>
            </a:r>
          </a:p>
        </p:txBody>
      </p:sp>
      <p:sp>
        <p:nvSpPr>
          <p:cNvPr id="250" name="Module name 4"/>
          <p:cNvSpPr txBox="1"/>
          <p:nvPr/>
        </p:nvSpPr>
        <p:spPr>
          <a:xfrm>
            <a:off x="1051560" y="2939796"/>
            <a:ext cx="43434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Defect Prediction</a:t>
            </a:r>
          </a:p>
        </p:txBody>
      </p:sp>
      <p:sp>
        <p:nvSpPr>
          <p:cNvPr id="251" name="Module desc 4"/>
          <p:cNvSpPr txBox="1"/>
          <p:nvPr/>
        </p:nvSpPr>
        <p:spPr>
          <a:xfrm>
            <a:off x="5440680" y="2939796"/>
            <a:ext cx="61722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Saved SVM returns category, confidence, and class probabilities</a:t>
            </a:r>
          </a:p>
        </p:txBody>
      </p:sp>
      <p:sp>
        <p:nvSpPr>
          <p:cNvPr id="252" name="Module row 5"/>
          <p:cNvSpPr/>
          <p:nvPr/>
        </p:nvSpPr>
        <p:spPr>
          <a:xfrm>
            <a:off x="502920" y="3493008"/>
            <a:ext cx="11155680" cy="493776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53" name="Module badge 5"/>
          <p:cNvSpPr/>
          <p:nvPr/>
        </p:nvSpPr>
        <p:spPr>
          <a:xfrm>
            <a:off x="594360" y="3557016"/>
            <a:ext cx="365760" cy="365760"/>
          </a:xfrm>
          <a:prstGeom prst="ellipse">
            <a:avLst/>
          </a:prstGeom>
          <a:solidFill>
            <a:srgbClr val="0E8C8C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54" name="Module name 5"/>
          <p:cNvSpPr txBox="1"/>
          <p:nvPr/>
        </p:nvSpPr>
        <p:spPr>
          <a:xfrm>
            <a:off x="1051560" y="3493008"/>
            <a:ext cx="43434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RAG Retrieval &amp; Reranking</a:t>
            </a:r>
          </a:p>
        </p:txBody>
      </p:sp>
      <p:sp>
        <p:nvSpPr>
          <p:cNvPr id="255" name="Module desc 5"/>
          <p:cNvSpPr txBox="1"/>
          <p:nvPr/>
        </p:nvSpPr>
        <p:spPr>
          <a:xfrm>
            <a:off x="5440680" y="3493008"/>
            <a:ext cx="61722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ChromaDB retrieval of 8 chunks; keyword severity-aware rerank to top 3</a:t>
            </a:r>
          </a:p>
        </p:txBody>
      </p:sp>
      <p:sp>
        <p:nvSpPr>
          <p:cNvPr id="256" name="Module row 6"/>
          <p:cNvSpPr/>
          <p:nvPr/>
        </p:nvSpPr>
        <p:spPr>
          <a:xfrm>
            <a:off x="502920" y="4046220"/>
            <a:ext cx="11155680" cy="493776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57" name="Module badge 6"/>
          <p:cNvSpPr/>
          <p:nvPr/>
        </p:nvSpPr>
        <p:spPr>
          <a:xfrm>
            <a:off x="594360" y="4110228"/>
            <a:ext cx="365760" cy="365760"/>
          </a:xfrm>
          <a:prstGeom prst="ellipse">
            <a:avLst/>
          </a:prstGeom>
          <a:solidFill>
            <a:srgbClr val="3A9D5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6</a:t>
            </a:r>
          </a:p>
        </p:txBody>
      </p:sp>
      <p:sp>
        <p:nvSpPr>
          <p:cNvPr id="258" name="Module name 6"/>
          <p:cNvSpPr txBox="1"/>
          <p:nvPr/>
        </p:nvSpPr>
        <p:spPr>
          <a:xfrm>
            <a:off x="1051560" y="4046220"/>
            <a:ext cx="43434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LLM Recommendation Generation</a:t>
            </a:r>
          </a:p>
        </p:txBody>
      </p:sp>
      <p:sp>
        <p:nvSpPr>
          <p:cNvPr id="259" name="Module desc 6"/>
          <p:cNvSpPr txBox="1"/>
          <p:nvPr/>
        </p:nvSpPr>
        <p:spPr>
          <a:xfrm>
            <a:off x="5440680" y="4046220"/>
            <a:ext cx="61722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Ollama explains and recommends from the prediction and retrieved knowledge</a:t>
            </a:r>
          </a:p>
        </p:txBody>
      </p:sp>
      <p:sp>
        <p:nvSpPr>
          <p:cNvPr id="260" name="Module row 7"/>
          <p:cNvSpPr/>
          <p:nvPr/>
        </p:nvSpPr>
        <p:spPr>
          <a:xfrm>
            <a:off x="502920" y="4599432"/>
            <a:ext cx="11155680" cy="493776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61" name="Module badge 7"/>
          <p:cNvSpPr/>
          <p:nvPr/>
        </p:nvSpPr>
        <p:spPr>
          <a:xfrm>
            <a:off x="594360" y="4663440"/>
            <a:ext cx="365760" cy="365760"/>
          </a:xfrm>
          <a:prstGeom prst="ellipse">
            <a:avLst/>
          </a:prstGeom>
          <a:solidFill>
            <a:srgbClr val="3A9D5D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7</a:t>
            </a:r>
          </a:p>
        </p:txBody>
      </p:sp>
      <p:sp>
        <p:nvSpPr>
          <p:cNvPr id="262" name="Module name 7"/>
          <p:cNvSpPr txBox="1"/>
          <p:nvPr/>
        </p:nvSpPr>
        <p:spPr>
          <a:xfrm>
            <a:off x="1051560" y="4599432"/>
            <a:ext cx="43434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Streamlit Visualization &amp; Batch Monitoring</a:t>
            </a:r>
          </a:p>
        </p:txBody>
      </p:sp>
      <p:sp>
        <p:nvSpPr>
          <p:cNvPr id="263" name="Module desc 7"/>
          <p:cNvSpPr txBox="1"/>
          <p:nvPr/>
        </p:nvSpPr>
        <p:spPr>
          <a:xfrm>
            <a:off x="5440680" y="4599432"/>
            <a:ext cx="61722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Five-input dashboard; sequential batches of 10 with severity status</a:t>
            </a:r>
          </a:p>
        </p:txBody>
      </p:sp>
      <p:sp>
        <p:nvSpPr>
          <p:cNvPr id="264" name="Module row 8"/>
          <p:cNvSpPr/>
          <p:nvPr/>
        </p:nvSpPr>
        <p:spPr>
          <a:xfrm>
            <a:off x="502920" y="5152644"/>
            <a:ext cx="11155680" cy="493776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65" name="Module badge 8"/>
          <p:cNvSpPr/>
          <p:nvPr/>
        </p:nvSpPr>
        <p:spPr>
          <a:xfrm>
            <a:off x="594360" y="5216652"/>
            <a:ext cx="365760" cy="365760"/>
          </a:xfrm>
          <a:prstGeom prst="ellipse">
            <a:avLst/>
          </a:prstGeom>
          <a:solidFill>
            <a:srgbClr val="5F6B7A"/>
          </a:solidFill>
          <a:ln>
            <a:noFill/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FFFFFF"/>
                </a:solidFill>
                <a:latin typeface="Calibri"/>
                <a:cs typeface="Calibri"/>
              </a:rPr>
              <a:t>8</a:t>
            </a:r>
          </a:p>
        </p:txBody>
      </p:sp>
      <p:sp>
        <p:nvSpPr>
          <p:cNvPr id="266" name="Module name 8"/>
          <p:cNvSpPr txBox="1"/>
          <p:nvPr/>
        </p:nvSpPr>
        <p:spPr>
          <a:xfrm>
            <a:off x="1051560" y="5152644"/>
            <a:ext cx="43434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Azure Deployment (Planned Enhancement)</a:t>
            </a:r>
          </a:p>
        </p:txBody>
      </p:sp>
      <p:sp>
        <p:nvSpPr>
          <p:cNvPr id="267" name="Module desc 8"/>
          <p:cNvSpPr txBox="1"/>
          <p:nvPr/>
        </p:nvSpPr>
        <p:spPr>
          <a:xfrm>
            <a:off x="5440680" y="5152644"/>
            <a:ext cx="6172200" cy="493776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Cloud deployment of the working local prototype is a planned next step</a:t>
            </a:r>
          </a:p>
        </p:txBody>
      </p:sp>
    </p:spTree>
    <p:extLst>
      <p:ext uri="{BB962C8B-B14F-4D97-AF65-F5344CB8AC3E}">
        <p14:creationId xmlns:p14="http://schemas.microsoft.com/office/powerpoint/2010/main" val="35808258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E2D7CD-C158-6FC1-06C7-09444D2DE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B15F4B8-EED0-F7BE-96C7-D7AAE989A2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Problem Statement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5A882B44-FCE4-BF93-E951-46CF2238FB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CE164B1-01DD-BF3B-88E8-DF2DEDBFA9EB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Smart Manufacturing: RAG-Based Defect Detection &amp; Knowledge Assistance</a:t>
            </a:r>
          </a:p>
        </p:txBody>
      </p:sp>
      <p:sp>
        <p:nvSpPr>
          <p:cNvPr id="268" name="Problem card"/>
          <p:cNvSpPr/>
          <p:nvPr/>
        </p:nvSpPr>
        <p:spPr>
          <a:xfrm>
            <a:off x="502920" y="1325880"/>
            <a:ext cx="5486400" cy="3429000"/>
          </a:xfrm>
          <a:prstGeom prst="roundRect">
            <a:avLst>
              <a:gd name="adj" fmla="val 5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69" name="Problem heading"/>
          <p:cNvSpPr txBox="1"/>
          <p:nvPr/>
        </p:nvSpPr>
        <p:spPr>
          <a:xfrm>
            <a:off x="731520" y="1417320"/>
            <a:ext cx="502920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1B3A6B"/>
                </a:solidFill>
                <a:latin typeface="Calibri"/>
                <a:cs typeface="Calibri"/>
              </a:rPr>
              <a:t>The Problem</a:t>
            </a:r>
          </a:p>
        </p:txBody>
      </p:sp>
      <p:sp>
        <p:nvSpPr>
          <p:cNvPr id="270" name="Problem text"/>
          <p:cNvSpPr txBox="1"/>
          <p:nvPr/>
        </p:nvSpPr>
        <p:spPr>
          <a:xfrm>
            <a:off x="731520" y="1965960"/>
            <a:ext cx="5029200" cy="2743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222B38"/>
                </a:solidFill>
                <a:latin typeface="Calibri"/>
                <a:cs typeface="Calibri"/>
              </a:rPr>
              <a:t>Manufacturing sensor data can contain multiple interacting features, making defect severity difficult to assess manually.</a:t>
            </a:r>
          </a:p>
          <a:p>
            <a:pPr marL="256032" indent="-256032" algn="l">
              <a:lnSpc>
                <a:spcPct val="100000"/>
              </a:lnSpc>
              <a:spcBef>
                <a:spcPts val="0"/>
              </a:spcBef>
              <a:spcAft>
                <a:spcPts val="1200"/>
              </a:spcAft>
              <a:buFont typeface="Arial"/>
              <a:buChar char="•"/>
            </a:pPr>
            <a:r>
              <a:rPr lang="en-US" sz="1800" b="0" i="0" dirty="0">
                <a:solidFill>
                  <a:srgbClr val="222B38"/>
                </a:solidFill>
                <a:latin typeface="Calibri"/>
                <a:cs typeface="Calibri"/>
              </a:rPr>
              <a:t>Identifying a defect alone may not give the engineer relevant troubleshooting knowledge or an understandable corrective recommendation.</a:t>
            </a:r>
          </a:p>
        </p:txBody>
      </p:sp>
      <p:sp>
        <p:nvSpPr>
          <p:cNvPr id="271" name="Goal card"/>
          <p:cNvSpPr/>
          <p:nvPr/>
        </p:nvSpPr>
        <p:spPr>
          <a:xfrm>
            <a:off x="6263640" y="1325880"/>
            <a:ext cx="5394960" cy="3429000"/>
          </a:xfrm>
          <a:prstGeom prst="roundRect">
            <a:avLst>
              <a:gd name="adj" fmla="val 5000"/>
            </a:avLst>
          </a:prstGeom>
          <a:solidFill>
            <a:srgbClr val="1B3A6B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272" name="Goal heading"/>
          <p:cNvSpPr txBox="1"/>
          <p:nvPr/>
        </p:nvSpPr>
        <p:spPr>
          <a:xfrm>
            <a:off x="6492240" y="1417320"/>
            <a:ext cx="4937760" cy="457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i="0" dirty="0">
                <a:solidFill>
                  <a:srgbClr val="FFFFFF"/>
                </a:solidFill>
                <a:latin typeface="Calibri"/>
                <a:cs typeface="Calibri"/>
              </a:rPr>
              <a:t>Project Goal</a:t>
            </a:r>
          </a:p>
        </p:txBody>
      </p:sp>
      <p:sp>
        <p:nvSpPr>
          <p:cNvPr id="273" name="Goal text"/>
          <p:cNvSpPr txBox="1"/>
          <p:nvPr/>
        </p:nvSpPr>
        <p:spPr>
          <a:xfrm>
            <a:off x="6492240" y="1965960"/>
            <a:ext cx="4937760" cy="27432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dirty="0">
                <a:solidFill>
                  <a:srgbClr val="FFFFFF"/>
                </a:solidFill>
                <a:latin typeface="Calibri"/>
                <a:cs typeface="Calibri"/>
              </a:rPr>
              <a:t>To develop an intelligent prototype that classifies defect severity from sensor data, retrieves relevant manufacturing knowledge, generates recommendations, and presents results through an interactive dashboard.</a:t>
            </a:r>
          </a:p>
        </p:txBody>
      </p:sp>
      <p:sp>
        <p:nvSpPr>
          <p:cNvPr id="274" name="Scope strip"/>
          <p:cNvSpPr/>
          <p:nvPr/>
        </p:nvSpPr>
        <p:spPr>
          <a:xfrm>
            <a:off x="502920" y="4937760"/>
            <a:ext cx="11155680" cy="640080"/>
          </a:xfrm>
          <a:prstGeom prst="roundRect">
            <a:avLst>
              <a:gd name="adj" fmla="val 20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109728" tIns="65837" rIns="109728" bIns="65837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Current prototype: </a:t>
            </a: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built on synthetic sensor data and running on local services (Streamlit, ChromaDB, Ollama).</a:t>
            </a:r>
          </a:p>
        </p:txBody>
      </p:sp>
    </p:spTree>
    <p:extLst>
      <p:ext uri="{BB962C8B-B14F-4D97-AF65-F5344CB8AC3E}">
        <p14:creationId xmlns:p14="http://schemas.microsoft.com/office/powerpoint/2010/main" val="2767419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13BE5C-251C-23E3-8F19-EE2DB3009E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4ABB59C-76FD-5246-4EEE-72212BF64AE4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Methodology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4BC82A4-B382-2A00-3070-17B2B47F169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8E73589-106E-E0B7-D90D-C7E75D0CB2B6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Smart Manufacturing: RAG-Based Defect Detection &amp; Knowledge Assistance</a:t>
            </a:r>
          </a:p>
        </p:txBody>
      </p:sp>
      <p:sp>
        <p:nvSpPr>
          <p:cNvPr id="275" name="Step 1"/>
          <p:cNvSpPr/>
          <p:nvPr/>
        </p:nvSpPr>
        <p:spPr>
          <a:xfrm>
            <a:off x="502920" y="1371600"/>
            <a:ext cx="1874520" cy="1097280"/>
          </a:xfrm>
          <a:prstGeom prst="roundRect">
            <a:avLst>
              <a:gd name="adj" fmla="val 12000"/>
            </a:avLst>
          </a:prstGeom>
          <a:solidFill>
            <a:srgbClr val="2E5AA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Synthetic manufacturing sensor data</a:t>
            </a:r>
          </a:p>
        </p:txBody>
      </p:sp>
      <p:sp>
        <p:nvSpPr>
          <p:cNvPr id="276" name="Step badge 1"/>
          <p:cNvSpPr/>
          <p:nvPr/>
        </p:nvSpPr>
        <p:spPr>
          <a:xfrm>
            <a:off x="411480" y="124358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AA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2E5AAC"/>
                </a:solidFill>
                <a:latin typeface="Calibri"/>
                <a:cs typeface="Calibri"/>
              </a:rPr>
              <a:t>1</a:t>
            </a:r>
          </a:p>
        </p:txBody>
      </p:sp>
      <p:cxnSp>
        <p:nvCxnSpPr>
          <p:cNvPr id="277" name="Arrow 1"/>
          <p:cNvCxnSpPr/>
          <p:nvPr/>
        </p:nvCxnSpPr>
        <p:spPr>
          <a:xfrm>
            <a:off x="2414016" y="192024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78" name="Step 2"/>
          <p:cNvSpPr/>
          <p:nvPr/>
        </p:nvSpPr>
        <p:spPr>
          <a:xfrm>
            <a:off x="2852928" y="1371600"/>
            <a:ext cx="1874520" cy="1097280"/>
          </a:xfrm>
          <a:prstGeom prst="roundRect">
            <a:avLst>
              <a:gd name="adj" fmla="val 12000"/>
            </a:avLst>
          </a:prstGeom>
          <a:solidFill>
            <a:srgbClr val="2E5AA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Data preprocessing and exploratory analysis</a:t>
            </a:r>
          </a:p>
        </p:txBody>
      </p:sp>
      <p:sp>
        <p:nvSpPr>
          <p:cNvPr id="279" name="Step badge 2"/>
          <p:cNvSpPr/>
          <p:nvPr/>
        </p:nvSpPr>
        <p:spPr>
          <a:xfrm>
            <a:off x="2761488" y="124358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AA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2E5AAC"/>
                </a:solidFill>
                <a:latin typeface="Calibri"/>
                <a:cs typeface="Calibri"/>
              </a:rPr>
              <a:t>2</a:t>
            </a:r>
          </a:p>
        </p:txBody>
      </p:sp>
      <p:cxnSp>
        <p:nvCxnSpPr>
          <p:cNvPr id="280" name="Arrow 2"/>
          <p:cNvCxnSpPr/>
          <p:nvPr/>
        </p:nvCxnSpPr>
        <p:spPr>
          <a:xfrm>
            <a:off x="4764024" y="192024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81" name="Step 3"/>
          <p:cNvSpPr/>
          <p:nvPr/>
        </p:nvSpPr>
        <p:spPr>
          <a:xfrm>
            <a:off x="5202936" y="1371600"/>
            <a:ext cx="1874520" cy="1097280"/>
          </a:xfrm>
          <a:prstGeom prst="roundRect">
            <a:avLst>
              <a:gd name="adj" fmla="val 12000"/>
            </a:avLst>
          </a:prstGeom>
          <a:solidFill>
            <a:srgbClr val="2E5AA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Train and compare ML models</a:t>
            </a:r>
          </a:p>
        </p:txBody>
      </p:sp>
      <p:sp>
        <p:nvSpPr>
          <p:cNvPr id="282" name="Step badge 3"/>
          <p:cNvSpPr/>
          <p:nvPr/>
        </p:nvSpPr>
        <p:spPr>
          <a:xfrm>
            <a:off x="5111496" y="124358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AA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2E5AAC"/>
                </a:solidFill>
                <a:latin typeface="Calibri"/>
                <a:cs typeface="Calibri"/>
              </a:rPr>
              <a:t>3</a:t>
            </a:r>
          </a:p>
        </p:txBody>
      </p:sp>
      <p:cxnSp>
        <p:nvCxnSpPr>
          <p:cNvPr id="283" name="Arrow 3"/>
          <p:cNvCxnSpPr/>
          <p:nvPr/>
        </p:nvCxnSpPr>
        <p:spPr>
          <a:xfrm>
            <a:off x="7114032" y="192024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84" name="Step 4"/>
          <p:cNvSpPr/>
          <p:nvPr/>
        </p:nvSpPr>
        <p:spPr>
          <a:xfrm>
            <a:off x="7552944" y="1371600"/>
            <a:ext cx="1874520" cy="1097280"/>
          </a:xfrm>
          <a:prstGeom prst="roundRect">
            <a:avLst>
              <a:gd name="adj" fmla="val 12000"/>
            </a:avLst>
          </a:prstGeom>
          <a:solidFill>
            <a:srgbClr val="2E5AA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Select trained SVM model</a:t>
            </a:r>
          </a:p>
        </p:txBody>
      </p:sp>
      <p:sp>
        <p:nvSpPr>
          <p:cNvPr id="285" name="Step badge 4"/>
          <p:cNvSpPr/>
          <p:nvPr/>
        </p:nvSpPr>
        <p:spPr>
          <a:xfrm>
            <a:off x="7461504" y="124358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AA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2E5AAC"/>
                </a:solidFill>
                <a:latin typeface="Calibri"/>
                <a:cs typeface="Calibri"/>
              </a:rPr>
              <a:t>4</a:t>
            </a:r>
          </a:p>
        </p:txBody>
      </p:sp>
      <p:cxnSp>
        <p:nvCxnSpPr>
          <p:cNvPr id="286" name="Arrow 4"/>
          <p:cNvCxnSpPr/>
          <p:nvPr/>
        </p:nvCxnSpPr>
        <p:spPr>
          <a:xfrm>
            <a:off x="9464040" y="192024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87" name="Step 5"/>
          <p:cNvSpPr/>
          <p:nvPr/>
        </p:nvSpPr>
        <p:spPr>
          <a:xfrm>
            <a:off x="9902952" y="1371600"/>
            <a:ext cx="1874520" cy="1097280"/>
          </a:xfrm>
          <a:prstGeom prst="roundRect">
            <a:avLst>
              <a:gd name="adj" fmla="val 12000"/>
            </a:avLst>
          </a:prstGeom>
          <a:solidFill>
            <a:srgbClr val="2E5AA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Enter sensor values in Streamlit</a:t>
            </a:r>
          </a:p>
        </p:txBody>
      </p:sp>
      <p:sp>
        <p:nvSpPr>
          <p:cNvPr id="288" name="Step badge 5"/>
          <p:cNvSpPr/>
          <p:nvPr/>
        </p:nvSpPr>
        <p:spPr>
          <a:xfrm>
            <a:off x="9811512" y="124358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AA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2E5AAC"/>
                </a:solidFill>
                <a:latin typeface="Calibri"/>
                <a:cs typeface="Calibri"/>
              </a:rPr>
              <a:t>5</a:t>
            </a:r>
          </a:p>
        </p:txBody>
      </p:sp>
      <p:sp>
        <p:nvSpPr>
          <p:cNvPr id="289" name="Step 6"/>
          <p:cNvSpPr/>
          <p:nvPr/>
        </p:nvSpPr>
        <p:spPr>
          <a:xfrm>
            <a:off x="9902952" y="3108960"/>
            <a:ext cx="1874520" cy="1097280"/>
          </a:xfrm>
          <a:prstGeom prst="roundRect">
            <a:avLst>
              <a:gd name="adj" fmla="val 12000"/>
            </a:avLst>
          </a:prstGeom>
          <a:solidFill>
            <a:srgbClr val="2E5AA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Predict defect category and confidence</a:t>
            </a:r>
          </a:p>
        </p:txBody>
      </p:sp>
      <p:sp>
        <p:nvSpPr>
          <p:cNvPr id="290" name="Step badge 6"/>
          <p:cNvSpPr/>
          <p:nvPr/>
        </p:nvSpPr>
        <p:spPr>
          <a:xfrm>
            <a:off x="9811512" y="298094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E5AA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2E5AAC"/>
                </a:solidFill>
                <a:latin typeface="Calibri"/>
                <a:cs typeface="Calibri"/>
              </a:rPr>
              <a:t>6</a:t>
            </a:r>
          </a:p>
        </p:txBody>
      </p:sp>
      <p:cxnSp>
        <p:nvCxnSpPr>
          <p:cNvPr id="291" name="Arrow 6"/>
          <p:cNvCxnSpPr/>
          <p:nvPr/>
        </p:nvCxnSpPr>
        <p:spPr>
          <a:xfrm flipH="1">
            <a:off x="9464040" y="365760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92" name="Step 7"/>
          <p:cNvSpPr/>
          <p:nvPr/>
        </p:nvSpPr>
        <p:spPr>
          <a:xfrm>
            <a:off x="7552944" y="3108960"/>
            <a:ext cx="1874520" cy="1097280"/>
          </a:xfrm>
          <a:prstGeom prst="roundRect">
            <a:avLst>
              <a:gd name="adj" fmla="val 12000"/>
            </a:avLst>
          </a:prstGeom>
          <a:solidFill>
            <a:srgbClr val="0E8C8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Retrieve manufacturing knowledge from ChromaDB</a:t>
            </a:r>
          </a:p>
        </p:txBody>
      </p:sp>
      <p:sp>
        <p:nvSpPr>
          <p:cNvPr id="293" name="Step badge 7"/>
          <p:cNvSpPr/>
          <p:nvPr/>
        </p:nvSpPr>
        <p:spPr>
          <a:xfrm>
            <a:off x="7461504" y="298094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8C8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E8C8C"/>
                </a:solidFill>
                <a:latin typeface="Calibri"/>
                <a:cs typeface="Calibri"/>
              </a:rPr>
              <a:t>7</a:t>
            </a:r>
          </a:p>
        </p:txBody>
      </p:sp>
      <p:cxnSp>
        <p:nvCxnSpPr>
          <p:cNvPr id="294" name="Arrow 7"/>
          <p:cNvCxnSpPr/>
          <p:nvPr/>
        </p:nvCxnSpPr>
        <p:spPr>
          <a:xfrm flipH="1">
            <a:off x="7114032" y="365760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95" name="Step 8"/>
          <p:cNvSpPr/>
          <p:nvPr/>
        </p:nvSpPr>
        <p:spPr>
          <a:xfrm>
            <a:off x="5202936" y="3108960"/>
            <a:ext cx="1874520" cy="1097280"/>
          </a:xfrm>
          <a:prstGeom prst="roundRect">
            <a:avLst>
              <a:gd name="adj" fmla="val 12000"/>
            </a:avLst>
          </a:prstGeom>
          <a:solidFill>
            <a:srgbClr val="0E8C8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Severity-aware RAG reranking</a:t>
            </a:r>
          </a:p>
        </p:txBody>
      </p:sp>
      <p:sp>
        <p:nvSpPr>
          <p:cNvPr id="296" name="Step badge 8"/>
          <p:cNvSpPr/>
          <p:nvPr/>
        </p:nvSpPr>
        <p:spPr>
          <a:xfrm>
            <a:off x="5111496" y="298094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0E8C8C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0E8C8C"/>
                </a:solidFill>
                <a:latin typeface="Calibri"/>
                <a:cs typeface="Calibri"/>
              </a:rPr>
              <a:t>8</a:t>
            </a:r>
          </a:p>
        </p:txBody>
      </p:sp>
      <p:cxnSp>
        <p:nvCxnSpPr>
          <p:cNvPr id="297" name="Arrow 8"/>
          <p:cNvCxnSpPr/>
          <p:nvPr/>
        </p:nvCxnSpPr>
        <p:spPr>
          <a:xfrm flipH="1">
            <a:off x="4764024" y="365760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298" name="Step 9"/>
          <p:cNvSpPr/>
          <p:nvPr/>
        </p:nvSpPr>
        <p:spPr>
          <a:xfrm>
            <a:off x="2852928" y="3108960"/>
            <a:ext cx="1874520" cy="1097280"/>
          </a:xfrm>
          <a:prstGeom prst="roundRect">
            <a:avLst>
              <a:gd name="adj" fmla="val 12000"/>
            </a:avLst>
          </a:prstGeom>
          <a:solidFill>
            <a:srgbClr val="3A9D5D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Generate recommendation with Ollama LLM</a:t>
            </a:r>
          </a:p>
        </p:txBody>
      </p:sp>
      <p:sp>
        <p:nvSpPr>
          <p:cNvPr id="299" name="Step badge 9"/>
          <p:cNvSpPr/>
          <p:nvPr/>
        </p:nvSpPr>
        <p:spPr>
          <a:xfrm>
            <a:off x="2761488" y="298094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9D5D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3A9D5D"/>
                </a:solidFill>
                <a:latin typeface="Calibri"/>
                <a:cs typeface="Calibri"/>
              </a:rPr>
              <a:t>9</a:t>
            </a:r>
          </a:p>
        </p:txBody>
      </p:sp>
      <p:cxnSp>
        <p:nvCxnSpPr>
          <p:cNvPr id="300" name="Arrow 9"/>
          <p:cNvCxnSpPr/>
          <p:nvPr/>
        </p:nvCxnSpPr>
        <p:spPr>
          <a:xfrm flipH="1">
            <a:off x="2414016" y="3657600"/>
            <a:ext cx="402336" cy="0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sp>
        <p:nvSpPr>
          <p:cNvPr id="301" name="Step 10"/>
          <p:cNvSpPr/>
          <p:nvPr/>
        </p:nvSpPr>
        <p:spPr>
          <a:xfrm>
            <a:off x="502920" y="3108960"/>
            <a:ext cx="1874520" cy="1097280"/>
          </a:xfrm>
          <a:prstGeom prst="roundRect">
            <a:avLst>
              <a:gd name="adj" fmla="val 12000"/>
            </a:avLst>
          </a:prstGeom>
          <a:solidFill>
            <a:srgbClr val="3A9D5D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1" i="0" dirty="0">
                <a:solidFill>
                  <a:srgbClr val="FFFFFF"/>
                </a:solidFill>
                <a:latin typeface="Calibri"/>
                <a:cs typeface="Calibri"/>
              </a:rPr>
              <a:t>Display prediction, knowledge, recommendation, batch status</a:t>
            </a:r>
          </a:p>
        </p:txBody>
      </p:sp>
      <p:sp>
        <p:nvSpPr>
          <p:cNvPr id="302" name="Step badge 10"/>
          <p:cNvSpPr/>
          <p:nvPr/>
        </p:nvSpPr>
        <p:spPr>
          <a:xfrm>
            <a:off x="411480" y="2980944"/>
            <a:ext cx="384048" cy="384048"/>
          </a:xfrm>
          <a:prstGeom prst="ellipse">
            <a:avLst/>
          </a:prstGeom>
          <a:solidFill>
            <a:srgbClr val="FFFFFF"/>
          </a:solidFill>
          <a:ln w="19050">
            <a:solidFill>
              <a:srgbClr val="3A9D5D"/>
            </a:solidFill>
          </a:ln>
        </p:spPr>
        <p:txBody>
          <a:bodyPr wrap="square" lIns="0" tIns="0" rIns="0" bIns="0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3A9D5D"/>
                </a:solidFill>
                <a:latin typeface="Calibri"/>
                <a:cs typeface="Calibri"/>
              </a:rPr>
              <a:t>10</a:t>
            </a:r>
          </a:p>
        </p:txBody>
      </p:sp>
      <p:cxnSp>
        <p:nvCxnSpPr>
          <p:cNvPr id="303" name="Arrow 5 to 6"/>
          <p:cNvCxnSpPr/>
          <p:nvPr/>
        </p:nvCxnSpPr>
        <p:spPr>
          <a:xfrm>
            <a:off x="10840212" y="2505456"/>
            <a:ext cx="0" cy="566928"/>
          </a:xfrm>
          <a:prstGeom prst="line">
            <a:avLst/>
          </a:prstGeom>
          <a:ln w="31750">
            <a:solidFill>
              <a:srgbClr val="1B3A6B"/>
            </a:solidFill>
            <a:tailEnd type="triangle" w="med" len="med"/>
          </a:ln>
        </p:spPr>
      </p:cxnSp>
      <p:cxnSp>
        <p:nvCxnSpPr>
          <p:cNvPr id="304" name="Batch branch link"/>
          <p:cNvCxnSpPr/>
          <p:nvPr/>
        </p:nvCxnSpPr>
        <p:spPr>
          <a:xfrm>
            <a:off x="1440180" y="4242816"/>
            <a:ext cx="0" cy="329184"/>
          </a:xfrm>
          <a:prstGeom prst="line">
            <a:avLst/>
          </a:prstGeom>
          <a:ln w="25400">
            <a:solidFill>
              <a:srgbClr val="5F6B7A"/>
            </a:solidFill>
            <a:prstDash val="dash"/>
            <a:tailEnd type="triangle" w="med" len="med"/>
          </a:ln>
        </p:spPr>
      </p:cxnSp>
      <p:sp>
        <p:nvSpPr>
          <p:cNvPr id="305" name="Batch processing"/>
          <p:cNvSpPr/>
          <p:nvPr/>
        </p:nvSpPr>
        <p:spPr>
          <a:xfrm>
            <a:off x="502920" y="4617720"/>
            <a:ext cx="6675120" cy="731520"/>
          </a:xfrm>
          <a:prstGeom prst="roundRect">
            <a:avLst>
              <a:gd name="adj" fmla="val 15000"/>
            </a:avLst>
          </a:prstGeom>
          <a:solidFill>
            <a:srgbClr val="F3F5F7"/>
          </a:solidFill>
          <a:ln w="12700">
            <a:solidFill>
              <a:srgbClr val="5F6B7A"/>
            </a:solidFill>
            <a:prstDash val="dash"/>
          </a:ln>
        </p:spPr>
        <p:txBody>
          <a:bodyPr wrap="square" lIns="137160" tIns="82296" rIns="137160" bIns="82296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B3A6B"/>
                </a:solidFill>
                <a:latin typeface="Calibri"/>
                <a:cs typeface="Calibri"/>
              </a:rPr>
              <a:t>Batch monitoring (supporting): </a:t>
            </a: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readings processed sequentially in batches of 10; counts per class; status = highest severity (rule-based)</a:t>
            </a:r>
          </a:p>
        </p:txBody>
      </p:sp>
      <p:sp>
        <p:nvSpPr>
          <p:cNvPr id="306" name="Legend swatch 1"/>
          <p:cNvSpPr/>
          <p:nvPr/>
        </p:nvSpPr>
        <p:spPr>
          <a:xfrm>
            <a:off x="7635240" y="4626864"/>
            <a:ext cx="182880" cy="182880"/>
          </a:xfrm>
          <a:prstGeom prst="roundRect">
            <a:avLst/>
          </a:prstGeom>
          <a:solidFill>
            <a:srgbClr val="2E5AA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07" name="Legend label 1"/>
          <p:cNvSpPr txBox="1"/>
          <p:nvPr/>
        </p:nvSpPr>
        <p:spPr>
          <a:xfrm>
            <a:off x="7882128" y="4572000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Data and ML classification (SVM)</a:t>
            </a:r>
          </a:p>
        </p:txBody>
      </p:sp>
      <p:sp>
        <p:nvSpPr>
          <p:cNvPr id="308" name="Legend swatch 2"/>
          <p:cNvSpPr/>
          <p:nvPr/>
        </p:nvSpPr>
        <p:spPr>
          <a:xfrm>
            <a:off x="7635240" y="4892040"/>
            <a:ext cx="182880" cy="182880"/>
          </a:xfrm>
          <a:prstGeom prst="roundRect">
            <a:avLst/>
          </a:prstGeom>
          <a:solidFill>
            <a:srgbClr val="0E8C8C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09" name="Legend label 2"/>
          <p:cNvSpPr txBox="1"/>
          <p:nvPr/>
        </p:nvSpPr>
        <p:spPr>
          <a:xfrm>
            <a:off x="7882128" y="4837176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RAG knowledge retrieval</a:t>
            </a:r>
          </a:p>
        </p:txBody>
      </p:sp>
      <p:sp>
        <p:nvSpPr>
          <p:cNvPr id="310" name="Legend swatch 3"/>
          <p:cNvSpPr/>
          <p:nvPr/>
        </p:nvSpPr>
        <p:spPr>
          <a:xfrm>
            <a:off x="7635240" y="5157216"/>
            <a:ext cx="182880" cy="182880"/>
          </a:xfrm>
          <a:prstGeom prst="roundRect">
            <a:avLst/>
          </a:prstGeom>
          <a:solidFill>
            <a:srgbClr val="3A9D5D"/>
          </a:solidFill>
          <a:ln>
            <a:noFill/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11" name="Legend label 3"/>
          <p:cNvSpPr txBox="1"/>
          <p:nvPr/>
        </p:nvSpPr>
        <p:spPr>
          <a:xfrm>
            <a:off x="7882128" y="5102352"/>
            <a:ext cx="3840480" cy="29260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LLM recommendation and dashboard</a:t>
            </a:r>
          </a:p>
        </p:txBody>
      </p:sp>
    </p:spTree>
    <p:extLst>
      <p:ext uri="{BB962C8B-B14F-4D97-AF65-F5344CB8AC3E}">
        <p14:creationId xmlns:p14="http://schemas.microsoft.com/office/powerpoint/2010/main" val="19075928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E7B675-E694-7663-D55C-2461C40B8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D243BDD-B44E-04F0-FA93-336DD2FFA770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Approach / Algorithms / Tools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4963133-FFA1-7CF4-9FAD-E6A120EF4238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FEA3EC9D-D5AF-E54C-A3D0-5E42F32DC03B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Smart Manufacturing: RAG-Based Defect Detection &amp; Knowledge Assistance</a:t>
            </a:r>
          </a:p>
        </p:txBody>
      </p:sp>
      <p:graphicFrame>
        <p:nvGraphicFramePr>
          <p:cNvPr id="313" name="Tools table"/>
          <p:cNvGraphicFramePr>
            <a:graphicFrameLocks noGrp="1"/>
          </p:cNvGraphicFramePr>
          <p:nvPr/>
        </p:nvGraphicFramePr>
        <p:xfrm>
          <a:off x="502920" y="1280160"/>
          <a:ext cx="5715000" cy="3730752"/>
        </p:xfrm>
        <a:graphic>
          <a:graphicData uri="http://schemas.openxmlformats.org/drawingml/2006/table">
            <a:tbl>
              <a:tblPr firstRow="1" bandRow="1"/>
              <a:tblGrid>
                <a:gridCol w="2286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42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Tool / Technique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Role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Python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Core application logic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Pandas and NumPy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Data processing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scikit-learn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Model training and evaluation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SVM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Final defect classification model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Sentence Transformers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Generate knowledge embeddings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all-MiniLM-L6-v2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Text embedding model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ChromaDB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Store and retrieve knowledge chunks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Ollama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Run the local LLM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Streamlit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Interactive application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Matplotlib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Evaluation visualizations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pPr algn="l"/>
                      <a:r>
                        <a:rPr lang="en-US" sz="125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joblib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25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Save and load the trained model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314" name="Process card"/>
          <p:cNvSpPr/>
          <p:nvPr/>
        </p:nvSpPr>
        <p:spPr>
          <a:xfrm>
            <a:off x="6492240" y="1280160"/>
            <a:ext cx="5166360" cy="3730752"/>
          </a:xfrm>
          <a:prstGeom prst="roundRect">
            <a:avLst>
              <a:gd name="adj" fmla="val 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15" name="Process heading"/>
          <p:cNvSpPr txBox="1"/>
          <p:nvPr/>
        </p:nvSpPr>
        <p:spPr>
          <a:xfrm>
            <a:off x="6629400" y="1325880"/>
            <a:ext cx="493776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dirty="0">
                <a:solidFill>
                  <a:srgbClr val="1B3A6B"/>
                </a:solidFill>
                <a:latin typeface="Calibri"/>
                <a:cs typeface="Calibri"/>
              </a:rPr>
              <a:t>Key algorithms and processes</a:t>
            </a:r>
          </a:p>
        </p:txBody>
      </p:sp>
      <p:sp>
        <p:nvSpPr>
          <p:cNvPr id="316" name="Process list"/>
          <p:cNvSpPr txBox="1"/>
          <p:nvPr/>
        </p:nvSpPr>
        <p:spPr>
          <a:xfrm>
            <a:off x="6629400" y="1737360"/>
            <a:ext cx="4937760" cy="3200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Stratified 80/20 train-test split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Comparison of four classifiers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SVM-based defect classification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Vector similarity retrieval (8 candidates)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Severity-aware keyword reranking (top 3)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LLM recommendation generation</a:t>
            </a:r>
          </a:p>
          <a:p>
            <a:pPr marL="237744" indent="-237744" algn="l">
              <a:lnSpc>
                <a:spcPct val="100000"/>
              </a:lnSpc>
              <a:spcBef>
                <a:spcPts val="0"/>
              </a:spcBef>
              <a:spcAft>
                <a:spcPts val="1000"/>
              </a:spcAft>
              <a:buFont typeface="Arial"/>
              <a:buChar char="•"/>
            </a:pPr>
            <a:r>
              <a:rPr lang="en-US" sz="1500" b="0" i="0" dirty="0">
                <a:solidFill>
                  <a:srgbClr val="222B38"/>
                </a:solidFill>
                <a:latin typeface="Calibri"/>
                <a:cs typeface="Calibri"/>
              </a:rPr>
              <a:t>Rule-based batch status calculation</a:t>
            </a:r>
          </a:p>
        </p:txBody>
      </p:sp>
    </p:spTree>
    <p:extLst>
      <p:ext uri="{BB962C8B-B14F-4D97-AF65-F5344CB8AC3E}">
        <p14:creationId xmlns:p14="http://schemas.microsoft.com/office/powerpoint/2010/main" val="465047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9CEA2B-384E-F256-4734-5578EDB524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411E118-0427-BF72-3B78-1707B0D6E382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en-US" sz="3600" b="1" dirty="0">
                <a:solidFill>
                  <a:srgbClr val="5B9BD5">
                    <a:lumMod val="50000"/>
                  </a:srgbClr>
                </a:solidFill>
              </a:rPr>
              <a:t>Findings and Results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A5618F6-CE69-311A-F79A-D12C7E917449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64F7A196-7B69-DD68-52A5-39CD9B799F7D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Smart Manufacturing: RAG-Based Defect Detection &amp; Knowledge Assistance</a:t>
            </a:r>
          </a:p>
        </p:txBody>
      </p:sp>
      <p:sp>
        <p:nvSpPr>
          <p:cNvPr id="318" name="Dataset chip 1"/>
          <p:cNvSpPr/>
          <p:nvPr/>
        </p:nvSpPr>
        <p:spPr>
          <a:xfrm>
            <a:off x="502920" y="1280160"/>
            <a:ext cx="2697480" cy="566928"/>
          </a:xfrm>
          <a:prstGeom prst="roundRect">
            <a:avLst>
              <a:gd name="adj" fmla="val 20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54864" tIns="32918" rIns="54864" bIns="3291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B3A6B"/>
                </a:solidFill>
                <a:latin typeface="Calibri"/>
                <a:cs typeface="Calibri"/>
              </a:rPr>
              <a:t>10,000  </a:t>
            </a: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synthetic records</a:t>
            </a:r>
          </a:p>
        </p:txBody>
      </p:sp>
      <p:sp>
        <p:nvSpPr>
          <p:cNvPr id="319" name="Dataset chip 2"/>
          <p:cNvSpPr/>
          <p:nvPr/>
        </p:nvSpPr>
        <p:spPr>
          <a:xfrm>
            <a:off x="3322015" y="1280160"/>
            <a:ext cx="2697480" cy="566928"/>
          </a:xfrm>
          <a:prstGeom prst="roundRect">
            <a:avLst>
              <a:gd name="adj" fmla="val 20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54864" tIns="32918" rIns="54864" bIns="3291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B3A6B"/>
                </a:solidFill>
                <a:latin typeface="Calibri"/>
                <a:cs typeface="Calibri"/>
              </a:rPr>
              <a:t>5  </a:t>
            </a: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sensor features</a:t>
            </a:r>
          </a:p>
        </p:txBody>
      </p:sp>
      <p:sp>
        <p:nvSpPr>
          <p:cNvPr id="320" name="Dataset chip 3"/>
          <p:cNvSpPr/>
          <p:nvPr/>
        </p:nvSpPr>
        <p:spPr>
          <a:xfrm>
            <a:off x="6141110" y="1280160"/>
            <a:ext cx="2697480" cy="566928"/>
          </a:xfrm>
          <a:prstGeom prst="roundRect">
            <a:avLst>
              <a:gd name="adj" fmla="val 20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54864" tIns="32918" rIns="54864" bIns="3291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B3A6B"/>
                </a:solidFill>
                <a:latin typeface="Calibri"/>
                <a:cs typeface="Calibri"/>
              </a:rPr>
              <a:t>4  </a:t>
            </a: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defect classes</a:t>
            </a:r>
          </a:p>
        </p:txBody>
      </p:sp>
      <p:sp>
        <p:nvSpPr>
          <p:cNvPr id="321" name="Dataset chip 4"/>
          <p:cNvSpPr/>
          <p:nvPr/>
        </p:nvSpPr>
        <p:spPr>
          <a:xfrm>
            <a:off x="8960206" y="1280160"/>
            <a:ext cx="2697480" cy="566928"/>
          </a:xfrm>
          <a:prstGeom prst="roundRect">
            <a:avLst>
              <a:gd name="adj" fmla="val 20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54864" tIns="32918" rIns="54864" bIns="3291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1" i="0" dirty="0">
                <a:solidFill>
                  <a:srgbClr val="1B3A6B"/>
                </a:solidFill>
                <a:latin typeface="Calibri"/>
                <a:cs typeface="Calibri"/>
              </a:rPr>
              <a:t>0  </a:t>
            </a:r>
            <a:r>
              <a:rPr lang="en-US" sz="1300" b="0" i="0" dirty="0">
                <a:solidFill>
                  <a:srgbClr val="222B38"/>
                </a:solidFill>
                <a:latin typeface="Calibri"/>
                <a:cs typeface="Calibri"/>
              </a:rPr>
              <a:t>missing / duplicate</a:t>
            </a:r>
          </a:p>
        </p:txBody>
      </p:sp>
      <p:graphicFrame>
        <p:nvGraphicFramePr>
          <p:cNvPr id="322" name="SVM metrics table"/>
          <p:cNvGraphicFramePr>
            <a:graphicFrameLocks noGrp="1"/>
          </p:cNvGraphicFramePr>
          <p:nvPr/>
        </p:nvGraphicFramePr>
        <p:xfrm>
          <a:off x="6903720" y="2011680"/>
          <a:ext cx="4754880" cy="2304288"/>
        </p:xfrm>
        <a:graphic>
          <a:graphicData uri="http://schemas.openxmlformats.org/drawingml/2006/table">
            <a:tbl>
              <a:tblPr firstRow="1" bandRow="1"/>
              <a:tblGrid>
                <a:gridCol w="30175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373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Selected model: SVM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1B3A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Result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1B3A6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Accuracy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93.10%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Weighted F1-score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93.11%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Recall: Critical Defect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94%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Recall: Minor Defect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90%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Recall: Moderate Defect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86%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algn="l"/>
                      <a:r>
                        <a:rPr lang="en-US" sz="1300" b="1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Recall: No Defect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300" b="0" i="0" dirty="0">
                          <a:solidFill>
                            <a:srgbClr val="222B38"/>
                          </a:solidFill>
                          <a:latin typeface="Calibri"/>
                          <a:cs typeface="Calibri"/>
                        </a:rPr>
                        <a:t>97%</a:t>
                      </a:r>
                    </a:p>
                  </a:txBody>
                  <a:tcPr marL="73152" marR="73152" marT="27432" marB="27432" anchor="ctr">
                    <a:lnL w="9525">
                      <a:solidFill>
                        <a:srgbClr val="B8C7D6"/>
                      </a:solidFill>
                    </a:lnL>
                    <a:lnR w="9525">
                      <a:solidFill>
                        <a:srgbClr val="B8C7D6"/>
                      </a:solidFill>
                    </a:lnR>
                    <a:lnT w="9525">
                      <a:solidFill>
                        <a:srgbClr val="B8C7D6"/>
                      </a:solidFill>
                    </a:lnT>
                    <a:lnB w="9525">
                      <a:solidFill>
                        <a:srgbClr val="B8C7D6"/>
                      </a:solidFill>
                    </a:lnB>
                    <a:solidFill>
                      <a:srgbClr val="EAF3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323" name="Prediction example"/>
          <p:cNvSpPr/>
          <p:nvPr/>
        </p:nvSpPr>
        <p:spPr>
          <a:xfrm>
            <a:off x="6903720" y="4434840"/>
            <a:ext cx="4754880" cy="502920"/>
          </a:xfrm>
          <a:prstGeom prst="roundRect">
            <a:avLst>
              <a:gd name="adj" fmla="val 20000"/>
            </a:avLst>
          </a:prstGeom>
          <a:solidFill>
            <a:srgbClr val="F3F5F7"/>
          </a:solidFill>
          <a:ln w="12700">
            <a:solidFill>
              <a:srgbClr val="5F6B7A"/>
            </a:solidFill>
            <a:prstDash val="dash"/>
          </a:ln>
        </p:spPr>
        <p:txBody>
          <a:bodyPr wrap="square" lIns="54864" tIns="32918" rIns="54864" bIns="32918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dirty="0">
                <a:solidFill>
                  <a:srgbClr val="1B3A6B"/>
                </a:solidFill>
                <a:latin typeface="Calibri"/>
                <a:cs typeface="Calibri"/>
              </a:rPr>
              <a:t>Illustrative prediction: </a:t>
            </a:r>
            <a:r>
              <a:rPr lang="en-US" sz="1200" b="0" i="0" dirty="0">
                <a:solidFill>
                  <a:srgbClr val="222B38"/>
                </a:solidFill>
                <a:latin typeface="Calibri"/>
                <a:cs typeface="Calibri"/>
              </a:rPr>
              <a:t>Moderate Defect, 63.29% confidence</a:t>
            </a:r>
          </a:p>
        </p:txBody>
      </p:sp>
      <p:sp>
        <p:nvSpPr>
          <p:cNvPr id="324" name="App features"/>
          <p:cNvSpPr/>
          <p:nvPr/>
        </p:nvSpPr>
        <p:spPr>
          <a:xfrm>
            <a:off x="502920" y="5029200"/>
            <a:ext cx="11155680" cy="457200"/>
          </a:xfrm>
          <a:prstGeom prst="roundRect">
            <a:avLst>
              <a:gd name="adj" fmla="val 20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91440" tIns="54864" rIns="91440" bIns="54864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1B3A6B"/>
                </a:solidFill>
                <a:latin typeface="Calibri"/>
                <a:cs typeface="Calibri"/>
              </a:rPr>
              <a:t>Implemented app: </a:t>
            </a: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prediction with confidence and probabilities • knowledge retrieval • LLM recommendation • dashboard • batch monitoring</a:t>
            </a:r>
          </a:p>
        </p:txBody>
      </p:sp>
      <p:pic>
        <p:nvPicPr>
          <p:cNvPr id="326" name="Model comparison chart" descr="Bar chart of model accuracy: Logistic Regression 83.25%, Random Forest 90.75%, Gradient Boosting 91.45%, SVM 93.10%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965960"/>
            <a:ext cx="6217920" cy="2971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9095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E5BBC5-46B5-0DF4-A2AC-5289D29573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EA9949-295E-B2C7-8E3A-639B0AD48F51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Conclusion and Future Work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C3477A6-BED1-8211-5527-9030F1E86940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AB5AC1E1-8B68-1019-1B7A-0CF7BDC8B3EC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Smart Manufacturing: RAG-Based Defect Detection &amp; Knowledge Assistance</a:t>
            </a:r>
          </a:p>
        </p:txBody>
      </p:sp>
      <p:sp>
        <p:nvSpPr>
          <p:cNvPr id="326" name="Achievements heading"/>
          <p:cNvSpPr txBox="1"/>
          <p:nvPr/>
        </p:nvSpPr>
        <p:spPr>
          <a:xfrm>
            <a:off x="502920" y="1234440"/>
            <a:ext cx="73152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B3A6B"/>
                </a:solidFill>
                <a:latin typeface="Calibri"/>
                <a:cs typeface="Calibri"/>
              </a:rPr>
              <a:t>Implemented prototype</a:t>
            </a:r>
          </a:p>
        </p:txBody>
      </p:sp>
      <p:sp>
        <p:nvSpPr>
          <p:cNvPr id="327" name="Achievement card 1"/>
          <p:cNvSpPr/>
          <p:nvPr/>
        </p:nvSpPr>
        <p:spPr>
          <a:xfrm>
            <a:off x="502920" y="1645920"/>
            <a:ext cx="3611880" cy="1078992"/>
          </a:xfrm>
          <a:prstGeom prst="roundRect">
            <a:avLst>
              <a:gd name="adj" fmla="val 10000"/>
            </a:avLst>
          </a:prstGeom>
          <a:solidFill>
            <a:srgbClr val="2E5AAC"/>
          </a:solidFill>
          <a:ln>
            <a:noFill/>
          </a:ln>
        </p:spPr>
        <p:txBody>
          <a:bodyPr wrap="square" lIns="137160" tIns="82296" rIns="137160" bIns="82296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SVM Classification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Best of four models: 93.10% accuracy, 93.11% weighted F1</a:t>
            </a:r>
          </a:p>
        </p:txBody>
      </p:sp>
      <p:sp>
        <p:nvSpPr>
          <p:cNvPr id="328" name="Achievement card 2"/>
          <p:cNvSpPr/>
          <p:nvPr/>
        </p:nvSpPr>
        <p:spPr>
          <a:xfrm>
            <a:off x="4274820" y="1645920"/>
            <a:ext cx="3611880" cy="1078992"/>
          </a:xfrm>
          <a:prstGeom prst="roundRect">
            <a:avLst>
              <a:gd name="adj" fmla="val 10000"/>
            </a:avLst>
          </a:prstGeom>
          <a:solidFill>
            <a:srgbClr val="0E8C8C"/>
          </a:solidFill>
          <a:ln>
            <a:noFill/>
          </a:ln>
        </p:spPr>
        <p:txBody>
          <a:bodyPr wrap="square" lIns="137160" tIns="82296" rIns="137160" bIns="82296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RAG Knowledge Retrieval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ChromaDB over 32 chunks using all-MiniLM-L6-v2 embeddings</a:t>
            </a:r>
          </a:p>
        </p:txBody>
      </p:sp>
      <p:sp>
        <p:nvSpPr>
          <p:cNvPr id="329" name="Achievement card 3"/>
          <p:cNvSpPr/>
          <p:nvPr/>
        </p:nvSpPr>
        <p:spPr>
          <a:xfrm>
            <a:off x="8046720" y="1645920"/>
            <a:ext cx="3611880" cy="1078992"/>
          </a:xfrm>
          <a:prstGeom prst="roundRect">
            <a:avLst>
              <a:gd name="adj" fmla="val 10000"/>
            </a:avLst>
          </a:prstGeom>
          <a:solidFill>
            <a:srgbClr val="0E8C8C"/>
          </a:solidFill>
          <a:ln>
            <a:noFill/>
          </a:ln>
        </p:spPr>
        <p:txBody>
          <a:bodyPr wrap="square" lIns="137160" tIns="82296" rIns="137160" bIns="82296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Severity-Aware Reranking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8 retrieved candidates reranked by keywords to the top 3</a:t>
            </a:r>
          </a:p>
        </p:txBody>
      </p:sp>
      <p:sp>
        <p:nvSpPr>
          <p:cNvPr id="330" name="Achievement card 4"/>
          <p:cNvSpPr/>
          <p:nvPr/>
        </p:nvSpPr>
        <p:spPr>
          <a:xfrm>
            <a:off x="502920" y="2834640"/>
            <a:ext cx="3611880" cy="1078992"/>
          </a:xfrm>
          <a:prstGeom prst="roundRect">
            <a:avLst>
              <a:gd name="adj" fmla="val 10000"/>
            </a:avLst>
          </a:prstGeom>
          <a:solidFill>
            <a:srgbClr val="3A9D5D"/>
          </a:solidFill>
          <a:ln>
            <a:noFill/>
          </a:ln>
        </p:spPr>
        <p:txBody>
          <a:bodyPr wrap="square" lIns="137160" tIns="82296" rIns="137160" bIns="82296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Ollama Recommendations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Local LLM explains and advises from prediction and knowledge</a:t>
            </a:r>
          </a:p>
        </p:txBody>
      </p:sp>
      <p:sp>
        <p:nvSpPr>
          <p:cNvPr id="331" name="Achievement card 5"/>
          <p:cNvSpPr/>
          <p:nvPr/>
        </p:nvSpPr>
        <p:spPr>
          <a:xfrm>
            <a:off x="4274820" y="2834640"/>
            <a:ext cx="3611880" cy="1078992"/>
          </a:xfrm>
          <a:prstGeom prst="roundRect">
            <a:avLst>
              <a:gd name="adj" fmla="val 10000"/>
            </a:avLst>
          </a:prstGeom>
          <a:solidFill>
            <a:srgbClr val="3A9D5D"/>
          </a:solidFill>
          <a:ln>
            <a:noFill/>
          </a:ln>
        </p:spPr>
        <p:txBody>
          <a:bodyPr wrap="square" lIns="137160" tIns="82296" rIns="137160" bIns="82296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Streamlit Dashboard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Sensor inputs, confidence, probabilities, knowledge, and advice</a:t>
            </a:r>
          </a:p>
        </p:txBody>
      </p:sp>
      <p:sp>
        <p:nvSpPr>
          <p:cNvPr id="332" name="Achievement card 6"/>
          <p:cNvSpPr/>
          <p:nvPr/>
        </p:nvSpPr>
        <p:spPr>
          <a:xfrm>
            <a:off x="8046720" y="2834640"/>
            <a:ext cx="3611880" cy="1078992"/>
          </a:xfrm>
          <a:prstGeom prst="roundRect">
            <a:avLst>
              <a:gd name="adj" fmla="val 10000"/>
            </a:avLst>
          </a:prstGeom>
          <a:solidFill>
            <a:srgbClr val="2E5AAC"/>
          </a:solidFill>
          <a:ln>
            <a:noFill/>
          </a:ln>
        </p:spPr>
        <p:txBody>
          <a:bodyPr wrap="square" lIns="137160" tIns="82296" rIns="137160" bIns="82296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300"/>
              </a:spcAft>
              <a:buNone/>
            </a:pPr>
            <a:r>
              <a:rPr lang="en-US" sz="1500" b="1" i="0" dirty="0">
                <a:solidFill>
                  <a:srgbClr val="FFFFFF"/>
                </a:solidFill>
                <a:latin typeface="Calibri"/>
                <a:cs typeface="Calibri"/>
              </a:rPr>
              <a:t>Batch Monitoring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FFFFFF"/>
                </a:solidFill>
                <a:latin typeface="Calibri"/>
                <a:cs typeface="Calibri"/>
              </a:rPr>
              <a:t>Sequential batches of 10 with severity-based status</a:t>
            </a:r>
          </a:p>
        </p:txBody>
      </p:sp>
      <p:sp>
        <p:nvSpPr>
          <p:cNvPr id="333" name="Future card"/>
          <p:cNvSpPr/>
          <p:nvPr/>
        </p:nvSpPr>
        <p:spPr>
          <a:xfrm>
            <a:off x="502920" y="4160520"/>
            <a:ext cx="11155680" cy="1463040"/>
          </a:xfrm>
          <a:prstGeom prst="roundRect">
            <a:avLst>
              <a:gd name="adj" fmla="val 6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34" name="Future heading"/>
          <p:cNvSpPr txBox="1"/>
          <p:nvPr/>
        </p:nvSpPr>
        <p:spPr>
          <a:xfrm>
            <a:off x="685800" y="4224528"/>
            <a:ext cx="5486400" cy="36576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700" b="1" i="0" dirty="0">
                <a:solidFill>
                  <a:srgbClr val="1B3A6B"/>
                </a:solidFill>
                <a:latin typeface="Calibri"/>
                <a:cs typeface="Calibri"/>
              </a:rPr>
              <a:t>Future Enhancements</a:t>
            </a:r>
          </a:p>
        </p:txBody>
      </p:sp>
      <p:sp>
        <p:nvSpPr>
          <p:cNvPr id="335" name="Future item 1"/>
          <p:cNvSpPr/>
          <p:nvPr/>
        </p:nvSpPr>
        <p:spPr>
          <a:xfrm>
            <a:off x="685800" y="4645152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D4E8"/>
            </a:solidFill>
          </a:ln>
        </p:spPr>
        <p:txBody>
          <a:bodyPr wrap="square" lIns="109728" tIns="65837" rIns="109728" bIns="65837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Cloud deployment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Deploy the application to Azure</a:t>
            </a:r>
          </a:p>
        </p:txBody>
      </p:sp>
      <p:sp>
        <p:nvSpPr>
          <p:cNvPr id="336" name="Future item 2"/>
          <p:cNvSpPr/>
          <p:nvPr/>
        </p:nvSpPr>
        <p:spPr>
          <a:xfrm>
            <a:off x="4297680" y="4645152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D4E8"/>
            </a:solidFill>
          </a:ln>
        </p:spPr>
        <p:txBody>
          <a:bodyPr wrap="square" lIns="109728" tIns="65837" rIns="109728" bIns="65837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Real-data validation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Evaluate on real or approved manufacturing datasets</a:t>
            </a:r>
          </a:p>
        </p:txBody>
      </p:sp>
      <p:sp>
        <p:nvSpPr>
          <p:cNvPr id="337" name="Future item 3"/>
          <p:cNvSpPr/>
          <p:nvPr/>
        </p:nvSpPr>
        <p:spPr>
          <a:xfrm>
            <a:off x="7909560" y="4645152"/>
            <a:ext cx="35204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B8D4E8"/>
            </a:solidFill>
          </a:ln>
        </p:spPr>
        <p:txBody>
          <a:bodyPr wrap="square" lIns="109728" tIns="65837" rIns="109728" bIns="65837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  <a:buNone/>
            </a:pPr>
            <a:r>
              <a:rPr lang="en-US" sz="1400" b="1" i="0" dirty="0">
                <a:solidFill>
                  <a:srgbClr val="1B3A6B"/>
                </a:solidFill>
                <a:latin typeface="Calibri"/>
                <a:cs typeface="Calibri"/>
              </a:rPr>
              <a:t>Further evaluation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Assess retrieval relevance and recommendation quality with domain experts</a:t>
            </a:r>
          </a:p>
        </p:txBody>
      </p:sp>
    </p:spTree>
    <p:extLst>
      <p:ext uri="{BB962C8B-B14F-4D97-AF65-F5344CB8AC3E}">
        <p14:creationId xmlns:p14="http://schemas.microsoft.com/office/powerpoint/2010/main" val="12542518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A56F40-96CC-DEF8-9EB7-1452372377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6DDE408-8E1E-6FA2-7CC4-7953936B171B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 err="1">
                <a:solidFill>
                  <a:srgbClr val="5B9BD5">
                    <a:lumMod val="50000"/>
                  </a:srgbClr>
                </a:solidFill>
              </a:rPr>
              <a:t>Acknowledgement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11AC8EE7-5ED3-D96C-9268-8B7B9A5D0577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506C5A91-6D8B-7A46-6BA9-7AF0BB8742E7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Smart Manufacturing: RAG-Based Defect Detection &amp; Knowledge Assistance</a:t>
            </a:r>
          </a:p>
        </p:txBody>
      </p:sp>
      <p:sp>
        <p:nvSpPr>
          <p:cNvPr id="338" name="Acknowledgement card"/>
          <p:cNvSpPr/>
          <p:nvPr/>
        </p:nvSpPr>
        <p:spPr>
          <a:xfrm>
            <a:off x="502920" y="1371600"/>
            <a:ext cx="11155680" cy="3566160"/>
          </a:xfrm>
          <a:prstGeom prst="roundRect">
            <a:avLst>
              <a:gd name="adj" fmla="val 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39" name="Acknowledgement text"/>
          <p:cNvSpPr txBox="1"/>
          <p:nvPr/>
        </p:nvSpPr>
        <p:spPr>
          <a:xfrm>
            <a:off x="822960" y="1600200"/>
            <a:ext cx="10515600" cy="320040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t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200" b="0" i="0" dirty="0">
                <a:solidFill>
                  <a:srgbClr val="222B38"/>
                </a:solidFill>
                <a:latin typeface="Calibri"/>
                <a:cs typeface="Calibri"/>
              </a:rPr>
              <a:t>I sincerely thank my project guide and faculty for their guidance, feedback, and encouragement throughout this project.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200" b="0" i="0" dirty="0">
                <a:solidFill>
                  <a:srgbClr val="222B38"/>
                </a:solidFill>
                <a:latin typeface="Calibri"/>
                <a:cs typeface="Calibri"/>
              </a:rPr>
              <a:t>I am grateful to VIT Vellore for the academic support provided during the M.Tech Artificial Intelligence and Machine Learning programme.</a:t>
            </a:r>
          </a:p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2200" b="0" i="0" dirty="0">
                <a:solidFill>
                  <a:srgbClr val="222B38"/>
                </a:solidFill>
                <a:latin typeface="Calibri"/>
                <a:cs typeface="Calibri"/>
              </a:rPr>
              <a:t>I also thank the university and industry partners of this jointly offered programme, VIT and LTIMindtree (with L&amp;T EduTech), for the learning platform and review opportunity.</a:t>
            </a:r>
          </a:p>
        </p:txBody>
      </p:sp>
      <p:sp>
        <p:nvSpPr>
          <p:cNvPr id="340" name="Thank you"/>
          <p:cNvSpPr txBox="1"/>
          <p:nvPr/>
        </p:nvSpPr>
        <p:spPr>
          <a:xfrm>
            <a:off x="502920" y="5074920"/>
            <a:ext cx="11155680" cy="548640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 b="1" i="0" dirty="0">
                <a:solidFill>
                  <a:srgbClr val="1B3A6B"/>
                </a:solidFill>
                <a:latin typeface="Calibri"/>
                <a:cs typeface="Calibri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5734889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EEC1BA9-EED8-0553-15DB-7AC5ADC07E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6CD0F3-77A2-E482-9F59-462941CA9EFC}"/>
              </a:ext>
            </a:extLst>
          </p:cNvPr>
          <p:cNvSpPr txBox="1"/>
          <p:nvPr/>
        </p:nvSpPr>
        <p:spPr>
          <a:xfrm>
            <a:off x="255996" y="502545"/>
            <a:ext cx="106243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>
              <a:defRPr/>
            </a:pPr>
            <a:r>
              <a:rPr lang="fr-FR" sz="3600" b="1" dirty="0">
                <a:solidFill>
                  <a:srgbClr val="5B9BD5">
                    <a:lumMod val="50000"/>
                  </a:srgbClr>
                </a:solidFill>
              </a:rPr>
              <a:t>References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EF328B9-B5B2-A4C8-C436-49616B481A74}"/>
              </a:ext>
            </a:extLst>
          </p:cNvPr>
          <p:cNvCxnSpPr>
            <a:cxnSpLocks/>
          </p:cNvCxnSpPr>
          <p:nvPr/>
        </p:nvCxnSpPr>
        <p:spPr>
          <a:xfrm>
            <a:off x="221274" y="1191756"/>
            <a:ext cx="7305799" cy="0"/>
          </a:xfrm>
          <a:prstGeom prst="line">
            <a:avLst/>
          </a:prstGeom>
          <a:ln w="28575">
            <a:solidFill>
              <a:schemeClr val="accent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Box 3">
            <a:extLst>
              <a:ext uri="{FF2B5EF4-FFF2-40B4-BE49-F238E27FC236}">
                <a16:creationId xmlns:a16="http://schemas.microsoft.com/office/drawing/2014/main" id="{E9E96C34-B06E-814D-72EC-EF1F6BBFAAF7}"/>
              </a:ext>
            </a:extLst>
          </p:cNvPr>
          <p:cNvSpPr txBox="1"/>
          <p:nvPr/>
        </p:nvSpPr>
        <p:spPr>
          <a:xfrm>
            <a:off x="3108960" y="57036"/>
            <a:ext cx="90525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600" b="1" i="1" dirty="0">
                <a:solidFill>
                  <a:srgbClr val="FFFFFF"/>
                </a:solidFill>
              </a:rPr>
              <a:t>Smart Manufacturing: RAG-Based Defect Detection &amp; Knowledge Assistance</a:t>
            </a:r>
          </a:p>
        </p:txBody>
      </p:sp>
      <p:sp>
        <p:nvSpPr>
          <p:cNvPr id="341" name="Reference row 1"/>
          <p:cNvSpPr/>
          <p:nvPr/>
        </p:nvSpPr>
        <p:spPr>
          <a:xfrm>
            <a:off x="502920" y="1280160"/>
            <a:ext cx="11155680" cy="42976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42" name="Reference number 1"/>
          <p:cNvSpPr txBox="1"/>
          <p:nvPr/>
        </p:nvSpPr>
        <p:spPr>
          <a:xfrm>
            <a:off x="640080" y="1280160"/>
            <a:ext cx="548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E5AAC"/>
                </a:solidFill>
                <a:latin typeface="Calibri"/>
                <a:cs typeface="Calibri"/>
              </a:rPr>
              <a:t>[1]</a:t>
            </a:r>
          </a:p>
        </p:txBody>
      </p:sp>
      <p:sp>
        <p:nvSpPr>
          <p:cNvPr id="343" name="Reference name 1"/>
          <p:cNvSpPr txBox="1"/>
          <p:nvPr/>
        </p:nvSpPr>
        <p:spPr>
          <a:xfrm>
            <a:off x="1234440" y="1280160"/>
            <a:ext cx="5120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B3A6B"/>
                </a:solidFill>
                <a:latin typeface="Calibri"/>
                <a:cs typeface="Calibri"/>
              </a:rPr>
              <a:t>scikit-learn Documentation</a:t>
            </a:r>
          </a:p>
        </p:txBody>
      </p:sp>
      <p:sp>
        <p:nvSpPr>
          <p:cNvPr id="344" name="Reference url 1"/>
          <p:cNvSpPr txBox="1"/>
          <p:nvPr/>
        </p:nvSpPr>
        <p:spPr>
          <a:xfrm>
            <a:off x="6400800" y="1280160"/>
            <a:ext cx="521208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https://scikit-learn.org/stable/</a:t>
            </a:r>
          </a:p>
        </p:txBody>
      </p:sp>
      <p:sp>
        <p:nvSpPr>
          <p:cNvPr id="345" name="Reference row 2"/>
          <p:cNvSpPr/>
          <p:nvPr/>
        </p:nvSpPr>
        <p:spPr>
          <a:xfrm>
            <a:off x="502920" y="1755648"/>
            <a:ext cx="11155680" cy="429768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46" name="Reference number 2"/>
          <p:cNvSpPr txBox="1"/>
          <p:nvPr/>
        </p:nvSpPr>
        <p:spPr>
          <a:xfrm>
            <a:off x="640080" y="1755648"/>
            <a:ext cx="548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E5AAC"/>
                </a:solidFill>
                <a:latin typeface="Calibri"/>
                <a:cs typeface="Calibri"/>
              </a:rPr>
              <a:t>[2]</a:t>
            </a:r>
          </a:p>
        </p:txBody>
      </p:sp>
      <p:sp>
        <p:nvSpPr>
          <p:cNvPr id="347" name="Reference name 2"/>
          <p:cNvSpPr txBox="1"/>
          <p:nvPr/>
        </p:nvSpPr>
        <p:spPr>
          <a:xfrm>
            <a:off x="1234440" y="1755648"/>
            <a:ext cx="5120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B3A6B"/>
                </a:solidFill>
                <a:latin typeface="Calibri"/>
                <a:cs typeface="Calibri"/>
              </a:rPr>
              <a:t>pandas Documentation</a:t>
            </a:r>
          </a:p>
        </p:txBody>
      </p:sp>
      <p:sp>
        <p:nvSpPr>
          <p:cNvPr id="348" name="Reference url 2"/>
          <p:cNvSpPr txBox="1"/>
          <p:nvPr/>
        </p:nvSpPr>
        <p:spPr>
          <a:xfrm>
            <a:off x="6400800" y="1755648"/>
            <a:ext cx="521208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https://pandas.pydata.org/docs/</a:t>
            </a:r>
          </a:p>
        </p:txBody>
      </p:sp>
      <p:sp>
        <p:nvSpPr>
          <p:cNvPr id="349" name="Reference row 3"/>
          <p:cNvSpPr/>
          <p:nvPr/>
        </p:nvSpPr>
        <p:spPr>
          <a:xfrm>
            <a:off x="502920" y="2231136"/>
            <a:ext cx="11155680" cy="42976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50" name="Reference number 3"/>
          <p:cNvSpPr txBox="1"/>
          <p:nvPr/>
        </p:nvSpPr>
        <p:spPr>
          <a:xfrm>
            <a:off x="640080" y="2231136"/>
            <a:ext cx="548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E5AAC"/>
                </a:solidFill>
                <a:latin typeface="Calibri"/>
                <a:cs typeface="Calibri"/>
              </a:rPr>
              <a:t>[3]</a:t>
            </a:r>
          </a:p>
        </p:txBody>
      </p:sp>
      <p:sp>
        <p:nvSpPr>
          <p:cNvPr id="351" name="Reference name 3"/>
          <p:cNvSpPr txBox="1"/>
          <p:nvPr/>
        </p:nvSpPr>
        <p:spPr>
          <a:xfrm>
            <a:off x="1234440" y="2231136"/>
            <a:ext cx="5120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B3A6B"/>
                </a:solidFill>
                <a:latin typeface="Calibri"/>
                <a:cs typeface="Calibri"/>
              </a:rPr>
              <a:t>NumPy Documentation</a:t>
            </a:r>
          </a:p>
        </p:txBody>
      </p:sp>
      <p:sp>
        <p:nvSpPr>
          <p:cNvPr id="352" name="Reference url 3"/>
          <p:cNvSpPr txBox="1"/>
          <p:nvPr/>
        </p:nvSpPr>
        <p:spPr>
          <a:xfrm>
            <a:off x="6400800" y="2231136"/>
            <a:ext cx="521208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https://numpy.org/doc/</a:t>
            </a:r>
          </a:p>
        </p:txBody>
      </p:sp>
      <p:sp>
        <p:nvSpPr>
          <p:cNvPr id="353" name="Reference row 4"/>
          <p:cNvSpPr/>
          <p:nvPr/>
        </p:nvSpPr>
        <p:spPr>
          <a:xfrm>
            <a:off x="502920" y="2706624"/>
            <a:ext cx="11155680" cy="429768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54" name="Reference number 4"/>
          <p:cNvSpPr txBox="1"/>
          <p:nvPr/>
        </p:nvSpPr>
        <p:spPr>
          <a:xfrm>
            <a:off x="640080" y="2706624"/>
            <a:ext cx="548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E5AAC"/>
                </a:solidFill>
                <a:latin typeface="Calibri"/>
                <a:cs typeface="Calibri"/>
              </a:rPr>
              <a:t>[4]</a:t>
            </a:r>
          </a:p>
        </p:txBody>
      </p:sp>
      <p:sp>
        <p:nvSpPr>
          <p:cNvPr id="355" name="Reference name 4"/>
          <p:cNvSpPr txBox="1"/>
          <p:nvPr/>
        </p:nvSpPr>
        <p:spPr>
          <a:xfrm>
            <a:off x="1234440" y="2706624"/>
            <a:ext cx="5120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B3A6B"/>
                </a:solidFill>
                <a:latin typeface="Calibri"/>
                <a:cs typeface="Calibri"/>
              </a:rPr>
              <a:t>Sentence Transformers Documentation</a:t>
            </a:r>
          </a:p>
        </p:txBody>
      </p:sp>
      <p:sp>
        <p:nvSpPr>
          <p:cNvPr id="356" name="Reference url 4"/>
          <p:cNvSpPr txBox="1"/>
          <p:nvPr/>
        </p:nvSpPr>
        <p:spPr>
          <a:xfrm>
            <a:off x="6400800" y="2706624"/>
            <a:ext cx="521208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https://www.sbert.net</a:t>
            </a:r>
          </a:p>
        </p:txBody>
      </p:sp>
      <p:sp>
        <p:nvSpPr>
          <p:cNvPr id="357" name="Reference row 5"/>
          <p:cNvSpPr/>
          <p:nvPr/>
        </p:nvSpPr>
        <p:spPr>
          <a:xfrm>
            <a:off x="502920" y="3182112"/>
            <a:ext cx="11155680" cy="42976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58" name="Reference number 5"/>
          <p:cNvSpPr txBox="1"/>
          <p:nvPr/>
        </p:nvSpPr>
        <p:spPr>
          <a:xfrm>
            <a:off x="640080" y="3182112"/>
            <a:ext cx="548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E5AAC"/>
                </a:solidFill>
                <a:latin typeface="Calibri"/>
                <a:cs typeface="Calibri"/>
              </a:rPr>
              <a:t>[5]</a:t>
            </a:r>
          </a:p>
        </p:txBody>
      </p:sp>
      <p:sp>
        <p:nvSpPr>
          <p:cNvPr id="359" name="Reference name 5"/>
          <p:cNvSpPr txBox="1"/>
          <p:nvPr/>
        </p:nvSpPr>
        <p:spPr>
          <a:xfrm>
            <a:off x="1234440" y="3182112"/>
            <a:ext cx="5120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B3A6B"/>
                </a:solidFill>
                <a:latin typeface="Calibri"/>
                <a:cs typeface="Calibri"/>
              </a:rPr>
              <a:t>all-MiniLM-L6-v2 Model Card (Hugging Face)</a:t>
            </a:r>
          </a:p>
        </p:txBody>
      </p:sp>
      <p:sp>
        <p:nvSpPr>
          <p:cNvPr id="360" name="Reference url 5"/>
          <p:cNvSpPr txBox="1"/>
          <p:nvPr/>
        </p:nvSpPr>
        <p:spPr>
          <a:xfrm>
            <a:off x="6400800" y="3182112"/>
            <a:ext cx="521208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https://huggingface.co/sentence-transformers/all-MiniLM-L6-v2</a:t>
            </a:r>
          </a:p>
        </p:txBody>
      </p:sp>
      <p:sp>
        <p:nvSpPr>
          <p:cNvPr id="361" name="Reference row 6"/>
          <p:cNvSpPr/>
          <p:nvPr/>
        </p:nvSpPr>
        <p:spPr>
          <a:xfrm>
            <a:off x="502920" y="3657600"/>
            <a:ext cx="11155680" cy="429768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62" name="Reference number 6"/>
          <p:cNvSpPr txBox="1"/>
          <p:nvPr/>
        </p:nvSpPr>
        <p:spPr>
          <a:xfrm>
            <a:off x="640080" y="3657600"/>
            <a:ext cx="548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E5AAC"/>
                </a:solidFill>
                <a:latin typeface="Calibri"/>
                <a:cs typeface="Calibri"/>
              </a:rPr>
              <a:t>[6]</a:t>
            </a:r>
          </a:p>
        </p:txBody>
      </p:sp>
      <p:sp>
        <p:nvSpPr>
          <p:cNvPr id="363" name="Reference name 6"/>
          <p:cNvSpPr txBox="1"/>
          <p:nvPr/>
        </p:nvSpPr>
        <p:spPr>
          <a:xfrm>
            <a:off x="1234440" y="3657600"/>
            <a:ext cx="5120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B3A6B"/>
                </a:solidFill>
                <a:latin typeface="Calibri"/>
                <a:cs typeface="Calibri"/>
              </a:rPr>
              <a:t>Chroma Documentation</a:t>
            </a:r>
          </a:p>
        </p:txBody>
      </p:sp>
      <p:sp>
        <p:nvSpPr>
          <p:cNvPr id="364" name="Reference url 6"/>
          <p:cNvSpPr txBox="1"/>
          <p:nvPr/>
        </p:nvSpPr>
        <p:spPr>
          <a:xfrm>
            <a:off x="6400800" y="3657600"/>
            <a:ext cx="521208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https://docs.trychroma.com</a:t>
            </a:r>
          </a:p>
        </p:txBody>
      </p:sp>
      <p:sp>
        <p:nvSpPr>
          <p:cNvPr id="365" name="Reference row 7"/>
          <p:cNvSpPr/>
          <p:nvPr/>
        </p:nvSpPr>
        <p:spPr>
          <a:xfrm>
            <a:off x="502920" y="4133088"/>
            <a:ext cx="11155680" cy="42976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66" name="Reference number 7"/>
          <p:cNvSpPr txBox="1"/>
          <p:nvPr/>
        </p:nvSpPr>
        <p:spPr>
          <a:xfrm>
            <a:off x="640080" y="4133088"/>
            <a:ext cx="548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E5AAC"/>
                </a:solidFill>
                <a:latin typeface="Calibri"/>
                <a:cs typeface="Calibri"/>
              </a:rPr>
              <a:t>[7]</a:t>
            </a:r>
          </a:p>
        </p:txBody>
      </p:sp>
      <p:sp>
        <p:nvSpPr>
          <p:cNvPr id="367" name="Reference name 7"/>
          <p:cNvSpPr txBox="1"/>
          <p:nvPr/>
        </p:nvSpPr>
        <p:spPr>
          <a:xfrm>
            <a:off x="1234440" y="4133088"/>
            <a:ext cx="5120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B3A6B"/>
                </a:solidFill>
                <a:latin typeface="Calibri"/>
                <a:cs typeface="Calibri"/>
              </a:rPr>
              <a:t>Ollama Documentation</a:t>
            </a:r>
          </a:p>
        </p:txBody>
      </p:sp>
      <p:sp>
        <p:nvSpPr>
          <p:cNvPr id="368" name="Reference url 7"/>
          <p:cNvSpPr txBox="1"/>
          <p:nvPr/>
        </p:nvSpPr>
        <p:spPr>
          <a:xfrm>
            <a:off x="6400800" y="4133088"/>
            <a:ext cx="521208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https://docs.ollama.com</a:t>
            </a:r>
          </a:p>
        </p:txBody>
      </p:sp>
      <p:sp>
        <p:nvSpPr>
          <p:cNvPr id="369" name="Reference row 8"/>
          <p:cNvSpPr/>
          <p:nvPr/>
        </p:nvSpPr>
        <p:spPr>
          <a:xfrm>
            <a:off x="502920" y="4608576"/>
            <a:ext cx="11155680" cy="429768"/>
          </a:xfrm>
          <a:prstGeom prst="roundRect">
            <a:avLst>
              <a:gd name="adj" fmla="val 14000"/>
            </a:avLst>
          </a:prstGeom>
          <a:solidFill>
            <a:srgbClr val="F7FAFC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70" name="Reference number 8"/>
          <p:cNvSpPr txBox="1"/>
          <p:nvPr/>
        </p:nvSpPr>
        <p:spPr>
          <a:xfrm>
            <a:off x="640080" y="4608576"/>
            <a:ext cx="548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E5AAC"/>
                </a:solidFill>
                <a:latin typeface="Calibri"/>
                <a:cs typeface="Calibri"/>
              </a:rPr>
              <a:t>[8]</a:t>
            </a:r>
          </a:p>
        </p:txBody>
      </p:sp>
      <p:sp>
        <p:nvSpPr>
          <p:cNvPr id="371" name="Reference name 8"/>
          <p:cNvSpPr txBox="1"/>
          <p:nvPr/>
        </p:nvSpPr>
        <p:spPr>
          <a:xfrm>
            <a:off x="1234440" y="4608576"/>
            <a:ext cx="5120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B3A6B"/>
                </a:solidFill>
                <a:latin typeface="Calibri"/>
                <a:cs typeface="Calibri"/>
              </a:rPr>
              <a:t>Streamlit Documentation</a:t>
            </a:r>
          </a:p>
        </p:txBody>
      </p:sp>
      <p:sp>
        <p:nvSpPr>
          <p:cNvPr id="372" name="Reference url 8"/>
          <p:cNvSpPr txBox="1"/>
          <p:nvPr/>
        </p:nvSpPr>
        <p:spPr>
          <a:xfrm>
            <a:off x="6400800" y="4608576"/>
            <a:ext cx="521208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https://docs.streamlit.io</a:t>
            </a:r>
          </a:p>
        </p:txBody>
      </p:sp>
      <p:sp>
        <p:nvSpPr>
          <p:cNvPr id="373" name="Reference row 9"/>
          <p:cNvSpPr/>
          <p:nvPr/>
        </p:nvSpPr>
        <p:spPr>
          <a:xfrm>
            <a:off x="502920" y="5084064"/>
            <a:ext cx="11155680" cy="429768"/>
          </a:xfrm>
          <a:prstGeom prst="roundRect">
            <a:avLst>
              <a:gd name="adj" fmla="val 14000"/>
            </a:avLst>
          </a:prstGeom>
          <a:solidFill>
            <a:srgbClr val="EAF3FA"/>
          </a:solidFill>
          <a:ln w="12700">
            <a:solidFill>
              <a:srgbClr val="B8D4E8"/>
            </a:solidFill>
          </a:ln>
        </p:spPr>
        <p:txBody>
          <a:bodyPr wrap="square" lIns="73152" tIns="43891" rIns="73152" bIns="43891" anchor="ctr">
            <a:noAutofit/>
          </a:bodyPr>
          <a:lstStyle/>
          <a:p>
            <a:endParaRPr lang="en-US"/>
          </a:p>
        </p:txBody>
      </p:sp>
      <p:sp>
        <p:nvSpPr>
          <p:cNvPr id="374" name="Reference number 9"/>
          <p:cNvSpPr txBox="1"/>
          <p:nvPr/>
        </p:nvSpPr>
        <p:spPr>
          <a:xfrm>
            <a:off x="640080" y="5084064"/>
            <a:ext cx="548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 b="1" i="0" dirty="0">
                <a:solidFill>
                  <a:srgbClr val="2E5AAC"/>
                </a:solidFill>
                <a:latin typeface="Calibri"/>
                <a:cs typeface="Calibri"/>
              </a:rPr>
              <a:t>[9]</a:t>
            </a:r>
          </a:p>
        </p:txBody>
      </p:sp>
      <p:sp>
        <p:nvSpPr>
          <p:cNvPr id="375" name="Reference name 9"/>
          <p:cNvSpPr txBox="1"/>
          <p:nvPr/>
        </p:nvSpPr>
        <p:spPr>
          <a:xfrm>
            <a:off x="1234440" y="5084064"/>
            <a:ext cx="512064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dirty="0">
                <a:solidFill>
                  <a:srgbClr val="1B3A6B"/>
                </a:solidFill>
                <a:latin typeface="Calibri"/>
                <a:cs typeface="Calibri"/>
              </a:rPr>
              <a:t>Matplotlib Documentation</a:t>
            </a:r>
          </a:p>
        </p:txBody>
      </p:sp>
      <p:sp>
        <p:nvSpPr>
          <p:cNvPr id="376" name="Reference url 9"/>
          <p:cNvSpPr txBox="1"/>
          <p:nvPr/>
        </p:nvSpPr>
        <p:spPr>
          <a:xfrm>
            <a:off x="6400800" y="5084064"/>
            <a:ext cx="5212080" cy="429768"/>
          </a:xfrm>
          <a:prstGeom prst="rect">
            <a:avLst/>
          </a:prstGeom>
          <a:noFill/>
          <a:ln>
            <a:noFill/>
          </a:ln>
        </p:spPr>
        <p:txBody>
          <a:bodyPr wrap="square" lIns="45720" tIns="27432" rIns="45720" bIns="27432" anchor="ctr">
            <a:noAutofit/>
          </a:bodyPr>
          <a:lstStyle/>
          <a:p>
            <a:pPr marL="0" indent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50" b="0" i="0" dirty="0">
                <a:solidFill>
                  <a:srgbClr val="222B38"/>
                </a:solidFill>
                <a:latin typeface="Calibri"/>
                <a:cs typeface="Calibri"/>
              </a:rPr>
              <a:t>https://matplotlib.org/stable/</a:t>
            </a:r>
          </a:p>
        </p:txBody>
      </p:sp>
    </p:spTree>
    <p:extLst>
      <p:ext uri="{BB962C8B-B14F-4D97-AF65-F5344CB8AC3E}">
        <p14:creationId xmlns:p14="http://schemas.microsoft.com/office/powerpoint/2010/main" val="4095602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2019</Words>
  <Application>Microsoft Office PowerPoint</Application>
  <PresentationFormat>Widescreen</PresentationFormat>
  <Paragraphs>412</Paragraphs>
  <Slides>21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Arial</vt:lpstr>
      <vt:lpstr>Calibri</vt:lpstr>
      <vt:lpstr>Calibri (Body)</vt:lpstr>
      <vt:lpstr>Frutiger 45 bold</vt:lpstr>
      <vt:lpstr>Frutiger LT Pro 45 Light</vt:lpstr>
      <vt:lpstr>1_Office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Nainshi Tikait</cp:lastModifiedBy>
  <cp:revision>3</cp:revision>
  <dcterms:modified xsi:type="dcterms:W3CDTF">2026-10-14T08:33:30Z</dcterms:modified>
</cp:coreProperties>
</file>