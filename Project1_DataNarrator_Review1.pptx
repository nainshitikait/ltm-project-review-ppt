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  <p:sldId id="2147470498" r:id="rId11"/>
    <p:sldId id="2147470499" r:id="rId12"/>
    <p:sldId id="2147470502" r:id="rId13"/>
    <p:sldId id="2147470500" r:id="rId14"/>
    <p:sldId id="214747050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BBDA"/>
    <a:srgbClr val="25B9ED"/>
    <a:srgbClr val="FFFFFF"/>
    <a:srgbClr val="47BDAE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81908" y="1977221"/>
            <a:ext cx="11428184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dirty="0">
                <a:solidFill>
                  <a:schemeClr val="bg1"/>
                </a:solidFill>
              </a:rPr>
              <a:t>Project Title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sz="3600" dirty="0">
                <a:solidFill>
                  <a:schemeClr val="bg1"/>
                </a:solidFill>
              </a:rPr>
              <a:t>Data Narrator: NL-to-SQL BI Copilot with Auto-Insights</a:t>
            </a:r>
            <a:br>
              <a:rPr sz="3600" dirty="0">
                <a:solidFill>
                  <a:schemeClr val="bg1"/>
                </a:solidFill>
              </a:rPr>
            </a:br>
            <a:br>
              <a:rPr sz="3600" dirty="0">
                <a:solidFill>
                  <a:schemeClr val="bg1"/>
                </a:solidFill>
              </a:rPr>
            </a:br>
            <a:r>
              <a:rPr sz="2400" dirty="0">
                <a:solidFill>
                  <a:schemeClr val="bg1"/>
                </a:solidFill>
              </a:rPr>
              <a:t>Team Member</a:t>
            </a:r>
            <a:br>
              <a:rPr sz="2400" dirty="0">
                <a:solidFill>
                  <a:schemeClr val="bg1"/>
                </a:solidFill>
              </a:rPr>
            </a:br>
            <a:r>
              <a:rPr sz="2400" dirty="0">
                <a:solidFill>
                  <a:schemeClr val="bg1"/>
                </a:solidFill>
              </a:rPr>
              <a:t>NAINSHI TIKAIT</a:t>
            </a:r>
            <a:br>
              <a:rPr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VIT </a:t>
            </a:r>
            <a:r>
              <a:rPr sz="2400" dirty="0">
                <a:solidFill>
                  <a:schemeClr val="bg1"/>
                </a:solidFill>
              </a:rPr>
              <a:t>2025-27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000795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0C71D-D9A7-2E72-176A-2DAF9A8E5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443" y="5108304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  <a:defRPr sz="1900" b="1"/>
            </a:pPr>
            <a:r>
              <a:rPr sz="2400" dirty="0">
                <a:latin typeface="+mn-lt"/>
              </a:rPr>
              <a:t>Why this project?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Business users often depend on analysts to obtain data-driven answers.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SQL skill gaps can create delays in accessing business information.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Data Narrator lets users ask analytical questions in natural language.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The system converts the question into SQL, retrieves real database results, creates a visualization and generates a concise business insight.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136253" y="462551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800" b="1"/>
              <a:t>Data Narrator: NL-to-SQL BI Copilot with Auto-Insights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BCCFA-EF04-B2CC-C841-FEA7F8E80249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7" name="Picture 6" descr="LTM Limited (Formerly LTIMindtree Limited)">
            <a:extLst>
              <a:ext uri="{FF2B5EF4-FFF2-40B4-BE49-F238E27FC236}">
                <a16:creationId xmlns:a16="http://schemas.microsoft.com/office/drawing/2014/main" id="{1E1CD245-7E67-BEF3-30D0-C20486857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  <a:defRPr sz="1900" b="1"/>
            </a:pPr>
            <a:r>
              <a:rPr sz="2400" dirty="0">
                <a:latin typeface="+mn-lt"/>
              </a:rPr>
              <a:t>Project objectives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Convert natural-language questions into SQL queries.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Validate generated SQL before database execution.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Retrieve business information from </a:t>
            </a:r>
            <a:r>
              <a:rPr sz="2400" dirty="0" err="1">
                <a:latin typeface="+mn-lt"/>
              </a:rPr>
              <a:t>DuckDB</a:t>
            </a:r>
            <a:r>
              <a:rPr sz="2400" dirty="0">
                <a:latin typeface="+mn-lt"/>
              </a:rPr>
              <a:t>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Generate automatic </a:t>
            </a:r>
            <a:r>
              <a:rPr sz="2400" dirty="0" err="1">
                <a:latin typeface="+mn-lt"/>
              </a:rPr>
              <a:t>Plotly</a:t>
            </a:r>
            <a:r>
              <a:rPr sz="2400" dirty="0">
                <a:latin typeface="+mn-lt"/>
              </a:rPr>
              <a:t> visualizations.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Provide short natural-language business insights.</a:t>
            </a:r>
          </a:p>
          <a:p>
            <a:pPr>
              <a:spcAft>
                <a:spcPts val="500"/>
              </a:spcAft>
              <a:defRPr sz="1700"/>
            </a:pPr>
            <a:r>
              <a:rPr sz="2400" dirty="0">
                <a:latin typeface="+mn-lt"/>
              </a:rPr>
              <a:t>Build the foundation for conversational BI and follow-up questions.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21274" y="31221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C4E5AD-F938-3DF0-87EB-B33473518C21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800" b="1"/>
              <a:t>Natural Language → SQL → Data → Visualization → Insight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49017-0E91-F5C7-E849-0D494C0313E7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72D1A61C-8BDB-B51A-40AE-E9C0B25CB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  <a:defRPr sz="1800" b="1"/>
            </a:pPr>
            <a:r>
              <a:rPr sz="2400" dirty="0">
                <a:latin typeface="+mn-lt"/>
              </a:rPr>
              <a:t>Initial scope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>
                <a:latin typeface="+mn-lt"/>
              </a:rPr>
              <a:t>Retail/e-commerce business analytics prototype using Tableau Sample Superstore data.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>
                <a:latin typeface="+mn-lt"/>
              </a:rPr>
              <a:t>10,194 records and 21 business attributes.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>
                <a:latin typeface="+mn-lt"/>
              </a:rPr>
              <a:t>Natural-language interaction with a structured database.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>
                <a:latin typeface="+mn-lt"/>
              </a:rPr>
              <a:t>Read-only SQL execution for safer prototype operation.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>
                <a:latin typeface="+mn-lt"/>
              </a:rPr>
              <a:t>Interactive visualization and automated business insight generation.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>
                <a:latin typeface="+mn-lt"/>
              </a:rPr>
              <a:t>Future scope: conversational context, stronger validation, Vanna.AI integration and deployment</a:t>
            </a:r>
            <a:r>
              <a:rPr dirty="0">
                <a:latin typeface="+mn-lt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EB008A-04BB-C5A3-794B-0DC2B0523E0F}"/>
              </a:ext>
            </a:extLst>
          </p:cNvPr>
          <p:cNvSpPr txBox="1"/>
          <p:nvPr/>
        </p:nvSpPr>
        <p:spPr>
          <a:xfrm>
            <a:off x="4081808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700" b="1"/>
              <a:t>Current stage: working prototype + EDA + database integration</a:t>
            </a:r>
          </a:p>
        </p:txBody>
      </p:sp>
      <p:sp>
        <p:nvSpPr>
          <p:cNvPr id="7" name="AutoShape 2" descr="LTIMindtree Logo">
            <a:extLst>
              <a:ext uri="{FF2B5EF4-FFF2-40B4-BE49-F238E27FC236}">
                <a16:creationId xmlns:a16="http://schemas.microsoft.com/office/drawing/2014/main" id="{23863276-72E5-30AB-392D-D8D21A2E79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632E79-658D-9E93-B5C2-C0CA952E704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030" name="Picture 6" descr="LTM Limited (Formerly LTIMindtree Limited)">
            <a:extLst>
              <a:ext uri="{FF2B5EF4-FFF2-40B4-BE49-F238E27FC236}">
                <a16:creationId xmlns:a16="http://schemas.microsoft.com/office/drawing/2014/main" id="{71A73E9E-CECD-2252-34B1-1B287A4B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216534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1600" b="1"/>
            </a:pPr>
            <a:r>
              <a:rPr sz="2400" dirty="0">
                <a:latin typeface="+mn-lt"/>
              </a:rPr>
              <a:t>Key research relevant to NL-to-SQL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Spider (Yu et al., EMNLP 2018) — established a challenging cross-domain benchmark for natural-language-to-SQL over multiple databases.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RAT-SQL (Wang et al., ACL 2020) — highlighted schema encoding and schema linking as important challenges in text-to-SQL.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DIN-SQL (</a:t>
            </a:r>
            <a:r>
              <a:rPr sz="2400" dirty="0" err="1">
                <a:latin typeface="+mn-lt"/>
              </a:rPr>
              <a:t>Pourreza</a:t>
            </a:r>
            <a:r>
              <a:rPr sz="2400" dirty="0">
                <a:latin typeface="+mn-lt"/>
              </a:rPr>
              <a:t> &amp; </a:t>
            </a:r>
            <a:r>
              <a:rPr sz="2400" dirty="0" err="1">
                <a:latin typeface="+mn-lt"/>
              </a:rPr>
              <a:t>Rafiei</a:t>
            </a:r>
            <a:r>
              <a:rPr sz="2400" dirty="0">
                <a:latin typeface="+mn-lt"/>
              </a:rPr>
              <a:t>, </a:t>
            </a:r>
            <a:r>
              <a:rPr sz="2400" dirty="0" err="1">
                <a:latin typeface="+mn-lt"/>
              </a:rPr>
              <a:t>NeurIPS</a:t>
            </a:r>
            <a:r>
              <a:rPr sz="2400" dirty="0">
                <a:latin typeface="+mn-lt"/>
              </a:rPr>
              <a:t> 2023) — showed that decomposed prompting and self-correction can improve LLM-based text-to-SQL.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BIRD (Li et al., </a:t>
            </a:r>
            <a:r>
              <a:rPr sz="2400" dirty="0" err="1">
                <a:latin typeface="+mn-lt"/>
              </a:rPr>
              <a:t>NeurIPS</a:t>
            </a:r>
            <a:r>
              <a:rPr sz="2400" dirty="0">
                <a:latin typeface="+mn-lt"/>
              </a:rPr>
              <a:t> 2023) — introduced a larger database-grounded benchmark closer to real-world text-to-SQL complexity.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114482" y="495070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D11724-79D4-0638-9C05-77425B9500D4}"/>
              </a:ext>
            </a:extLst>
          </p:cNvPr>
          <p:cNvSpPr txBox="1"/>
          <p:nvPr/>
        </p:nvSpPr>
        <p:spPr>
          <a:xfrm>
            <a:off x="4138369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600" b="1"/>
              <a:t>Data Narrator: NL-to-SQL BI Copilot with Auto-Insights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5410BF-B4C4-99E4-35F5-40F8DD991A55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F7670379-0AD4-EBD9-8789-3B3BAF88A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136254" y="502949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15EC13-6748-BAD4-C953-D2A3E4369998}"/>
              </a:ext>
            </a:extLst>
          </p:cNvPr>
          <p:cNvSpPr txBox="1"/>
          <p:nvPr/>
        </p:nvSpPr>
        <p:spPr>
          <a:xfrm>
            <a:off x="4128942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800" b="1"/>
              <a:t>Research Gap &amp; Project Direction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7AA17C-FCAD-A298-06DE-E306ACF48D6D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3BEDBD5B-E67C-7B6B-7835-B458F355F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399A00-A386-A75A-5596-8DBF03012231}"/>
              </a:ext>
            </a:extLst>
          </p:cNvPr>
          <p:cNvSpPr txBox="1"/>
          <p:nvPr/>
        </p:nvSpPr>
        <p:spPr>
          <a:xfrm>
            <a:off x="487062" y="1651421"/>
            <a:ext cx="11368240" cy="323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 sz="1800" b="1"/>
            </a:pPr>
            <a:r>
              <a:rPr sz="2400" dirty="0">
                <a:solidFill>
                  <a:schemeClr val="accent5">
                    <a:lumMod val="75000"/>
                  </a:schemeClr>
                </a:solidFill>
              </a:rPr>
              <a:t>Research gap</a:t>
            </a:r>
          </a:p>
          <a:p>
            <a:pPr>
              <a:spcAft>
                <a:spcPts val="500"/>
              </a:spcAft>
              <a:defRPr sz="1600"/>
            </a:pPr>
            <a:r>
              <a:rPr sz="2400" b="1" dirty="0">
                <a:solidFill>
                  <a:schemeClr val="accent5">
                    <a:lumMod val="75000"/>
                  </a:schemeClr>
                </a:solidFill>
              </a:rPr>
              <a:t>Existing text-to-SQL research focuses strongly on query generation and benchmark accuracy.</a:t>
            </a:r>
          </a:p>
          <a:p>
            <a:pPr>
              <a:spcAft>
                <a:spcPts val="500"/>
              </a:spcAft>
              <a:defRPr sz="1600"/>
            </a:pPr>
            <a:r>
              <a:rPr sz="2400" b="1" dirty="0">
                <a:solidFill>
                  <a:schemeClr val="accent5">
                    <a:lumMod val="75000"/>
                  </a:schemeClr>
                </a:solidFill>
              </a:rPr>
              <a:t>A practical BI assistant also needs safe SQL execution, understandable visual outputs and business-oriented explanations.</a:t>
            </a:r>
          </a:p>
          <a:p>
            <a:pPr>
              <a:spcAft>
                <a:spcPts val="500"/>
              </a:spcAft>
              <a:defRPr sz="1600"/>
            </a:pPr>
            <a:r>
              <a:rPr sz="2400" b="1" dirty="0">
                <a:solidFill>
                  <a:schemeClr val="accent5">
                    <a:lumMod val="75000"/>
                  </a:schemeClr>
                </a:solidFill>
              </a:rPr>
              <a:t>Data Narrator combines these components into a single user-facing workflow.</a:t>
            </a:r>
          </a:p>
          <a:p>
            <a:pPr>
              <a:spcAft>
                <a:spcPts val="500"/>
              </a:spcAft>
              <a:defRPr sz="1600"/>
            </a:pPr>
            <a:r>
              <a:rPr sz="2400" b="1" dirty="0">
                <a:solidFill>
                  <a:schemeClr val="accent5">
                    <a:lumMod val="75000"/>
                  </a:schemeClr>
                </a:solidFill>
              </a:rPr>
              <a:t>Current prototype validates the core path from natural language to database result, visualization and insight.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7018"/>
            <a:ext cx="10624338" cy="4142989"/>
          </a:xfrm>
        </p:spPr>
        <p:txBody>
          <a:bodyPr/>
          <a:lstStyle/>
          <a:p>
            <a:pPr marL="355600" indent="-355600">
              <a:lnSpc>
                <a:spcPct val="105000"/>
              </a:lnSpc>
              <a:spcAft>
                <a:spcPts val="1600"/>
              </a:spcAft>
              <a:buSzPct val="100000"/>
              <a:buChar char="▪"/>
              <a:defRPr sz="1600" b="1"/>
            </a:pPr>
            <a:r>
              <a:rPr sz="2400" dirty="0">
                <a:latin typeface="+mn-lt"/>
              </a:rPr>
              <a:t>Dataset &amp; database configuration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Dataset: Tableau Sample Superstore Sales.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Rows: 10,194 | Columns: 21.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Missing values: 0 | Duplicate records: 0.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Database: </a:t>
            </a:r>
            <a:r>
              <a:rPr sz="2400" dirty="0" err="1">
                <a:latin typeface="+mn-lt"/>
              </a:rPr>
              <a:t>DuckDB</a:t>
            </a:r>
            <a:r>
              <a:rPr sz="2400" dirty="0">
                <a:latin typeface="+mn-lt"/>
              </a:rPr>
              <a:t>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Table: superstore.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Key business fields: Order Date, Customer, Segment, Region, Category, Sales, Quantity, Discount and Profit.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Schema is supplied to the LLM so it can map the natural-language question to available tables and columns.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92710" y="36700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7675AB-6528-C6E1-1298-8B4DC0FBA428}"/>
              </a:ext>
            </a:extLst>
          </p:cNvPr>
          <p:cNvSpPr txBox="1"/>
          <p:nvPr/>
        </p:nvSpPr>
        <p:spPr>
          <a:xfrm>
            <a:off x="411951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700" b="1"/>
              <a:t>Data Acquisition &amp; Database Understanding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547CF6-2DB6-043B-0D57-69B3AD0899A0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CB581111-F34F-9970-D173-3E257F943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103596" y="526048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01665B-C1F1-9A39-E419-0AFCC4BE0EFD}"/>
              </a:ext>
            </a:extLst>
          </p:cNvPr>
          <p:cNvSpPr txBox="1"/>
          <p:nvPr/>
        </p:nvSpPr>
        <p:spPr>
          <a:xfrm>
            <a:off x="4072380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sz="1600" b="1"/>
              <a:t>Data Narrator: NL-to-SQL BI Copilot with Auto-Insights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63B2D-7B75-C470-2E06-DBCE99141014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E4316486-4CBB-6223-6F62-CBC22688D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A1C0A09B-4A68-05FE-7C52-AF4AB962A397}"/>
              </a:ext>
            </a:extLst>
          </p:cNvPr>
          <p:cNvSpPr/>
          <p:nvPr/>
        </p:nvSpPr>
        <p:spPr>
          <a:xfrm>
            <a:off x="512439" y="155464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0BF02D0-F07E-9D7D-2B77-A3B35A98442D}"/>
              </a:ext>
            </a:extLst>
          </p:cNvPr>
          <p:cNvSpPr/>
          <p:nvPr/>
        </p:nvSpPr>
        <p:spPr>
          <a:xfrm>
            <a:off x="677031" y="181524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9080F93-4354-390A-EBBE-306BE59734B4}"/>
              </a:ext>
            </a:extLst>
          </p:cNvPr>
          <p:cNvSpPr txBox="1"/>
          <p:nvPr/>
        </p:nvSpPr>
        <p:spPr>
          <a:xfrm>
            <a:off x="677031" y="18152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1</a:t>
            </a:r>
            <a:endParaRPr lang="en-US" sz="187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F563EB3-0A20-29B0-F3BE-999A345787DD}"/>
              </a:ext>
            </a:extLst>
          </p:cNvPr>
          <p:cNvSpPr txBox="1"/>
          <p:nvPr/>
        </p:nvSpPr>
        <p:spPr>
          <a:xfrm>
            <a:off x="1335399" y="155464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Data Acquisition &amp; Database</a:t>
            </a:r>
            <a:endParaRPr lang="en-US" sz="15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C591075-74BE-6B88-2A10-A2FDF00DF565}"/>
              </a:ext>
            </a:extLst>
          </p:cNvPr>
          <p:cNvSpPr/>
          <p:nvPr/>
        </p:nvSpPr>
        <p:spPr>
          <a:xfrm>
            <a:off x="6149715" y="155464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17FCF80-8FA0-E4B4-AB0C-5944343B231B}"/>
              </a:ext>
            </a:extLst>
          </p:cNvPr>
          <p:cNvSpPr/>
          <p:nvPr/>
        </p:nvSpPr>
        <p:spPr>
          <a:xfrm>
            <a:off x="6314307" y="181524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8CFD482-69F8-742A-CD65-E42D8B4DE873}"/>
              </a:ext>
            </a:extLst>
          </p:cNvPr>
          <p:cNvSpPr txBox="1"/>
          <p:nvPr/>
        </p:nvSpPr>
        <p:spPr>
          <a:xfrm>
            <a:off x="6314307" y="181524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2</a:t>
            </a:r>
            <a:endParaRPr lang="en-US" sz="187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F22BD0E9-CA5E-B269-A0D1-CDA4A760740D}"/>
              </a:ext>
            </a:extLst>
          </p:cNvPr>
          <p:cNvSpPr txBox="1"/>
          <p:nvPr/>
        </p:nvSpPr>
        <p:spPr>
          <a:xfrm>
            <a:off x="6972675" y="155464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NL Understanding &amp; SQL Generation</a:t>
            </a:r>
            <a:endParaRPr lang="en-US" sz="15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2896E952-EF91-A459-D08B-E75A49CA8B1B}"/>
              </a:ext>
            </a:extLst>
          </p:cNvPr>
          <p:cNvSpPr/>
          <p:nvPr/>
        </p:nvSpPr>
        <p:spPr>
          <a:xfrm>
            <a:off x="512439" y="274336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E9CB7F38-3360-8E62-6EF5-6F078A1E3920}"/>
              </a:ext>
            </a:extLst>
          </p:cNvPr>
          <p:cNvSpPr/>
          <p:nvPr/>
        </p:nvSpPr>
        <p:spPr>
          <a:xfrm>
            <a:off x="677031" y="300396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E3458C21-6AF0-A10D-86D1-1FF94A7EBC12}"/>
              </a:ext>
            </a:extLst>
          </p:cNvPr>
          <p:cNvSpPr txBox="1"/>
          <p:nvPr/>
        </p:nvSpPr>
        <p:spPr>
          <a:xfrm>
            <a:off x="677031" y="30039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3</a:t>
            </a:r>
            <a:endParaRPr lang="en-US" sz="187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2950EE7-3CC0-4089-4E74-0C9C031B3FE5}"/>
              </a:ext>
            </a:extLst>
          </p:cNvPr>
          <p:cNvSpPr txBox="1"/>
          <p:nvPr/>
        </p:nvSpPr>
        <p:spPr>
          <a:xfrm>
            <a:off x="1335399" y="274336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SQL Validation &amp; Safe Execution</a:t>
            </a:r>
            <a:endParaRPr lang="en-US" sz="1500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B8D64F29-E160-BD9F-007C-F7250E7C23F0}"/>
              </a:ext>
            </a:extLst>
          </p:cNvPr>
          <p:cNvSpPr/>
          <p:nvPr/>
        </p:nvSpPr>
        <p:spPr>
          <a:xfrm>
            <a:off x="6149715" y="274336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F27F0C2-C498-66C7-9920-674B07F3C892}"/>
              </a:ext>
            </a:extLst>
          </p:cNvPr>
          <p:cNvSpPr/>
          <p:nvPr/>
        </p:nvSpPr>
        <p:spPr>
          <a:xfrm>
            <a:off x="6314307" y="300396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D5F7D005-20B8-7278-051A-6F72FCF4A831}"/>
              </a:ext>
            </a:extLst>
          </p:cNvPr>
          <p:cNvSpPr txBox="1"/>
          <p:nvPr/>
        </p:nvSpPr>
        <p:spPr>
          <a:xfrm>
            <a:off x="6314307" y="300396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4</a:t>
            </a:r>
            <a:endParaRPr lang="en-US" sz="187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7B18C14D-1A79-F962-BDB7-CFCA36ACF276}"/>
              </a:ext>
            </a:extLst>
          </p:cNvPr>
          <p:cNvSpPr txBox="1"/>
          <p:nvPr/>
        </p:nvSpPr>
        <p:spPr>
          <a:xfrm>
            <a:off x="6972675" y="274336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Visualization &amp; Business Insight</a:t>
            </a:r>
            <a:endParaRPr lang="en-US" sz="15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AD4B2FEB-D721-B5B8-F97D-A9B74EA160E3}"/>
              </a:ext>
            </a:extLst>
          </p:cNvPr>
          <p:cNvSpPr/>
          <p:nvPr/>
        </p:nvSpPr>
        <p:spPr>
          <a:xfrm>
            <a:off x="512439" y="393208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A43CB245-E08D-594A-21A2-C8F1316C25CB}"/>
              </a:ext>
            </a:extLst>
          </p:cNvPr>
          <p:cNvSpPr/>
          <p:nvPr/>
        </p:nvSpPr>
        <p:spPr>
          <a:xfrm>
            <a:off x="677031" y="419268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B82726FD-8D87-2925-EB11-D83636FB8FC2}"/>
              </a:ext>
            </a:extLst>
          </p:cNvPr>
          <p:cNvSpPr txBox="1"/>
          <p:nvPr/>
        </p:nvSpPr>
        <p:spPr>
          <a:xfrm>
            <a:off x="677031" y="41926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5</a:t>
            </a:r>
            <a:endParaRPr lang="en-US" sz="187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65500CE8-B7CA-5114-FF69-057793ACABF3}"/>
              </a:ext>
            </a:extLst>
          </p:cNvPr>
          <p:cNvSpPr txBox="1"/>
          <p:nvPr/>
        </p:nvSpPr>
        <p:spPr>
          <a:xfrm>
            <a:off x="1335399" y="393208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Streamlit User Interface</a:t>
            </a:r>
            <a:endParaRPr lang="en-US" sz="15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6E9CDA3E-400D-911A-6837-BBC17D798075}"/>
              </a:ext>
            </a:extLst>
          </p:cNvPr>
          <p:cNvSpPr/>
          <p:nvPr/>
        </p:nvSpPr>
        <p:spPr>
          <a:xfrm>
            <a:off x="6149715" y="393208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6900283B-AE50-7FCB-EA32-5E82A7B3FD99}"/>
              </a:ext>
            </a:extLst>
          </p:cNvPr>
          <p:cNvSpPr/>
          <p:nvPr/>
        </p:nvSpPr>
        <p:spPr>
          <a:xfrm>
            <a:off x="6314307" y="419268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6692C8DB-812B-7221-3792-2BFA63DA9D4F}"/>
              </a:ext>
            </a:extLst>
          </p:cNvPr>
          <p:cNvSpPr txBox="1"/>
          <p:nvPr/>
        </p:nvSpPr>
        <p:spPr>
          <a:xfrm>
            <a:off x="6314307" y="419268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6</a:t>
            </a:r>
            <a:endParaRPr lang="en-US" sz="187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C96A6EEB-8DFB-BF21-30B9-724106DE3245}"/>
              </a:ext>
            </a:extLst>
          </p:cNvPr>
          <p:cNvSpPr txBox="1"/>
          <p:nvPr/>
        </p:nvSpPr>
        <p:spPr>
          <a:xfrm>
            <a:off x="6972675" y="393208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EDA &amp; Data Understanding</a:t>
            </a:r>
            <a:endParaRPr lang="en-US" sz="15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CC124553-56F4-E6BF-F834-778F8585C7B1}"/>
              </a:ext>
            </a:extLst>
          </p:cNvPr>
          <p:cNvSpPr/>
          <p:nvPr/>
        </p:nvSpPr>
        <p:spPr>
          <a:xfrm>
            <a:off x="512439" y="512080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2D3BA62B-94C7-C20B-AE12-ADBE13330335}"/>
              </a:ext>
            </a:extLst>
          </p:cNvPr>
          <p:cNvSpPr/>
          <p:nvPr/>
        </p:nvSpPr>
        <p:spPr>
          <a:xfrm>
            <a:off x="677031" y="538140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43C3D93-274B-78C7-5C3A-B1334C69ADFC}"/>
              </a:ext>
            </a:extLst>
          </p:cNvPr>
          <p:cNvSpPr txBox="1"/>
          <p:nvPr/>
        </p:nvSpPr>
        <p:spPr>
          <a:xfrm>
            <a:off x="677031" y="53814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7</a:t>
            </a:r>
            <a:endParaRPr lang="en-US" sz="187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76A0DD45-803F-C074-3185-7871DEB98D04}"/>
              </a:ext>
            </a:extLst>
          </p:cNvPr>
          <p:cNvSpPr txBox="1"/>
          <p:nvPr/>
        </p:nvSpPr>
        <p:spPr>
          <a:xfrm>
            <a:off x="1335399" y="512080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Conversational Follow-up Context</a:t>
            </a:r>
            <a:endParaRPr lang="en-US" sz="1500" dirty="0"/>
          </a:p>
        </p:txBody>
      </p:sp>
      <p:sp>
        <p:nvSpPr>
          <p:cNvPr id="37" name="Shape 32">
            <a:extLst>
              <a:ext uri="{FF2B5EF4-FFF2-40B4-BE49-F238E27FC236}">
                <a16:creationId xmlns:a16="http://schemas.microsoft.com/office/drawing/2014/main" id="{AB4BAD79-BCE7-CA02-4904-AD55CD988481}"/>
              </a:ext>
            </a:extLst>
          </p:cNvPr>
          <p:cNvSpPr/>
          <p:nvPr/>
        </p:nvSpPr>
        <p:spPr>
          <a:xfrm>
            <a:off x="6149715" y="5120801"/>
            <a:ext cx="5271516" cy="1024128"/>
          </a:xfrm>
          <a:prstGeom prst="roundRect">
            <a:avLst>
              <a:gd name="adj" fmla="val 7143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C93BAD41-348D-B7D0-74DD-5FC2FD5381B4}"/>
              </a:ext>
            </a:extLst>
          </p:cNvPr>
          <p:cNvSpPr/>
          <p:nvPr/>
        </p:nvSpPr>
        <p:spPr>
          <a:xfrm>
            <a:off x="6314307" y="5381405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9AFFDC99-7B64-D5E2-E919-CE6B7B76E20D}"/>
              </a:ext>
            </a:extLst>
          </p:cNvPr>
          <p:cNvSpPr txBox="1"/>
          <p:nvPr/>
        </p:nvSpPr>
        <p:spPr>
          <a:xfrm>
            <a:off x="6314307" y="538140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800" b="1"/>
              <a:t>8</a:t>
            </a:r>
            <a:endParaRPr lang="en-US" sz="1870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C057E582-1514-A263-ED8E-C0F864DB539D}"/>
              </a:ext>
            </a:extLst>
          </p:cNvPr>
          <p:cNvSpPr txBox="1"/>
          <p:nvPr/>
        </p:nvSpPr>
        <p:spPr>
          <a:xfrm>
            <a:off x="6972675" y="5120801"/>
            <a:ext cx="43113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/>
              <a:t>Future Deployment &amp; Integration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  <a:defRPr sz="1700" b="1"/>
            </a:pPr>
            <a:r>
              <a:rPr sz="2400" dirty="0"/>
              <a:t>Dataset → </a:t>
            </a:r>
            <a:r>
              <a:rPr sz="2400" dirty="0" err="1"/>
              <a:t>DuckDB</a:t>
            </a:r>
            <a:r>
              <a:rPr sz="2400" dirty="0"/>
              <a:t> → Schema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Tableau Sample Superstore data was downloaded and loaded into </a:t>
            </a:r>
            <a:r>
              <a:rPr sz="2400" dirty="0" err="1"/>
              <a:t>DuckDB</a:t>
            </a:r>
            <a:r>
              <a:rPr sz="2400" dirty="0"/>
              <a:t>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A table named superstore contains 10,194 records and 21 attributes.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Schema inspection verified column names and data types.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SQL queries were tested directly against the database.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Example: West region has the highest total sales in the current dataset.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114482" y="49018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1. Data Acquisition &amp; Database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CAE54CC-2EB2-26E6-12F9-36ECBF945EDD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DD8723-FBD3-689C-E246-39F806E767DC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8222288F-2592-2931-9AB9-460C9363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B63FC55-A991-A702-3858-6B7E83874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729" y="4381729"/>
            <a:ext cx="6058211" cy="256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A00AA-51F2-8125-FC5F-E29D327E7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2AB5B8-02D7-2681-5164-9143E9DE3E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  <a:defRPr sz="1700" b="1"/>
            </a:pPr>
            <a:r>
              <a:rPr sz="2400" dirty="0"/>
              <a:t>Exploratory Data Analysis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Dataset shape: 10,194 × 21.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Missing values: 0.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Duplicate records: 0.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Sales by region, sales/profit by category and monthly sales trend were </a:t>
            </a:r>
            <a:r>
              <a:rPr sz="2400" dirty="0" err="1"/>
              <a:t>analysed</a:t>
            </a:r>
            <a:r>
              <a:rPr sz="2400" dirty="0"/>
              <a:t>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West region recorded the highest sales.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Technology recorded the highest sales and profit among the three categories.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97C6E4-46C6-EFB7-91E2-E784E95763C9}"/>
              </a:ext>
            </a:extLst>
          </p:cNvPr>
          <p:cNvSpPr txBox="1"/>
          <p:nvPr/>
        </p:nvSpPr>
        <p:spPr>
          <a:xfrm>
            <a:off x="101530" y="54542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2. EDA &amp; Data Understanding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ABF908-A2CE-CF4E-FFF5-54A6ADF668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1C607C-667A-997A-4180-0B2860A63E88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B2BFC0-931F-FBC5-E358-760279B9BF5E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571A73DB-881B-FA12-FD73-FCA54B4D0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D1951E-EB76-415F-BFA6-F245182E5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029" y="323164"/>
            <a:ext cx="6193971" cy="310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23BEB-A551-59AB-8BB8-1BFE7952F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06473B-A488-41E5-CA66-A101253307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  <a:defRPr sz="1600" b="1"/>
            </a:pPr>
            <a:r>
              <a:rPr sz="2400" dirty="0">
                <a:latin typeface="+mn-lt"/>
              </a:rPr>
              <a:t>Implemented pipeline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User question → Llama 3.1 8B via </a:t>
            </a:r>
            <a:r>
              <a:rPr sz="2400" dirty="0" err="1">
                <a:latin typeface="+mn-lt"/>
              </a:rPr>
              <a:t>Ollama</a:t>
            </a:r>
            <a:r>
              <a:rPr sz="2400" dirty="0">
                <a:latin typeface="+mn-lt"/>
              </a:rPr>
              <a:t>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Generated SQL → read-only SQL validation.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Validated SQL → </a:t>
            </a:r>
            <a:r>
              <a:rPr sz="2400" dirty="0" err="1">
                <a:latin typeface="+mn-lt"/>
              </a:rPr>
              <a:t>DuckDB</a:t>
            </a:r>
            <a:r>
              <a:rPr sz="2400" dirty="0">
                <a:latin typeface="+mn-lt"/>
              </a:rPr>
              <a:t> execution.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Query result → </a:t>
            </a:r>
            <a:r>
              <a:rPr sz="2400" dirty="0" err="1">
                <a:latin typeface="+mn-lt"/>
              </a:rPr>
              <a:t>Plotly</a:t>
            </a:r>
            <a:r>
              <a:rPr sz="2400" dirty="0">
                <a:latin typeface="+mn-lt"/>
              </a:rPr>
              <a:t> visualization.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Result → concise natural-language business insight.</a:t>
            </a:r>
          </a:p>
          <a:p>
            <a:pPr>
              <a:spcAft>
                <a:spcPts val="500"/>
              </a:spcAft>
              <a:defRPr sz="1400"/>
            </a:pPr>
            <a:r>
              <a:rPr sz="2400" dirty="0">
                <a:latin typeface="+mn-lt"/>
              </a:rPr>
              <a:t>Current baseline directly integrates Llama 3.1 through </a:t>
            </a:r>
            <a:r>
              <a:rPr sz="2400" dirty="0" err="1">
                <a:latin typeface="+mn-lt"/>
              </a:rPr>
              <a:t>Ollama</a:t>
            </a:r>
            <a:r>
              <a:rPr sz="2400" dirty="0">
                <a:latin typeface="+mn-lt"/>
              </a:rPr>
              <a:t>; Vanna.AI remains a planned enhancement.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A5816-4DA1-2D68-822A-9D9773F57631}"/>
              </a:ext>
            </a:extLst>
          </p:cNvPr>
          <p:cNvSpPr txBox="1"/>
          <p:nvPr/>
        </p:nvSpPr>
        <p:spPr>
          <a:xfrm>
            <a:off x="0" y="477187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3. NL-to-SQL Working Prototype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097C01-08F6-10B8-B4C2-AD99CE2BCC5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6357B2-1EF2-B05F-79D3-E588447B376C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A4A912-549E-9024-111B-B922D89B81BD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DAC9D760-C3FC-A0D8-DBB5-7352460C9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962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510E2-2902-7732-7713-41ADABA3B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7" y="342900"/>
            <a:ext cx="12071126" cy="588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1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E9FC3-3FF5-C3D3-1E2C-32AC91C77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B6FBDD-F926-9752-7B4F-27CEAADCE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29138"/>
            <a:ext cx="10508194" cy="444565"/>
          </a:xfrm>
        </p:spPr>
        <p:txBody>
          <a:bodyPr/>
          <a:lstStyle/>
          <a:p>
            <a:pPr marL="0" indent="0">
              <a:buNone/>
              <a:defRPr sz="1700" b="1"/>
            </a:pPr>
            <a:r>
              <a:rPr sz="2400" dirty="0"/>
              <a:t>Review 1 evidence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Working </a:t>
            </a:r>
            <a:r>
              <a:rPr sz="2400" dirty="0" err="1"/>
              <a:t>Streamlit</a:t>
            </a:r>
            <a:r>
              <a:rPr sz="2400" dirty="0"/>
              <a:t> application demonstrated locally.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 err="1"/>
              <a:t>DuckDB</a:t>
            </a:r>
            <a:r>
              <a:rPr sz="2400" dirty="0"/>
              <a:t> database and schema configured.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EDA completed and visualizations generated.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NL-to-SQL baseline implemented and tested.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GitHub repository created and maintained.</a:t>
            </a:r>
          </a:p>
          <a:p>
            <a:pPr>
              <a:spcAft>
                <a:spcPts val="500"/>
              </a:spcAft>
              <a:defRPr sz="1500"/>
            </a:pPr>
            <a:r>
              <a:rPr sz="2400" dirty="0"/>
              <a:t>Current repository contains 2 commits.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0A45A-3509-55A5-0ECB-9E15819190F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4. Current Progress &amp; GitHub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274488-6EC8-4661-62D6-D6DA942AE8A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8512103-A84C-9871-E5B3-2D380BB31501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8CE4EE-D19B-3F51-20AD-4330F2A25032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C20F0E7A-B6C2-BAF3-0ED4-DF18D3BCC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2F11B-1109-DCF4-CE29-756EDD3C6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1" y="406402"/>
            <a:ext cx="4848536" cy="594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466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57BC-0B59-D641-42D7-5EC9EE0D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D43E42-68BE-E7D9-92C6-894C9F14BF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140" y="1452570"/>
            <a:ext cx="10508194" cy="444565"/>
          </a:xfrm>
        </p:spPr>
        <p:txBody>
          <a:bodyPr/>
          <a:lstStyle/>
          <a:p>
            <a:pPr marL="0" indent="0">
              <a:buNone/>
              <a:defRPr sz="1800" b="1"/>
            </a:pPr>
            <a:r>
              <a:rPr sz="2400" dirty="0"/>
              <a:t>Next implementation phase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/>
              <a:t>Improve SQL validation and handling of more question types.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/>
              <a:t>Add conversational follow-up context.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/>
              <a:t>Improve chart selection and business insight formatting.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/>
              <a:t>Integrate the planned Vanna.AI component.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/>
              <a:t>Refine project structure and testing.</a:t>
            </a:r>
          </a:p>
          <a:p>
            <a:pPr>
              <a:spcAft>
                <a:spcPts val="500"/>
              </a:spcAft>
              <a:defRPr sz="1600"/>
            </a:pPr>
            <a:r>
              <a:rPr sz="2400" dirty="0"/>
              <a:t>Explore containerization/deployment after the prototype is stabilized.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819DA-A2AB-BB7A-0C94-959C24A58AD1}"/>
              </a:ext>
            </a:extLst>
          </p:cNvPr>
          <p:cNvSpPr txBox="1"/>
          <p:nvPr/>
        </p:nvSpPr>
        <p:spPr>
          <a:xfrm>
            <a:off x="103596" y="48309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sz="3600" b="1" dirty="0">
                <a:solidFill>
                  <a:schemeClr val="accent1">
                    <a:lumMod val="75000"/>
                  </a:schemeClr>
                </a:solidFill>
              </a:rPr>
              <a:t>Next Steps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925C36-CA53-8797-EB73-9543F85AF54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7DB557F-E958-6C88-4A42-86ADD63209F1}"/>
              </a:ext>
            </a:extLst>
          </p:cNvPr>
          <p:cNvSpPr txBox="1"/>
          <p:nvPr/>
        </p:nvSpPr>
        <p:spPr>
          <a:xfrm>
            <a:off x="4091234" y="0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E57332-62A3-B9CD-5653-83AD99EFDEFE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888DD588-F436-0E73-4AA2-349DD8B68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768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873</Words>
  <Application>Microsoft Office PowerPoint</Application>
  <PresentationFormat>Widescreen</PresentationFormat>
  <Paragraphs>120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Nainshi Tikait</cp:lastModifiedBy>
  <cp:revision>13</cp:revision>
  <dcterms:created xsi:type="dcterms:W3CDTF">2024-05-13T10:33:11Z</dcterms:created>
  <dcterms:modified xsi:type="dcterms:W3CDTF">2026-09-16T07:03:01Z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